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diagrams/colors1.xml" ContentType="application/vnd.openxmlformats-officedocument.drawingml.diagramColors+xml"/>
  <Override PartName="/ppt/theme/themeOverride7.xml" ContentType="application/vnd.openxmlformats-officedocument.themeOverride+xml"/>
  <Override PartName="/ppt/theme/themeOverride12.xml" ContentType="application/vnd.openxmlformats-officedocument.themeOverride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3.xml" ContentType="application/vnd.openxmlformats-officedocument.theme+xml"/>
  <Override PartName="/ppt/theme/themeOverride5.xml" ContentType="application/vnd.openxmlformats-officedocument.themeOverride+xml"/>
  <Override PartName="/ppt/theme/themeOverride10.xml" ContentType="application/vnd.openxmlformats-officedocument.themeOverride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theme/themeOverride3.xml" ContentType="application/vnd.openxmlformats-officedocument.themeOverride+xml"/>
  <Default Extension="rels" ContentType="application/vnd.openxmlformats-package.relationships+xml"/>
  <Default Extension="xml" ContentType="application/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theme/themeOverride1.xml" ContentType="application/vnd.openxmlformats-officedocument.themeOverr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Default Extension="vml" ContentType="application/vnd.openxmlformats-officedocument.vmlDrawing"/>
  <Override PartName="/ppt/diagrams/layout1.xml" ContentType="application/vnd.openxmlformats-officedocument.drawingml.diagramLayout+xml"/>
  <Override PartName="/ppt/theme/themeOverride15.xml" ContentType="application/vnd.openxmlformats-officedocument.themeOverr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diagrams/data1.xml" ContentType="application/vnd.openxmlformats-officedocument.drawingml.diagramData+xml"/>
  <Override PartName="/ppt/theme/themeOverride9.xml" ContentType="application/vnd.openxmlformats-officedocument.themeOverride+xml"/>
  <Override PartName="/ppt/theme/themeOverride13.xml" ContentType="application/vnd.openxmlformats-officedocument.themeOverride+xml"/>
  <Override PartName="/ppt/theme/themeOverride14.xml" ContentType="application/vnd.openxmlformats-officedocument.themeOverride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Override PartName="/ppt/notesSlides/notesSlide1.xml" ContentType="application/vnd.openxmlformats-officedocument.presentationml.notesSlide+xml"/>
  <Override PartName="/ppt/theme/themeOverride8.xml" ContentType="application/vnd.openxmlformats-officedocument.themeOverride+xml"/>
  <Override PartName="/ppt/theme/themeOverride11.xml" ContentType="application/vnd.openxmlformats-officedocument.themeOverride+xml"/>
  <Default Extension="bin" ContentType="application/vnd.openxmlformats-officedocument.oleObject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heme/themeOverride6.xml" ContentType="application/vnd.openxmlformats-officedocument.themeOverrid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Layouts/slideLayout3.xml" ContentType="application/vnd.openxmlformats-officedocument.presentationml.slideLayout+xml"/>
  <Override PartName="/ppt/diagrams/quickStyle1.xml" ContentType="application/vnd.openxmlformats-officedocument.drawingml.diagramStyle+xml"/>
  <Override PartName="/ppt/theme/themeOverride4.xml" ContentType="application/vnd.openxmlformats-officedocument.themeOverride+xml"/>
  <Default Extension="jpeg" ContentType="image/jpeg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Layouts/slideLayout1.xml" ContentType="application/vnd.openxmlformats-officedocument.presentationml.slideLayout+xml"/>
  <Override PartName="/ppt/theme/themeOverride2.xml" ContentType="application/vnd.openxmlformats-officedocument.themeOverride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4"/>
  </p:notesMasterIdLst>
  <p:handoutMasterIdLst>
    <p:handoutMasterId r:id="rId25"/>
  </p:handoutMasterIdLst>
  <p:sldIdLst>
    <p:sldId id="256" r:id="rId2"/>
    <p:sldId id="257" r:id="rId3"/>
    <p:sldId id="258" r:id="rId4"/>
    <p:sldId id="259" r:id="rId5"/>
    <p:sldId id="260" r:id="rId6"/>
    <p:sldId id="264" r:id="rId7"/>
    <p:sldId id="262" r:id="rId8"/>
    <p:sldId id="265" r:id="rId9"/>
    <p:sldId id="268" r:id="rId10"/>
    <p:sldId id="261" r:id="rId11"/>
    <p:sldId id="269" r:id="rId12"/>
    <p:sldId id="266" r:id="rId13"/>
    <p:sldId id="267" r:id="rId14"/>
    <p:sldId id="270" r:id="rId15"/>
    <p:sldId id="274" r:id="rId16"/>
    <p:sldId id="271" r:id="rId17"/>
    <p:sldId id="278" r:id="rId18"/>
    <p:sldId id="272" r:id="rId19"/>
    <p:sldId id="273" r:id="rId20"/>
    <p:sldId id="279" r:id="rId21"/>
    <p:sldId id="275" r:id="rId22"/>
    <p:sldId id="277" r:id="rId23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CECFF"/>
    <a:srgbClr val="007434"/>
    <a:srgbClr val="ECF1F8"/>
    <a:srgbClr val="CCDAEC"/>
  </p:clrMru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-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19" autoAdjust="0"/>
    <p:restoredTop sz="98239" autoAdjust="0"/>
  </p:normalViewPr>
  <p:slideViewPr>
    <p:cSldViewPr>
      <p:cViewPr varScale="1">
        <p:scale>
          <a:sx n="69" d="100"/>
          <a:sy n="69" d="100"/>
        </p:scale>
        <p:origin x="-468" y="-1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9F7FD86-FACA-4E53-A23E-438019EFE419}" type="doc">
      <dgm:prSet loTypeId="urn:microsoft.com/office/officeart/2005/8/layout/hierarchy1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ru-RU"/>
        </a:p>
      </dgm:t>
    </dgm:pt>
    <dgm:pt modelId="{35D84077-6418-4817-A19A-B974EE33AE88}">
      <dgm:prSet phldrT="[Текст]"/>
      <dgm:spPr/>
      <dgm:t>
        <a:bodyPr/>
        <a:lstStyle/>
        <a:p>
          <a:r>
            <a:rPr lang="ru-RU" dirty="0" smtClean="0"/>
            <a:t>документы</a:t>
          </a:r>
          <a:endParaRPr lang="ru-RU" dirty="0"/>
        </a:p>
      </dgm:t>
    </dgm:pt>
    <dgm:pt modelId="{6AB5CF16-8527-487C-817E-539F9F379DD1}" type="parTrans" cxnId="{F224AA01-278A-4CFA-8FA1-3FDD005B1F52}">
      <dgm:prSet/>
      <dgm:spPr/>
      <dgm:t>
        <a:bodyPr/>
        <a:lstStyle/>
        <a:p>
          <a:endParaRPr lang="ru-RU"/>
        </a:p>
      </dgm:t>
    </dgm:pt>
    <dgm:pt modelId="{F3C1E735-4353-44A9-8E1E-E64E51D76BE2}" type="sibTrans" cxnId="{F224AA01-278A-4CFA-8FA1-3FDD005B1F52}">
      <dgm:prSet/>
      <dgm:spPr/>
      <dgm:t>
        <a:bodyPr/>
        <a:lstStyle/>
        <a:p>
          <a:endParaRPr lang="ru-RU"/>
        </a:p>
      </dgm:t>
    </dgm:pt>
    <dgm:pt modelId="{0F055346-B879-4521-B05C-77A50B8F35C1}">
      <dgm:prSet phldrT="[Текст]"/>
      <dgm:spPr/>
      <dgm:t>
        <a:bodyPr/>
        <a:lstStyle/>
        <a:p>
          <a:r>
            <a:rPr lang="ru-RU" dirty="0" smtClean="0"/>
            <a:t>тексты</a:t>
          </a:r>
          <a:endParaRPr lang="ru-RU" dirty="0"/>
        </a:p>
      </dgm:t>
    </dgm:pt>
    <dgm:pt modelId="{9D783080-8FF6-469E-ADA1-21F6BAA7CD5F}" type="parTrans" cxnId="{99DC9C75-20E5-45F0-95E2-7BBB192CFCD2}">
      <dgm:prSet/>
      <dgm:spPr/>
      <dgm:t>
        <a:bodyPr/>
        <a:lstStyle/>
        <a:p>
          <a:endParaRPr lang="ru-RU"/>
        </a:p>
      </dgm:t>
    </dgm:pt>
    <dgm:pt modelId="{045AC805-E1E9-4582-B07F-D94449773127}" type="sibTrans" cxnId="{99DC9C75-20E5-45F0-95E2-7BBB192CFCD2}">
      <dgm:prSet/>
      <dgm:spPr/>
      <dgm:t>
        <a:bodyPr/>
        <a:lstStyle/>
        <a:p>
          <a:endParaRPr lang="ru-RU"/>
        </a:p>
      </dgm:t>
    </dgm:pt>
    <dgm:pt modelId="{C759B5F1-CBC2-4C11-B922-BB68D3A95BF0}">
      <dgm:prSet phldrT="[Текст]"/>
      <dgm:spPr/>
      <dgm:t>
        <a:bodyPr/>
        <a:lstStyle/>
        <a:p>
          <a:r>
            <a:rPr lang="ru-RU" dirty="0" smtClean="0"/>
            <a:t>Доходы.</a:t>
          </a:r>
          <a:r>
            <a:rPr lang="en-US" dirty="0" smtClean="0"/>
            <a:t>doc</a:t>
          </a:r>
          <a:endParaRPr lang="ru-RU" dirty="0"/>
        </a:p>
      </dgm:t>
    </dgm:pt>
    <dgm:pt modelId="{D1643DA7-A984-4A0B-82C9-2F85F5611C72}" type="parTrans" cxnId="{719BD481-B796-415D-AF44-D09E6CA19DB6}">
      <dgm:prSet/>
      <dgm:spPr/>
      <dgm:t>
        <a:bodyPr/>
        <a:lstStyle/>
        <a:p>
          <a:endParaRPr lang="ru-RU"/>
        </a:p>
      </dgm:t>
    </dgm:pt>
    <dgm:pt modelId="{53006AC5-A242-4E0F-ADBF-7984248D10C1}" type="sibTrans" cxnId="{719BD481-B796-415D-AF44-D09E6CA19DB6}">
      <dgm:prSet/>
      <dgm:spPr/>
      <dgm:t>
        <a:bodyPr/>
        <a:lstStyle/>
        <a:p>
          <a:endParaRPr lang="ru-RU"/>
        </a:p>
      </dgm:t>
    </dgm:pt>
    <dgm:pt modelId="{91130C52-BC8F-4FE3-BA6B-EC21C4A8EB93}">
      <dgm:prSet phldrT="[Текст]"/>
      <dgm:spPr/>
      <dgm:t>
        <a:bodyPr/>
        <a:lstStyle/>
        <a:p>
          <a:r>
            <a:rPr lang="ru-RU" dirty="0" smtClean="0"/>
            <a:t>Расходы.</a:t>
          </a:r>
          <a:r>
            <a:rPr lang="en-US" dirty="0" smtClean="0"/>
            <a:t>txt</a:t>
          </a:r>
          <a:endParaRPr lang="ru-RU" dirty="0"/>
        </a:p>
      </dgm:t>
    </dgm:pt>
    <dgm:pt modelId="{FC3AFD9F-C1A6-49FF-960D-3C2200F48C4B}" type="parTrans" cxnId="{06754DB5-D7A0-44F3-90AA-E4BEEBF49DE3}">
      <dgm:prSet/>
      <dgm:spPr/>
      <dgm:t>
        <a:bodyPr/>
        <a:lstStyle/>
        <a:p>
          <a:endParaRPr lang="ru-RU"/>
        </a:p>
      </dgm:t>
    </dgm:pt>
    <dgm:pt modelId="{330FEE8F-4164-4965-B69C-3A78FEF1C706}" type="sibTrans" cxnId="{06754DB5-D7A0-44F3-90AA-E4BEEBF49DE3}">
      <dgm:prSet/>
      <dgm:spPr/>
      <dgm:t>
        <a:bodyPr/>
        <a:lstStyle/>
        <a:p>
          <a:endParaRPr lang="ru-RU"/>
        </a:p>
      </dgm:t>
    </dgm:pt>
    <dgm:pt modelId="{202661C5-2E7F-4B72-AFC0-C008D0B01EA1}">
      <dgm:prSet phldrT="[Текст]"/>
      <dgm:spPr/>
      <dgm:t>
        <a:bodyPr/>
        <a:lstStyle/>
        <a:p>
          <a:r>
            <a:rPr lang="ru-RU" dirty="0" smtClean="0"/>
            <a:t>рисунки</a:t>
          </a:r>
          <a:endParaRPr lang="ru-RU" dirty="0"/>
        </a:p>
      </dgm:t>
    </dgm:pt>
    <dgm:pt modelId="{776C8F1C-2B30-440B-9CF7-1C66B3254196}" type="parTrans" cxnId="{49A64EAA-C644-40DC-A278-D2B981307D32}">
      <dgm:prSet/>
      <dgm:spPr/>
      <dgm:t>
        <a:bodyPr/>
        <a:lstStyle/>
        <a:p>
          <a:endParaRPr lang="ru-RU"/>
        </a:p>
      </dgm:t>
    </dgm:pt>
    <dgm:pt modelId="{6F1B1D93-2E13-427A-994E-16E0ED04AAFD}" type="sibTrans" cxnId="{49A64EAA-C644-40DC-A278-D2B981307D32}">
      <dgm:prSet/>
      <dgm:spPr/>
      <dgm:t>
        <a:bodyPr/>
        <a:lstStyle/>
        <a:p>
          <a:endParaRPr lang="ru-RU"/>
        </a:p>
      </dgm:t>
    </dgm:pt>
    <dgm:pt modelId="{E570D66D-DB0A-4FBF-B86E-ECBC97232717}">
      <dgm:prSet phldrT="[Текст]"/>
      <dgm:spPr/>
      <dgm:t>
        <a:bodyPr/>
        <a:lstStyle/>
        <a:p>
          <a:r>
            <a:rPr lang="ru-RU" dirty="0" smtClean="0"/>
            <a:t>Фото.</a:t>
          </a:r>
          <a:r>
            <a:rPr lang="en-US" dirty="0" smtClean="0"/>
            <a:t>jpg</a:t>
          </a:r>
          <a:endParaRPr lang="ru-RU" dirty="0"/>
        </a:p>
      </dgm:t>
    </dgm:pt>
    <dgm:pt modelId="{BBEBFAB5-D2D8-4845-BB6B-A6450A9859D5}" type="parTrans" cxnId="{1FA64999-7AEF-434A-8DF3-A8EC1340C293}">
      <dgm:prSet/>
      <dgm:spPr/>
      <dgm:t>
        <a:bodyPr/>
        <a:lstStyle/>
        <a:p>
          <a:endParaRPr lang="ru-RU"/>
        </a:p>
      </dgm:t>
    </dgm:pt>
    <dgm:pt modelId="{213FC355-A674-4542-B531-4A30C8F53BC5}" type="sibTrans" cxnId="{1FA64999-7AEF-434A-8DF3-A8EC1340C293}">
      <dgm:prSet/>
      <dgm:spPr/>
      <dgm:t>
        <a:bodyPr/>
        <a:lstStyle/>
        <a:p>
          <a:endParaRPr lang="ru-RU"/>
        </a:p>
      </dgm:t>
    </dgm:pt>
    <dgm:pt modelId="{3FDC3F08-D47D-4E69-A71C-CC0F4BB75128}" type="pres">
      <dgm:prSet presAssocID="{59F7FD86-FACA-4E53-A23E-438019EFE419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  <dgm:t>
        <a:bodyPr/>
        <a:lstStyle/>
        <a:p>
          <a:endParaRPr lang="ru-RU"/>
        </a:p>
      </dgm:t>
    </dgm:pt>
    <dgm:pt modelId="{4379AFFD-4AFA-4EE6-A2A9-423154274C99}" type="pres">
      <dgm:prSet presAssocID="{35D84077-6418-4817-A19A-B974EE33AE88}" presName="hierRoot1" presStyleCnt="0"/>
      <dgm:spPr/>
    </dgm:pt>
    <dgm:pt modelId="{6C57822A-664C-4643-9224-0F9623E575C1}" type="pres">
      <dgm:prSet presAssocID="{35D84077-6418-4817-A19A-B974EE33AE88}" presName="composite" presStyleCnt="0"/>
      <dgm:spPr/>
    </dgm:pt>
    <dgm:pt modelId="{049E53FC-BBB0-4080-87B2-BB734F374F5E}" type="pres">
      <dgm:prSet presAssocID="{35D84077-6418-4817-A19A-B974EE33AE88}" presName="background" presStyleLbl="node0" presStyleIdx="0" presStyleCnt="1"/>
      <dgm:spPr/>
    </dgm:pt>
    <dgm:pt modelId="{2D0BC9D2-E8E6-4766-9269-B25393E44CEC}" type="pres">
      <dgm:prSet presAssocID="{35D84077-6418-4817-A19A-B974EE33AE88}" presName="text" presStyleLbl="fgAcc0" presStyleIdx="0" presStyleCnt="1">
        <dgm:presLayoutVars>
          <dgm:chPref val="3"/>
        </dgm:presLayoutVars>
      </dgm:prSet>
      <dgm:spPr/>
      <dgm:t>
        <a:bodyPr/>
        <a:lstStyle/>
        <a:p>
          <a:endParaRPr lang="ru-RU"/>
        </a:p>
      </dgm:t>
    </dgm:pt>
    <dgm:pt modelId="{35A40B23-C6E0-4FC8-A330-C0BF49D39F36}" type="pres">
      <dgm:prSet presAssocID="{35D84077-6418-4817-A19A-B974EE33AE88}" presName="hierChild2" presStyleCnt="0"/>
      <dgm:spPr/>
    </dgm:pt>
    <dgm:pt modelId="{2CC3AAAC-48C3-484D-8382-7679ACBA7896}" type="pres">
      <dgm:prSet presAssocID="{9D783080-8FF6-469E-ADA1-21F6BAA7CD5F}" presName="Name10" presStyleLbl="parChTrans1D2" presStyleIdx="0" presStyleCnt="2"/>
      <dgm:spPr/>
      <dgm:t>
        <a:bodyPr/>
        <a:lstStyle/>
        <a:p>
          <a:endParaRPr lang="ru-RU"/>
        </a:p>
      </dgm:t>
    </dgm:pt>
    <dgm:pt modelId="{D37DC891-4346-4C80-8DD7-9CBBBC6E9556}" type="pres">
      <dgm:prSet presAssocID="{0F055346-B879-4521-B05C-77A50B8F35C1}" presName="hierRoot2" presStyleCnt="0"/>
      <dgm:spPr/>
    </dgm:pt>
    <dgm:pt modelId="{32BD78C2-1181-47A1-870C-84283677425F}" type="pres">
      <dgm:prSet presAssocID="{0F055346-B879-4521-B05C-77A50B8F35C1}" presName="composite2" presStyleCnt="0"/>
      <dgm:spPr/>
    </dgm:pt>
    <dgm:pt modelId="{7166CEA3-715C-4D38-9260-9D1F9C1A732C}" type="pres">
      <dgm:prSet presAssocID="{0F055346-B879-4521-B05C-77A50B8F35C1}" presName="background2" presStyleLbl="node2" presStyleIdx="0" presStyleCnt="2"/>
      <dgm:spPr/>
    </dgm:pt>
    <dgm:pt modelId="{4EF926CC-C780-4BC9-B561-5E60E8160E00}" type="pres">
      <dgm:prSet presAssocID="{0F055346-B879-4521-B05C-77A50B8F35C1}" presName="text2" presStyleLbl="fgAcc2" presStyleIdx="0" presStyleCnt="2">
        <dgm:presLayoutVars>
          <dgm:chPref val="3"/>
        </dgm:presLayoutVars>
      </dgm:prSet>
      <dgm:spPr/>
      <dgm:t>
        <a:bodyPr/>
        <a:lstStyle/>
        <a:p>
          <a:endParaRPr lang="ru-RU"/>
        </a:p>
      </dgm:t>
    </dgm:pt>
    <dgm:pt modelId="{90CDF771-6B2F-47ED-A3D9-FD959662188D}" type="pres">
      <dgm:prSet presAssocID="{0F055346-B879-4521-B05C-77A50B8F35C1}" presName="hierChild3" presStyleCnt="0"/>
      <dgm:spPr/>
    </dgm:pt>
    <dgm:pt modelId="{B9BA203B-C2CA-4686-A2C0-933B33933C9A}" type="pres">
      <dgm:prSet presAssocID="{D1643DA7-A984-4A0B-82C9-2F85F5611C72}" presName="Name17" presStyleLbl="parChTrans1D3" presStyleIdx="0" presStyleCnt="3"/>
      <dgm:spPr/>
      <dgm:t>
        <a:bodyPr/>
        <a:lstStyle/>
        <a:p>
          <a:endParaRPr lang="ru-RU"/>
        </a:p>
      </dgm:t>
    </dgm:pt>
    <dgm:pt modelId="{535C7554-02EA-4AEA-9A41-EBB529C4818D}" type="pres">
      <dgm:prSet presAssocID="{C759B5F1-CBC2-4C11-B922-BB68D3A95BF0}" presName="hierRoot3" presStyleCnt="0"/>
      <dgm:spPr/>
    </dgm:pt>
    <dgm:pt modelId="{914308EF-5F82-4193-8AD2-156C0AE7D387}" type="pres">
      <dgm:prSet presAssocID="{C759B5F1-CBC2-4C11-B922-BB68D3A95BF0}" presName="composite3" presStyleCnt="0"/>
      <dgm:spPr/>
    </dgm:pt>
    <dgm:pt modelId="{A7740F95-70B6-4025-9678-79700D2B28BE}" type="pres">
      <dgm:prSet presAssocID="{C759B5F1-CBC2-4C11-B922-BB68D3A95BF0}" presName="background3" presStyleLbl="node3" presStyleIdx="0" presStyleCnt="3"/>
      <dgm:spPr/>
    </dgm:pt>
    <dgm:pt modelId="{E4DC4189-61C4-4E9C-8DE2-66DE6944B6F9}" type="pres">
      <dgm:prSet presAssocID="{C759B5F1-CBC2-4C11-B922-BB68D3A95BF0}" presName="text3" presStyleLbl="fgAcc3" presStyleIdx="0" presStyleCnt="3">
        <dgm:presLayoutVars>
          <dgm:chPref val="3"/>
        </dgm:presLayoutVars>
      </dgm:prSet>
      <dgm:spPr/>
      <dgm:t>
        <a:bodyPr/>
        <a:lstStyle/>
        <a:p>
          <a:endParaRPr lang="ru-RU"/>
        </a:p>
      </dgm:t>
    </dgm:pt>
    <dgm:pt modelId="{11927266-C9C8-46EE-B98B-77707EAD60AD}" type="pres">
      <dgm:prSet presAssocID="{C759B5F1-CBC2-4C11-B922-BB68D3A95BF0}" presName="hierChild4" presStyleCnt="0"/>
      <dgm:spPr/>
    </dgm:pt>
    <dgm:pt modelId="{A4E0E7E9-C9FB-4787-B4BC-CEBA0A31754F}" type="pres">
      <dgm:prSet presAssocID="{FC3AFD9F-C1A6-49FF-960D-3C2200F48C4B}" presName="Name17" presStyleLbl="parChTrans1D3" presStyleIdx="1" presStyleCnt="3"/>
      <dgm:spPr/>
      <dgm:t>
        <a:bodyPr/>
        <a:lstStyle/>
        <a:p>
          <a:endParaRPr lang="ru-RU"/>
        </a:p>
      </dgm:t>
    </dgm:pt>
    <dgm:pt modelId="{A8A798E6-32EA-4D21-8D95-4E88A6442F1F}" type="pres">
      <dgm:prSet presAssocID="{91130C52-BC8F-4FE3-BA6B-EC21C4A8EB93}" presName="hierRoot3" presStyleCnt="0"/>
      <dgm:spPr/>
    </dgm:pt>
    <dgm:pt modelId="{0E3CB566-4503-4377-8D27-D509BCC3680A}" type="pres">
      <dgm:prSet presAssocID="{91130C52-BC8F-4FE3-BA6B-EC21C4A8EB93}" presName="composite3" presStyleCnt="0"/>
      <dgm:spPr/>
    </dgm:pt>
    <dgm:pt modelId="{1E47CF92-C715-49E1-8198-E3D39E59AD99}" type="pres">
      <dgm:prSet presAssocID="{91130C52-BC8F-4FE3-BA6B-EC21C4A8EB93}" presName="background3" presStyleLbl="node3" presStyleIdx="1" presStyleCnt="3"/>
      <dgm:spPr/>
    </dgm:pt>
    <dgm:pt modelId="{41D6F532-94E3-43A1-9BCF-C93E2584A34F}" type="pres">
      <dgm:prSet presAssocID="{91130C52-BC8F-4FE3-BA6B-EC21C4A8EB93}" presName="text3" presStyleLbl="fgAcc3" presStyleIdx="1" presStyleCnt="3">
        <dgm:presLayoutVars>
          <dgm:chPref val="3"/>
        </dgm:presLayoutVars>
      </dgm:prSet>
      <dgm:spPr/>
      <dgm:t>
        <a:bodyPr/>
        <a:lstStyle/>
        <a:p>
          <a:endParaRPr lang="ru-RU"/>
        </a:p>
      </dgm:t>
    </dgm:pt>
    <dgm:pt modelId="{31098E79-C5CB-4699-8546-F96E63153522}" type="pres">
      <dgm:prSet presAssocID="{91130C52-BC8F-4FE3-BA6B-EC21C4A8EB93}" presName="hierChild4" presStyleCnt="0"/>
      <dgm:spPr/>
    </dgm:pt>
    <dgm:pt modelId="{DC8461A1-E8EE-4AD0-BC90-6479BD6BF298}" type="pres">
      <dgm:prSet presAssocID="{776C8F1C-2B30-440B-9CF7-1C66B3254196}" presName="Name10" presStyleLbl="parChTrans1D2" presStyleIdx="1" presStyleCnt="2"/>
      <dgm:spPr/>
      <dgm:t>
        <a:bodyPr/>
        <a:lstStyle/>
        <a:p>
          <a:endParaRPr lang="ru-RU"/>
        </a:p>
      </dgm:t>
    </dgm:pt>
    <dgm:pt modelId="{211EBA64-B073-498D-8983-CE09BA066DBE}" type="pres">
      <dgm:prSet presAssocID="{202661C5-2E7F-4B72-AFC0-C008D0B01EA1}" presName="hierRoot2" presStyleCnt="0"/>
      <dgm:spPr/>
    </dgm:pt>
    <dgm:pt modelId="{0EDC38C2-117E-40F6-A5FF-706322DF0D5C}" type="pres">
      <dgm:prSet presAssocID="{202661C5-2E7F-4B72-AFC0-C008D0B01EA1}" presName="composite2" presStyleCnt="0"/>
      <dgm:spPr/>
    </dgm:pt>
    <dgm:pt modelId="{94C7770B-D34F-4BA3-A20E-C24618D53DA5}" type="pres">
      <dgm:prSet presAssocID="{202661C5-2E7F-4B72-AFC0-C008D0B01EA1}" presName="background2" presStyleLbl="node2" presStyleIdx="1" presStyleCnt="2"/>
      <dgm:spPr/>
    </dgm:pt>
    <dgm:pt modelId="{47B32AEA-538D-43A9-9808-20CAF6C43395}" type="pres">
      <dgm:prSet presAssocID="{202661C5-2E7F-4B72-AFC0-C008D0B01EA1}" presName="text2" presStyleLbl="fgAcc2" presStyleIdx="1" presStyleCnt="2">
        <dgm:presLayoutVars>
          <dgm:chPref val="3"/>
        </dgm:presLayoutVars>
      </dgm:prSet>
      <dgm:spPr/>
      <dgm:t>
        <a:bodyPr/>
        <a:lstStyle/>
        <a:p>
          <a:endParaRPr lang="ru-RU"/>
        </a:p>
      </dgm:t>
    </dgm:pt>
    <dgm:pt modelId="{758FB8ED-F7FD-454E-8FCE-E61EC1946276}" type="pres">
      <dgm:prSet presAssocID="{202661C5-2E7F-4B72-AFC0-C008D0B01EA1}" presName="hierChild3" presStyleCnt="0"/>
      <dgm:spPr/>
    </dgm:pt>
    <dgm:pt modelId="{32E898AF-2B7D-4E60-A321-64ACDB7A8CB0}" type="pres">
      <dgm:prSet presAssocID="{BBEBFAB5-D2D8-4845-BB6B-A6450A9859D5}" presName="Name17" presStyleLbl="parChTrans1D3" presStyleIdx="2" presStyleCnt="3"/>
      <dgm:spPr/>
      <dgm:t>
        <a:bodyPr/>
        <a:lstStyle/>
        <a:p>
          <a:endParaRPr lang="ru-RU"/>
        </a:p>
      </dgm:t>
    </dgm:pt>
    <dgm:pt modelId="{AEA3D392-3C24-4E37-BBE7-C454D9AE6957}" type="pres">
      <dgm:prSet presAssocID="{E570D66D-DB0A-4FBF-B86E-ECBC97232717}" presName="hierRoot3" presStyleCnt="0"/>
      <dgm:spPr/>
    </dgm:pt>
    <dgm:pt modelId="{55DDDDAB-35AA-43C6-BDE6-1EADD4707418}" type="pres">
      <dgm:prSet presAssocID="{E570D66D-DB0A-4FBF-B86E-ECBC97232717}" presName="composite3" presStyleCnt="0"/>
      <dgm:spPr/>
    </dgm:pt>
    <dgm:pt modelId="{C28DA929-D2D6-47C6-8115-EAD312AF9066}" type="pres">
      <dgm:prSet presAssocID="{E570D66D-DB0A-4FBF-B86E-ECBC97232717}" presName="background3" presStyleLbl="node3" presStyleIdx="2" presStyleCnt="3"/>
      <dgm:spPr/>
    </dgm:pt>
    <dgm:pt modelId="{5A4B65B1-289D-4B1F-8570-5FB3E3621136}" type="pres">
      <dgm:prSet presAssocID="{E570D66D-DB0A-4FBF-B86E-ECBC97232717}" presName="text3" presStyleLbl="fgAcc3" presStyleIdx="2" presStyleCnt="3">
        <dgm:presLayoutVars>
          <dgm:chPref val="3"/>
        </dgm:presLayoutVars>
      </dgm:prSet>
      <dgm:spPr/>
      <dgm:t>
        <a:bodyPr/>
        <a:lstStyle/>
        <a:p>
          <a:endParaRPr lang="ru-RU"/>
        </a:p>
      </dgm:t>
    </dgm:pt>
    <dgm:pt modelId="{D478B26F-A2DD-4DD8-931E-7353F3BD11A1}" type="pres">
      <dgm:prSet presAssocID="{E570D66D-DB0A-4FBF-B86E-ECBC97232717}" presName="hierChild4" presStyleCnt="0"/>
      <dgm:spPr/>
    </dgm:pt>
  </dgm:ptLst>
  <dgm:cxnLst>
    <dgm:cxn modelId="{C8DAA2CD-22F8-49D1-A040-E9FF160E0E9F}" type="presOf" srcId="{FC3AFD9F-C1A6-49FF-960D-3C2200F48C4B}" destId="{A4E0E7E9-C9FB-4787-B4BC-CEBA0A31754F}" srcOrd="0" destOrd="0" presId="urn:microsoft.com/office/officeart/2005/8/layout/hierarchy1"/>
    <dgm:cxn modelId="{49A64EAA-C644-40DC-A278-D2B981307D32}" srcId="{35D84077-6418-4817-A19A-B974EE33AE88}" destId="{202661C5-2E7F-4B72-AFC0-C008D0B01EA1}" srcOrd="1" destOrd="0" parTransId="{776C8F1C-2B30-440B-9CF7-1C66B3254196}" sibTransId="{6F1B1D93-2E13-427A-994E-16E0ED04AAFD}"/>
    <dgm:cxn modelId="{99DC9C75-20E5-45F0-95E2-7BBB192CFCD2}" srcId="{35D84077-6418-4817-A19A-B974EE33AE88}" destId="{0F055346-B879-4521-B05C-77A50B8F35C1}" srcOrd="0" destOrd="0" parTransId="{9D783080-8FF6-469E-ADA1-21F6BAA7CD5F}" sibTransId="{045AC805-E1E9-4582-B07F-D94449773127}"/>
    <dgm:cxn modelId="{1FA64999-7AEF-434A-8DF3-A8EC1340C293}" srcId="{202661C5-2E7F-4B72-AFC0-C008D0B01EA1}" destId="{E570D66D-DB0A-4FBF-B86E-ECBC97232717}" srcOrd="0" destOrd="0" parTransId="{BBEBFAB5-D2D8-4845-BB6B-A6450A9859D5}" sibTransId="{213FC355-A674-4542-B531-4A30C8F53BC5}"/>
    <dgm:cxn modelId="{3BE8E9FF-3883-46C7-A840-C9B3AFFEEB7F}" type="presOf" srcId="{776C8F1C-2B30-440B-9CF7-1C66B3254196}" destId="{DC8461A1-E8EE-4AD0-BC90-6479BD6BF298}" srcOrd="0" destOrd="0" presId="urn:microsoft.com/office/officeart/2005/8/layout/hierarchy1"/>
    <dgm:cxn modelId="{D593E13B-D0F3-4D0A-8DD5-C2182AED3152}" type="presOf" srcId="{E570D66D-DB0A-4FBF-B86E-ECBC97232717}" destId="{5A4B65B1-289D-4B1F-8570-5FB3E3621136}" srcOrd="0" destOrd="0" presId="urn:microsoft.com/office/officeart/2005/8/layout/hierarchy1"/>
    <dgm:cxn modelId="{F224AA01-278A-4CFA-8FA1-3FDD005B1F52}" srcId="{59F7FD86-FACA-4E53-A23E-438019EFE419}" destId="{35D84077-6418-4817-A19A-B974EE33AE88}" srcOrd="0" destOrd="0" parTransId="{6AB5CF16-8527-487C-817E-539F9F379DD1}" sibTransId="{F3C1E735-4353-44A9-8E1E-E64E51D76BE2}"/>
    <dgm:cxn modelId="{4B70D286-5B47-4CA7-8D54-BB5120E30769}" type="presOf" srcId="{91130C52-BC8F-4FE3-BA6B-EC21C4A8EB93}" destId="{41D6F532-94E3-43A1-9BCF-C93E2584A34F}" srcOrd="0" destOrd="0" presId="urn:microsoft.com/office/officeart/2005/8/layout/hierarchy1"/>
    <dgm:cxn modelId="{416F2DAF-1C35-4CC2-B46D-18BEB9E05CB8}" type="presOf" srcId="{BBEBFAB5-D2D8-4845-BB6B-A6450A9859D5}" destId="{32E898AF-2B7D-4E60-A321-64ACDB7A8CB0}" srcOrd="0" destOrd="0" presId="urn:microsoft.com/office/officeart/2005/8/layout/hierarchy1"/>
    <dgm:cxn modelId="{D9C1CF39-3BB3-47AD-A53A-BB11EF217A4C}" type="presOf" srcId="{35D84077-6418-4817-A19A-B974EE33AE88}" destId="{2D0BC9D2-E8E6-4766-9269-B25393E44CEC}" srcOrd="0" destOrd="0" presId="urn:microsoft.com/office/officeart/2005/8/layout/hierarchy1"/>
    <dgm:cxn modelId="{D4760272-BC45-40C5-93C1-E7FF2B49F6D3}" type="presOf" srcId="{9D783080-8FF6-469E-ADA1-21F6BAA7CD5F}" destId="{2CC3AAAC-48C3-484D-8382-7679ACBA7896}" srcOrd="0" destOrd="0" presId="urn:microsoft.com/office/officeart/2005/8/layout/hierarchy1"/>
    <dgm:cxn modelId="{4D2A7FAD-B11F-4698-A6F6-23C9D538F9A4}" type="presOf" srcId="{59F7FD86-FACA-4E53-A23E-438019EFE419}" destId="{3FDC3F08-D47D-4E69-A71C-CC0F4BB75128}" srcOrd="0" destOrd="0" presId="urn:microsoft.com/office/officeart/2005/8/layout/hierarchy1"/>
    <dgm:cxn modelId="{FAC1B9B3-EA22-4EAE-BC3D-E4EBFCBC7210}" type="presOf" srcId="{202661C5-2E7F-4B72-AFC0-C008D0B01EA1}" destId="{47B32AEA-538D-43A9-9808-20CAF6C43395}" srcOrd="0" destOrd="0" presId="urn:microsoft.com/office/officeart/2005/8/layout/hierarchy1"/>
    <dgm:cxn modelId="{4B565123-110C-47D5-AA57-0EFAFE38BD40}" type="presOf" srcId="{C759B5F1-CBC2-4C11-B922-BB68D3A95BF0}" destId="{E4DC4189-61C4-4E9C-8DE2-66DE6944B6F9}" srcOrd="0" destOrd="0" presId="urn:microsoft.com/office/officeart/2005/8/layout/hierarchy1"/>
    <dgm:cxn modelId="{FE85A429-878F-4C14-9058-B80721825A0F}" type="presOf" srcId="{0F055346-B879-4521-B05C-77A50B8F35C1}" destId="{4EF926CC-C780-4BC9-B561-5E60E8160E00}" srcOrd="0" destOrd="0" presId="urn:microsoft.com/office/officeart/2005/8/layout/hierarchy1"/>
    <dgm:cxn modelId="{2E50BBA8-3B53-4F1C-9622-0F55AF33FFD4}" type="presOf" srcId="{D1643DA7-A984-4A0B-82C9-2F85F5611C72}" destId="{B9BA203B-C2CA-4686-A2C0-933B33933C9A}" srcOrd="0" destOrd="0" presId="urn:microsoft.com/office/officeart/2005/8/layout/hierarchy1"/>
    <dgm:cxn modelId="{719BD481-B796-415D-AF44-D09E6CA19DB6}" srcId="{0F055346-B879-4521-B05C-77A50B8F35C1}" destId="{C759B5F1-CBC2-4C11-B922-BB68D3A95BF0}" srcOrd="0" destOrd="0" parTransId="{D1643DA7-A984-4A0B-82C9-2F85F5611C72}" sibTransId="{53006AC5-A242-4E0F-ADBF-7984248D10C1}"/>
    <dgm:cxn modelId="{06754DB5-D7A0-44F3-90AA-E4BEEBF49DE3}" srcId="{0F055346-B879-4521-B05C-77A50B8F35C1}" destId="{91130C52-BC8F-4FE3-BA6B-EC21C4A8EB93}" srcOrd="1" destOrd="0" parTransId="{FC3AFD9F-C1A6-49FF-960D-3C2200F48C4B}" sibTransId="{330FEE8F-4164-4965-B69C-3A78FEF1C706}"/>
    <dgm:cxn modelId="{1AD2F3E9-3F49-4647-B735-E6201E72B126}" type="presParOf" srcId="{3FDC3F08-D47D-4E69-A71C-CC0F4BB75128}" destId="{4379AFFD-4AFA-4EE6-A2A9-423154274C99}" srcOrd="0" destOrd="0" presId="urn:microsoft.com/office/officeart/2005/8/layout/hierarchy1"/>
    <dgm:cxn modelId="{1508E207-C769-4598-89F6-63C57D305148}" type="presParOf" srcId="{4379AFFD-4AFA-4EE6-A2A9-423154274C99}" destId="{6C57822A-664C-4643-9224-0F9623E575C1}" srcOrd="0" destOrd="0" presId="urn:microsoft.com/office/officeart/2005/8/layout/hierarchy1"/>
    <dgm:cxn modelId="{245FF5A0-61B2-4016-BDC2-21C117995AFA}" type="presParOf" srcId="{6C57822A-664C-4643-9224-0F9623E575C1}" destId="{049E53FC-BBB0-4080-87B2-BB734F374F5E}" srcOrd="0" destOrd="0" presId="urn:microsoft.com/office/officeart/2005/8/layout/hierarchy1"/>
    <dgm:cxn modelId="{F5699C44-5F50-4408-847E-34122FBE61FB}" type="presParOf" srcId="{6C57822A-664C-4643-9224-0F9623E575C1}" destId="{2D0BC9D2-E8E6-4766-9269-B25393E44CEC}" srcOrd="1" destOrd="0" presId="urn:microsoft.com/office/officeart/2005/8/layout/hierarchy1"/>
    <dgm:cxn modelId="{91FE5936-DBDF-4666-98B8-E84A35B7BEE8}" type="presParOf" srcId="{4379AFFD-4AFA-4EE6-A2A9-423154274C99}" destId="{35A40B23-C6E0-4FC8-A330-C0BF49D39F36}" srcOrd="1" destOrd="0" presId="urn:microsoft.com/office/officeart/2005/8/layout/hierarchy1"/>
    <dgm:cxn modelId="{7675021B-965C-480A-922F-0863815402A8}" type="presParOf" srcId="{35A40B23-C6E0-4FC8-A330-C0BF49D39F36}" destId="{2CC3AAAC-48C3-484D-8382-7679ACBA7896}" srcOrd="0" destOrd="0" presId="urn:microsoft.com/office/officeart/2005/8/layout/hierarchy1"/>
    <dgm:cxn modelId="{BAA6AF03-6FD1-4779-86E6-1BF800B20468}" type="presParOf" srcId="{35A40B23-C6E0-4FC8-A330-C0BF49D39F36}" destId="{D37DC891-4346-4C80-8DD7-9CBBBC6E9556}" srcOrd="1" destOrd="0" presId="urn:microsoft.com/office/officeart/2005/8/layout/hierarchy1"/>
    <dgm:cxn modelId="{D83981C0-9EB9-4210-AD20-0F846BD7636E}" type="presParOf" srcId="{D37DC891-4346-4C80-8DD7-9CBBBC6E9556}" destId="{32BD78C2-1181-47A1-870C-84283677425F}" srcOrd="0" destOrd="0" presId="urn:microsoft.com/office/officeart/2005/8/layout/hierarchy1"/>
    <dgm:cxn modelId="{262D6A7F-A873-4E6F-9D4F-87DF993D5E78}" type="presParOf" srcId="{32BD78C2-1181-47A1-870C-84283677425F}" destId="{7166CEA3-715C-4D38-9260-9D1F9C1A732C}" srcOrd="0" destOrd="0" presId="urn:microsoft.com/office/officeart/2005/8/layout/hierarchy1"/>
    <dgm:cxn modelId="{8C1F4D79-84A7-439B-A528-EB99DE6B4078}" type="presParOf" srcId="{32BD78C2-1181-47A1-870C-84283677425F}" destId="{4EF926CC-C780-4BC9-B561-5E60E8160E00}" srcOrd="1" destOrd="0" presId="urn:microsoft.com/office/officeart/2005/8/layout/hierarchy1"/>
    <dgm:cxn modelId="{A2B020E4-AB74-468E-9097-81E4D063ED1A}" type="presParOf" srcId="{D37DC891-4346-4C80-8DD7-9CBBBC6E9556}" destId="{90CDF771-6B2F-47ED-A3D9-FD959662188D}" srcOrd="1" destOrd="0" presId="urn:microsoft.com/office/officeart/2005/8/layout/hierarchy1"/>
    <dgm:cxn modelId="{37DB8DA1-755E-4707-9E15-A464F8074DFB}" type="presParOf" srcId="{90CDF771-6B2F-47ED-A3D9-FD959662188D}" destId="{B9BA203B-C2CA-4686-A2C0-933B33933C9A}" srcOrd="0" destOrd="0" presId="urn:microsoft.com/office/officeart/2005/8/layout/hierarchy1"/>
    <dgm:cxn modelId="{ADE563F5-2890-4C10-9C13-153155B885C1}" type="presParOf" srcId="{90CDF771-6B2F-47ED-A3D9-FD959662188D}" destId="{535C7554-02EA-4AEA-9A41-EBB529C4818D}" srcOrd="1" destOrd="0" presId="urn:microsoft.com/office/officeart/2005/8/layout/hierarchy1"/>
    <dgm:cxn modelId="{703B0CC7-6E04-4AA2-8561-C248C1E15E18}" type="presParOf" srcId="{535C7554-02EA-4AEA-9A41-EBB529C4818D}" destId="{914308EF-5F82-4193-8AD2-156C0AE7D387}" srcOrd="0" destOrd="0" presId="urn:microsoft.com/office/officeart/2005/8/layout/hierarchy1"/>
    <dgm:cxn modelId="{B5F56EA7-6F3F-4F6D-97F8-CFEA1E53F45F}" type="presParOf" srcId="{914308EF-5F82-4193-8AD2-156C0AE7D387}" destId="{A7740F95-70B6-4025-9678-79700D2B28BE}" srcOrd="0" destOrd="0" presId="urn:microsoft.com/office/officeart/2005/8/layout/hierarchy1"/>
    <dgm:cxn modelId="{90150F2E-7576-43DA-97F9-DCCDD68EE113}" type="presParOf" srcId="{914308EF-5F82-4193-8AD2-156C0AE7D387}" destId="{E4DC4189-61C4-4E9C-8DE2-66DE6944B6F9}" srcOrd="1" destOrd="0" presId="urn:microsoft.com/office/officeart/2005/8/layout/hierarchy1"/>
    <dgm:cxn modelId="{7F1812EC-C768-45FA-AB6E-A86334F8DDAE}" type="presParOf" srcId="{535C7554-02EA-4AEA-9A41-EBB529C4818D}" destId="{11927266-C9C8-46EE-B98B-77707EAD60AD}" srcOrd="1" destOrd="0" presId="urn:microsoft.com/office/officeart/2005/8/layout/hierarchy1"/>
    <dgm:cxn modelId="{5E701118-AE80-452F-B9D0-8FBA75D5CC00}" type="presParOf" srcId="{90CDF771-6B2F-47ED-A3D9-FD959662188D}" destId="{A4E0E7E9-C9FB-4787-B4BC-CEBA0A31754F}" srcOrd="2" destOrd="0" presId="urn:microsoft.com/office/officeart/2005/8/layout/hierarchy1"/>
    <dgm:cxn modelId="{C53A9223-0A26-4DDB-AFC7-FB30E6F6FDEC}" type="presParOf" srcId="{90CDF771-6B2F-47ED-A3D9-FD959662188D}" destId="{A8A798E6-32EA-4D21-8D95-4E88A6442F1F}" srcOrd="3" destOrd="0" presId="urn:microsoft.com/office/officeart/2005/8/layout/hierarchy1"/>
    <dgm:cxn modelId="{3997C165-B498-4231-8B5F-8EE80B277C37}" type="presParOf" srcId="{A8A798E6-32EA-4D21-8D95-4E88A6442F1F}" destId="{0E3CB566-4503-4377-8D27-D509BCC3680A}" srcOrd="0" destOrd="0" presId="urn:microsoft.com/office/officeart/2005/8/layout/hierarchy1"/>
    <dgm:cxn modelId="{65CB32E3-BE5F-489A-BE25-BD72176531CC}" type="presParOf" srcId="{0E3CB566-4503-4377-8D27-D509BCC3680A}" destId="{1E47CF92-C715-49E1-8198-E3D39E59AD99}" srcOrd="0" destOrd="0" presId="urn:microsoft.com/office/officeart/2005/8/layout/hierarchy1"/>
    <dgm:cxn modelId="{30CBF63F-01FA-4900-82FD-FF98F32E3D0B}" type="presParOf" srcId="{0E3CB566-4503-4377-8D27-D509BCC3680A}" destId="{41D6F532-94E3-43A1-9BCF-C93E2584A34F}" srcOrd="1" destOrd="0" presId="urn:microsoft.com/office/officeart/2005/8/layout/hierarchy1"/>
    <dgm:cxn modelId="{10F68925-2EE8-444F-A801-0300832F46D1}" type="presParOf" srcId="{A8A798E6-32EA-4D21-8D95-4E88A6442F1F}" destId="{31098E79-C5CB-4699-8546-F96E63153522}" srcOrd="1" destOrd="0" presId="urn:microsoft.com/office/officeart/2005/8/layout/hierarchy1"/>
    <dgm:cxn modelId="{B448F825-FE3A-4A03-8F5F-EDC5D22E86D2}" type="presParOf" srcId="{35A40B23-C6E0-4FC8-A330-C0BF49D39F36}" destId="{DC8461A1-E8EE-4AD0-BC90-6479BD6BF298}" srcOrd="2" destOrd="0" presId="urn:microsoft.com/office/officeart/2005/8/layout/hierarchy1"/>
    <dgm:cxn modelId="{C4B47140-1744-4C29-AD45-A331578AEA14}" type="presParOf" srcId="{35A40B23-C6E0-4FC8-A330-C0BF49D39F36}" destId="{211EBA64-B073-498D-8983-CE09BA066DBE}" srcOrd="3" destOrd="0" presId="urn:microsoft.com/office/officeart/2005/8/layout/hierarchy1"/>
    <dgm:cxn modelId="{96F5B381-8A61-43EE-97D1-F1A27910F6B6}" type="presParOf" srcId="{211EBA64-B073-498D-8983-CE09BA066DBE}" destId="{0EDC38C2-117E-40F6-A5FF-706322DF0D5C}" srcOrd="0" destOrd="0" presId="urn:microsoft.com/office/officeart/2005/8/layout/hierarchy1"/>
    <dgm:cxn modelId="{031EE331-8813-43FB-B066-643E8E7CB511}" type="presParOf" srcId="{0EDC38C2-117E-40F6-A5FF-706322DF0D5C}" destId="{94C7770B-D34F-4BA3-A20E-C24618D53DA5}" srcOrd="0" destOrd="0" presId="urn:microsoft.com/office/officeart/2005/8/layout/hierarchy1"/>
    <dgm:cxn modelId="{5C05CB76-6539-4333-BA9B-05DA949C3290}" type="presParOf" srcId="{0EDC38C2-117E-40F6-A5FF-706322DF0D5C}" destId="{47B32AEA-538D-43A9-9808-20CAF6C43395}" srcOrd="1" destOrd="0" presId="urn:microsoft.com/office/officeart/2005/8/layout/hierarchy1"/>
    <dgm:cxn modelId="{EA583BF2-CB0A-4D05-A057-FD24EABCEC64}" type="presParOf" srcId="{211EBA64-B073-498D-8983-CE09BA066DBE}" destId="{758FB8ED-F7FD-454E-8FCE-E61EC1946276}" srcOrd="1" destOrd="0" presId="urn:microsoft.com/office/officeart/2005/8/layout/hierarchy1"/>
    <dgm:cxn modelId="{422A291A-6D34-41B2-99B2-99C94382BCFA}" type="presParOf" srcId="{758FB8ED-F7FD-454E-8FCE-E61EC1946276}" destId="{32E898AF-2B7D-4E60-A321-64ACDB7A8CB0}" srcOrd="0" destOrd="0" presId="urn:microsoft.com/office/officeart/2005/8/layout/hierarchy1"/>
    <dgm:cxn modelId="{87CB5C24-D85D-43EB-9BB7-669910A8FDFE}" type="presParOf" srcId="{758FB8ED-F7FD-454E-8FCE-E61EC1946276}" destId="{AEA3D392-3C24-4E37-BBE7-C454D9AE6957}" srcOrd="1" destOrd="0" presId="urn:microsoft.com/office/officeart/2005/8/layout/hierarchy1"/>
    <dgm:cxn modelId="{257A3DD2-7C43-40AD-9500-7558568E808D}" type="presParOf" srcId="{AEA3D392-3C24-4E37-BBE7-C454D9AE6957}" destId="{55DDDDAB-35AA-43C6-BDE6-1EADD4707418}" srcOrd="0" destOrd="0" presId="urn:microsoft.com/office/officeart/2005/8/layout/hierarchy1"/>
    <dgm:cxn modelId="{975F3C51-96F3-47D1-9C17-FCD57E998411}" type="presParOf" srcId="{55DDDDAB-35AA-43C6-BDE6-1EADD4707418}" destId="{C28DA929-D2D6-47C6-8115-EAD312AF9066}" srcOrd="0" destOrd="0" presId="urn:microsoft.com/office/officeart/2005/8/layout/hierarchy1"/>
    <dgm:cxn modelId="{F5BA6E16-DAE1-40D8-A0E2-19A38FB842F5}" type="presParOf" srcId="{55DDDDAB-35AA-43C6-BDE6-1EADD4707418}" destId="{5A4B65B1-289D-4B1F-8570-5FB3E3621136}" srcOrd="1" destOrd="0" presId="urn:microsoft.com/office/officeart/2005/8/layout/hierarchy1"/>
    <dgm:cxn modelId="{8566AD4B-33FA-45A3-9FB6-ABF2E1CB295F}" type="presParOf" srcId="{AEA3D392-3C24-4E37-BBE7-C454D9AE6957}" destId="{D478B26F-A2DD-4DD8-931E-7353F3BD11A1}" srcOrd="1" destOrd="0" presId="urn:microsoft.com/office/officeart/2005/8/layout/hierarchy1"/>
  </dgm:cxnLst>
  <dgm:bg/>
  <dgm:whole/>
</dgm:dataModel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rawings/_rels/vmlDrawing1.v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image" Target="../media/image8.png"/><Relationship Id="rId4" Type="http://schemas.openxmlformats.org/officeDocument/2006/relationships/image" Target="../media/image11.png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ru-RU" smtClean="0"/>
              <a:t>информатика , 10 класс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9575291-1B34-409F-986A-07CBA6762034}" type="datetimeFigureOut">
              <a:rPr lang="ru-RU" smtClean="0"/>
              <a:pPr/>
              <a:t>24.12.2010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D99FAD4-DC43-4C43-B7B2-0D57610CB779}" type="slidenum">
              <a:rPr lang="ru-RU" smtClean="0"/>
              <a:pPr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ru-RU" smtClean="0"/>
              <a:t>информатика , 10 класс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6695FAE-1879-4E3E-91E7-05BE92A642DA}" type="datetimeFigureOut">
              <a:rPr lang="ru-RU" smtClean="0"/>
              <a:pPr/>
              <a:t>24.12.2010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763B55E-2403-4AEB-8167-2A5213906293}" type="slidenum">
              <a:rPr lang="ru-RU" smtClean="0"/>
              <a:pPr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63B55E-2403-4AEB-8167-2A5213906293}" type="slidenum">
              <a:rPr lang="ru-RU" smtClean="0"/>
              <a:pPr/>
              <a:t>14</a:t>
            </a:fld>
            <a:endParaRPr lang="ru-RU"/>
          </a:p>
        </p:txBody>
      </p:sp>
      <p:sp>
        <p:nvSpPr>
          <p:cNvPr id="5" name="Верхний колонтитул 4"/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lang="ru-RU" smtClean="0"/>
              <a:t>информатика , 10 класс</a:t>
            </a:r>
            <a:endParaRPr lang="ru-RU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 dirty="0"/>
          </a:p>
        </p:txBody>
      </p:sp>
      <p:sp>
        <p:nvSpPr>
          <p:cNvPr id="4" name="Верхний колонтитул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r>
              <a:rPr lang="ru-RU" smtClean="0"/>
              <a:t>информатика , 10 класс</a:t>
            </a:r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763B55E-2403-4AEB-8167-2A5213906293}" type="slidenum">
              <a:rPr lang="ru-RU" smtClean="0"/>
              <a:pPr/>
              <a:t>20</a:t>
            </a:fld>
            <a:endParaRPr lang="ru-RU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4C4182-DFA3-40BD-AF4E-9EDAAAE89E68}" type="datetimeFigureOut">
              <a:rPr lang="ru-RU" smtClean="0"/>
              <a:pPr/>
              <a:t>24.12.2010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58BB84-FD00-43E1-93B3-E7E2AB789373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  <p:transition>
    <p:strips dir="rd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4C4182-DFA3-40BD-AF4E-9EDAAAE89E68}" type="datetimeFigureOut">
              <a:rPr lang="ru-RU" smtClean="0"/>
              <a:pPr/>
              <a:t>24.12.2010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58BB84-FD00-43E1-93B3-E7E2AB789373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  <p:transition>
    <p:strips dir="rd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4C4182-DFA3-40BD-AF4E-9EDAAAE89E68}" type="datetimeFigureOut">
              <a:rPr lang="ru-RU" smtClean="0"/>
              <a:pPr/>
              <a:t>24.12.2010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58BB84-FD00-43E1-93B3-E7E2AB789373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  <p:transition>
    <p:strips dir="rd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4C4182-DFA3-40BD-AF4E-9EDAAAE89E68}" type="datetimeFigureOut">
              <a:rPr lang="ru-RU" smtClean="0"/>
              <a:pPr/>
              <a:t>24.12.2010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58BB84-FD00-43E1-93B3-E7E2AB789373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  <p:transition>
    <p:strips dir="rd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4C4182-DFA3-40BD-AF4E-9EDAAAE89E68}" type="datetimeFigureOut">
              <a:rPr lang="ru-RU" smtClean="0"/>
              <a:pPr/>
              <a:t>24.12.2010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58BB84-FD00-43E1-93B3-E7E2AB789373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  <p:transition>
    <p:strips dir="rd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4C4182-DFA3-40BD-AF4E-9EDAAAE89E68}" type="datetimeFigureOut">
              <a:rPr lang="ru-RU" smtClean="0"/>
              <a:pPr/>
              <a:t>24.12.2010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58BB84-FD00-43E1-93B3-E7E2AB789373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  <p:transition>
    <p:strips dir="rd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4C4182-DFA3-40BD-AF4E-9EDAAAE89E68}" type="datetimeFigureOut">
              <a:rPr lang="ru-RU" smtClean="0"/>
              <a:pPr/>
              <a:t>24.12.2010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58BB84-FD00-43E1-93B3-E7E2AB789373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  <p:transition>
    <p:strips dir="rd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4C4182-DFA3-40BD-AF4E-9EDAAAE89E68}" type="datetimeFigureOut">
              <a:rPr lang="ru-RU" smtClean="0"/>
              <a:pPr/>
              <a:t>24.12.2010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58BB84-FD00-43E1-93B3-E7E2AB789373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  <p:transition>
    <p:strips dir="rd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4C4182-DFA3-40BD-AF4E-9EDAAAE89E68}" type="datetimeFigureOut">
              <a:rPr lang="ru-RU" smtClean="0"/>
              <a:pPr/>
              <a:t>24.12.2010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58BB84-FD00-43E1-93B3-E7E2AB789373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  <p:transition>
    <p:strips dir="rd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4C4182-DFA3-40BD-AF4E-9EDAAAE89E68}" type="datetimeFigureOut">
              <a:rPr lang="ru-RU" smtClean="0"/>
              <a:pPr/>
              <a:t>24.12.2010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58BB84-FD00-43E1-93B3-E7E2AB789373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  <p:transition>
    <p:strips dir="rd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4C4182-DFA3-40BD-AF4E-9EDAAAE89E68}" type="datetimeFigureOut">
              <a:rPr lang="ru-RU" smtClean="0"/>
              <a:pPr/>
              <a:t>24.12.2010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58BB84-FD00-43E1-93B3-E7E2AB789373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  <p:transition>
    <p:strips dir="rd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44C4182-DFA3-40BD-AF4E-9EDAAAE89E68}" type="datetimeFigureOut">
              <a:rPr lang="ru-RU" smtClean="0"/>
              <a:pPr/>
              <a:t>24.12.2010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F58BB84-FD00-43E1-93B3-E7E2AB789373}" type="slidenum">
              <a:rPr lang="ru-RU" smtClean="0"/>
              <a:pPr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>
    <p:strips dir="rd"/>
  </p:transition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" Target="slide5.xml"/><Relationship Id="rId7" Type="http://schemas.openxmlformats.org/officeDocument/2006/relationships/slide" Target="slide22.xml"/><Relationship Id="rId2" Type="http://schemas.openxmlformats.org/officeDocument/2006/relationships/slide" Target="slide7.xml"/><Relationship Id="rId1" Type="http://schemas.openxmlformats.org/officeDocument/2006/relationships/slideLayout" Target="../slideLayouts/slideLayout7.xml"/><Relationship Id="rId6" Type="http://schemas.openxmlformats.org/officeDocument/2006/relationships/slide" Target="slide3.xml"/><Relationship Id="rId5" Type="http://schemas.openxmlformats.org/officeDocument/2006/relationships/slide" Target="slide6.xml"/><Relationship Id="rId4" Type="http://schemas.openxmlformats.org/officeDocument/2006/relationships/slide" Target="slide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" Target="slide5.xml"/><Relationship Id="rId2" Type="http://schemas.openxmlformats.org/officeDocument/2006/relationships/slide" Target="slide7.xml"/><Relationship Id="rId1" Type="http://schemas.openxmlformats.org/officeDocument/2006/relationships/slideLayout" Target="../slideLayouts/slideLayout7.xml"/><Relationship Id="rId6" Type="http://schemas.openxmlformats.org/officeDocument/2006/relationships/slide" Target="slide22.xml"/><Relationship Id="rId5" Type="http://schemas.openxmlformats.org/officeDocument/2006/relationships/slide" Target="slide6.xml"/><Relationship Id="rId4" Type="http://schemas.openxmlformats.org/officeDocument/2006/relationships/slide" Target="slide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" Target="slide5.xml"/><Relationship Id="rId7" Type="http://schemas.openxmlformats.org/officeDocument/2006/relationships/slide" Target="slide22.xml"/><Relationship Id="rId2" Type="http://schemas.openxmlformats.org/officeDocument/2006/relationships/slide" Target="slide7.xml"/><Relationship Id="rId1" Type="http://schemas.openxmlformats.org/officeDocument/2006/relationships/slideLayout" Target="../slideLayouts/slideLayout7.xml"/><Relationship Id="rId6" Type="http://schemas.openxmlformats.org/officeDocument/2006/relationships/slide" Target="slide3.xml"/><Relationship Id="rId5" Type="http://schemas.openxmlformats.org/officeDocument/2006/relationships/slide" Target="slide6.xml"/><Relationship Id="rId4" Type="http://schemas.openxmlformats.org/officeDocument/2006/relationships/slide" Target="slide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" Target="slide5.xml"/><Relationship Id="rId7" Type="http://schemas.openxmlformats.org/officeDocument/2006/relationships/slide" Target="slide22.xml"/><Relationship Id="rId2" Type="http://schemas.openxmlformats.org/officeDocument/2006/relationships/slide" Target="slide7.xml"/><Relationship Id="rId1" Type="http://schemas.openxmlformats.org/officeDocument/2006/relationships/slideLayout" Target="../slideLayouts/slideLayout7.xml"/><Relationship Id="rId6" Type="http://schemas.openxmlformats.org/officeDocument/2006/relationships/slide" Target="slide3.xml"/><Relationship Id="rId5" Type="http://schemas.openxmlformats.org/officeDocument/2006/relationships/slide" Target="slide6.xml"/><Relationship Id="rId4" Type="http://schemas.openxmlformats.org/officeDocument/2006/relationships/slide" Target="slide4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slide" Target="slide12.xml"/><Relationship Id="rId13" Type="http://schemas.openxmlformats.org/officeDocument/2006/relationships/slide" Target="slide22.xml"/><Relationship Id="rId3" Type="http://schemas.openxmlformats.org/officeDocument/2006/relationships/slide" Target="slide5.xml"/><Relationship Id="rId7" Type="http://schemas.openxmlformats.org/officeDocument/2006/relationships/slide" Target="slide10.xml"/><Relationship Id="rId12" Type="http://schemas.openxmlformats.org/officeDocument/2006/relationships/diagramColors" Target="../diagrams/colors1.xml"/><Relationship Id="rId2" Type="http://schemas.openxmlformats.org/officeDocument/2006/relationships/slide" Target="slide7.xml"/><Relationship Id="rId1" Type="http://schemas.openxmlformats.org/officeDocument/2006/relationships/slideLayout" Target="../slideLayouts/slideLayout7.xml"/><Relationship Id="rId6" Type="http://schemas.openxmlformats.org/officeDocument/2006/relationships/slide" Target="slide8.xml"/><Relationship Id="rId11" Type="http://schemas.openxmlformats.org/officeDocument/2006/relationships/diagramQuickStyle" Target="../diagrams/quickStyle1.xml"/><Relationship Id="rId5" Type="http://schemas.openxmlformats.org/officeDocument/2006/relationships/slide" Target="slide3.xml"/><Relationship Id="rId10" Type="http://schemas.openxmlformats.org/officeDocument/2006/relationships/diagramLayout" Target="../diagrams/layout1.xml"/><Relationship Id="rId4" Type="http://schemas.openxmlformats.org/officeDocument/2006/relationships/slide" Target="slide4.xml"/><Relationship Id="rId9" Type="http://schemas.openxmlformats.org/officeDocument/2006/relationships/diagramData" Target="../diagrams/data1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slide" Target="slide11.xml"/><Relationship Id="rId3" Type="http://schemas.openxmlformats.org/officeDocument/2006/relationships/slide" Target="slide5.xml"/><Relationship Id="rId7" Type="http://schemas.openxmlformats.org/officeDocument/2006/relationships/slide" Target="slide9.xml"/><Relationship Id="rId2" Type="http://schemas.openxmlformats.org/officeDocument/2006/relationships/slide" Target="slide7.xml"/><Relationship Id="rId1" Type="http://schemas.openxmlformats.org/officeDocument/2006/relationships/slideLayout" Target="../slideLayouts/slideLayout7.xml"/><Relationship Id="rId6" Type="http://schemas.openxmlformats.org/officeDocument/2006/relationships/slide" Target="slide3.xml"/><Relationship Id="rId5" Type="http://schemas.openxmlformats.org/officeDocument/2006/relationships/slide" Target="slide6.xml"/><Relationship Id="rId10" Type="http://schemas.openxmlformats.org/officeDocument/2006/relationships/slide" Target="slide22.xml"/><Relationship Id="rId4" Type="http://schemas.openxmlformats.org/officeDocument/2006/relationships/slide" Target="slide4.xml"/><Relationship Id="rId9" Type="http://schemas.openxmlformats.org/officeDocument/2006/relationships/slide" Target="slide1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" Target="slide9.xml"/><Relationship Id="rId2" Type="http://schemas.openxmlformats.org/officeDocument/2006/relationships/slideLayout" Target="../slideLayouts/slideLayout7.xml"/><Relationship Id="rId1" Type="http://schemas.openxmlformats.org/officeDocument/2006/relationships/themeOverride" Target="../theme/themeOverride1.xml"/><Relationship Id="rId4" Type="http://schemas.openxmlformats.org/officeDocument/2006/relationships/slide" Target="slide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" Target="slide7.xml"/><Relationship Id="rId2" Type="http://schemas.openxmlformats.org/officeDocument/2006/relationships/slideLayout" Target="../slideLayouts/slideLayout7.xml"/><Relationship Id="rId1" Type="http://schemas.openxmlformats.org/officeDocument/2006/relationships/themeOverride" Target="../theme/themeOverride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" Target="slide6.xml"/><Relationship Id="rId2" Type="http://schemas.openxmlformats.org/officeDocument/2006/relationships/slideLayout" Target="../slideLayouts/slideLayout7.xml"/><Relationship Id="rId1" Type="http://schemas.openxmlformats.org/officeDocument/2006/relationships/themeOverride" Target="../theme/themeOverride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" Target="slide7.xml"/><Relationship Id="rId2" Type="http://schemas.openxmlformats.org/officeDocument/2006/relationships/slideLayout" Target="../slideLayouts/slideLayout7.xml"/><Relationship Id="rId1" Type="http://schemas.openxmlformats.org/officeDocument/2006/relationships/themeOverride" Target="../theme/themeOverride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7.xml"/><Relationship Id="rId1" Type="http://schemas.openxmlformats.org/officeDocument/2006/relationships/themeOverride" Target="../theme/themeOverride5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slideLayout" Target="../slideLayouts/slideLayout7.xml"/><Relationship Id="rId1" Type="http://schemas.openxmlformats.org/officeDocument/2006/relationships/themeOverride" Target="../theme/themeOverride6.xml"/><Relationship Id="rId4" Type="http://schemas.openxmlformats.org/officeDocument/2006/relationships/image" Target="../media/image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7.xml"/><Relationship Id="rId1" Type="http://schemas.openxmlformats.org/officeDocument/2006/relationships/themeOverride" Target="../theme/themeOverride7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slide" Target="slide16.xml"/><Relationship Id="rId3" Type="http://schemas.openxmlformats.org/officeDocument/2006/relationships/image" Target="../media/image4.png"/><Relationship Id="rId7" Type="http://schemas.openxmlformats.org/officeDocument/2006/relationships/slide" Target="slide6.xml"/><Relationship Id="rId2" Type="http://schemas.openxmlformats.org/officeDocument/2006/relationships/slideLayout" Target="../slideLayouts/slideLayout7.xml"/><Relationship Id="rId1" Type="http://schemas.openxmlformats.org/officeDocument/2006/relationships/themeOverride" Target="../theme/themeOverride8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" Target="slide18.xml"/><Relationship Id="rId2" Type="http://schemas.openxmlformats.org/officeDocument/2006/relationships/slideLayout" Target="../slideLayouts/slideLayout7.xml"/><Relationship Id="rId1" Type="http://schemas.openxmlformats.org/officeDocument/2006/relationships/themeOverride" Target="../theme/themeOverride9.xml"/><Relationship Id="rId4" Type="http://schemas.openxmlformats.org/officeDocument/2006/relationships/slide" Target="slide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slide" Target="slide7.xml"/><Relationship Id="rId2" Type="http://schemas.openxmlformats.org/officeDocument/2006/relationships/slideLayout" Target="../slideLayouts/slideLayout6.xml"/><Relationship Id="rId1" Type="http://schemas.openxmlformats.org/officeDocument/2006/relationships/themeOverride" Target="../theme/themeOverride10.xml"/><Relationship Id="rId4" Type="http://schemas.openxmlformats.org/officeDocument/2006/relationships/slide" Target="slide20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hemeOverride" Target="../theme/themeOverride1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slide" Target="slide7.xml"/><Relationship Id="rId2" Type="http://schemas.openxmlformats.org/officeDocument/2006/relationships/slideLayout" Target="../slideLayouts/slideLayout7.xml"/><Relationship Id="rId1" Type="http://schemas.openxmlformats.org/officeDocument/2006/relationships/themeOverride" Target="../theme/themeOverride1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7.xml"/><Relationship Id="rId1" Type="http://schemas.openxmlformats.org/officeDocument/2006/relationships/themeOverride" Target="../theme/themeOverride13.xml"/><Relationship Id="rId4" Type="http://schemas.openxmlformats.org/officeDocument/2006/relationships/slide" Target="slide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7" Type="http://schemas.openxmlformats.org/officeDocument/2006/relationships/oleObject" Target="../embeddings/oleObject4.bin"/><Relationship Id="rId2" Type="http://schemas.openxmlformats.org/officeDocument/2006/relationships/vmlDrawing" Target="../drawings/vmlDrawing1.vml"/><Relationship Id="rId1" Type="http://schemas.openxmlformats.org/officeDocument/2006/relationships/themeOverride" Target="../theme/themeOverride14.xml"/><Relationship Id="rId6" Type="http://schemas.openxmlformats.org/officeDocument/2006/relationships/oleObject" Target="../embeddings/oleObject3.bin"/><Relationship Id="rId5" Type="http://schemas.openxmlformats.org/officeDocument/2006/relationships/oleObject" Target="../embeddings/oleObject2.bin"/><Relationship Id="rId4" Type="http://schemas.openxmlformats.org/officeDocument/2006/relationships/oleObject" Target="../embeddings/oleObject1.bin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hyperlink" Target="http://kpolyakov.narod.ru/" TargetMode="External"/><Relationship Id="rId2" Type="http://schemas.openxmlformats.org/officeDocument/2006/relationships/slideLayout" Target="../slideLayouts/slideLayout6.xml"/><Relationship Id="rId1" Type="http://schemas.openxmlformats.org/officeDocument/2006/relationships/themeOverride" Target="../theme/themeOverr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1857365"/>
            <a:ext cx="7886728" cy="1743086"/>
          </a:xfrm>
        </p:spPr>
        <p:txBody>
          <a:bodyPr>
            <a:normAutofit fontScale="90000"/>
          </a:bodyPr>
          <a:lstStyle/>
          <a:p>
            <a:r>
              <a:rPr lang="ru-RU" b="1" spc="120" dirty="0" smtClean="0">
                <a:solidFill>
                  <a:srgbClr val="002060"/>
                </a:solidFill>
              </a:rPr>
              <a:t>Компьютерное  информационное моделирование</a:t>
            </a:r>
            <a:br>
              <a:rPr lang="ru-RU" b="1" spc="120" dirty="0" smtClean="0">
                <a:solidFill>
                  <a:srgbClr val="002060"/>
                </a:solidFill>
              </a:rPr>
            </a:br>
            <a:endParaRPr lang="ru-RU" b="1" spc="120" dirty="0">
              <a:solidFill>
                <a:srgbClr val="002060"/>
              </a:solidFill>
            </a:endParaRP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71604" y="3500438"/>
            <a:ext cx="6400800" cy="785818"/>
          </a:xfrm>
        </p:spPr>
        <p:txBody>
          <a:bodyPr/>
          <a:lstStyle/>
          <a:p>
            <a:r>
              <a:rPr lang="ru-RU" dirty="0" smtClean="0">
                <a:solidFill>
                  <a:schemeClr val="tx2"/>
                </a:solidFill>
              </a:rPr>
              <a:t>10 класс</a:t>
            </a:r>
          </a:p>
          <a:p>
            <a:endParaRPr lang="ru-RU" dirty="0"/>
          </a:p>
        </p:txBody>
      </p:sp>
      <p:sp>
        <p:nvSpPr>
          <p:cNvPr id="4" name="TextBox 3"/>
          <p:cNvSpPr txBox="1"/>
          <p:nvPr/>
        </p:nvSpPr>
        <p:spPr>
          <a:xfrm>
            <a:off x="3857620" y="5857892"/>
            <a:ext cx="17145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 smtClean="0"/>
              <a:t>2010 г.</a:t>
            </a:r>
            <a:endParaRPr lang="ru-RU" dirty="0"/>
          </a:p>
        </p:txBody>
      </p:sp>
    </p:spTree>
  </p:cSld>
  <p:clrMapOvr>
    <a:masterClrMapping/>
  </p:clrMapOvr>
  <p:transition>
    <p:strips dir="rd"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Таблица 4"/>
          <p:cNvGraphicFramePr>
            <a:graphicFrameLocks noGrp="1"/>
          </p:cNvGraphicFramePr>
          <p:nvPr/>
        </p:nvGraphicFramePr>
        <p:xfrm>
          <a:off x="0" y="0"/>
          <a:ext cx="9144000" cy="72734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67108"/>
                <a:gridCol w="6876892"/>
              </a:tblGrid>
              <a:tr h="1846149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3600" dirty="0" smtClean="0"/>
                        <a:t>Компьютерное  информационное моделирование</a:t>
                      </a:r>
                      <a:endParaRPr lang="ru-RU" sz="3600" dirty="0"/>
                    </a:p>
                  </a:txBody>
                  <a:tcPr/>
                </a:tc>
              </a:tr>
              <a:tr h="5427279">
                <a:tc>
                  <a:txBody>
                    <a:bodyPr/>
                    <a:lstStyle/>
                    <a:p>
                      <a:endParaRPr lang="ru-RU" u="non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 smtClean="0"/>
                    </a:p>
                    <a:p>
                      <a:r>
                        <a:rPr lang="ru-RU" dirty="0" smtClean="0"/>
                        <a:t> </a:t>
                      </a:r>
                      <a:r>
                        <a:rPr lang="ru-RU" sz="2400" dirty="0" smtClean="0">
                          <a:solidFill>
                            <a:schemeClr val="tx2">
                              <a:lumMod val="50000"/>
                            </a:schemeClr>
                          </a:solidFill>
                        </a:rPr>
                        <a:t>Объектом информационного моделирования может</a:t>
                      </a:r>
                      <a:r>
                        <a:rPr lang="ru-RU" sz="2400" baseline="0" dirty="0" smtClean="0">
                          <a:solidFill>
                            <a:schemeClr val="tx2">
                              <a:lumMod val="50000"/>
                            </a:schemeClr>
                          </a:solidFill>
                        </a:rPr>
                        <a:t> быть всё что угодно: отдельные предметы (дерево, стол); физические , химические , биологические процессы, метеорологические явления (гроза, смерч); экономические и социальные процессы.</a:t>
                      </a:r>
                    </a:p>
                    <a:p>
                      <a:endParaRPr lang="ru-RU" sz="2400" dirty="0">
                        <a:solidFill>
                          <a:schemeClr val="tx2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Скругленный прямоугольник 5">
            <a:hlinkClick r:id="rId2" action="ppaction://hlinksldjump"/>
          </p:cNvPr>
          <p:cNvSpPr/>
          <p:nvPr/>
        </p:nvSpPr>
        <p:spPr>
          <a:xfrm>
            <a:off x="0" y="5072074"/>
            <a:ext cx="2143140" cy="92867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b="1" dirty="0" smtClean="0"/>
              <a:t>Задания для самостоятельного</a:t>
            </a:r>
            <a:r>
              <a:rPr lang="ru-RU" b="1" u="sng" dirty="0" smtClean="0"/>
              <a:t> </a:t>
            </a:r>
            <a:r>
              <a:rPr lang="ru-RU" b="1" dirty="0" smtClean="0"/>
              <a:t>решения</a:t>
            </a:r>
            <a:endParaRPr lang="ru-RU" b="1" dirty="0"/>
          </a:p>
        </p:txBody>
      </p:sp>
      <p:sp>
        <p:nvSpPr>
          <p:cNvPr id="7" name="Скругленный прямоугольник 6">
            <a:hlinkClick r:id="rId3" action="ppaction://hlinksldjump"/>
          </p:cNvPr>
          <p:cNvSpPr/>
          <p:nvPr/>
        </p:nvSpPr>
        <p:spPr>
          <a:xfrm>
            <a:off x="0" y="3500438"/>
            <a:ext cx="2143140" cy="71438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b="1" dirty="0" smtClean="0"/>
              <a:t>Этапы</a:t>
            </a:r>
            <a:r>
              <a:rPr lang="ru-RU" b="1" u="sng" dirty="0" smtClean="0"/>
              <a:t> </a:t>
            </a:r>
            <a:r>
              <a:rPr lang="ru-RU" b="1" dirty="0" smtClean="0"/>
              <a:t>моделирования</a:t>
            </a:r>
            <a:endParaRPr lang="ru-RU" b="1" dirty="0"/>
          </a:p>
        </p:txBody>
      </p:sp>
      <p:sp>
        <p:nvSpPr>
          <p:cNvPr id="8" name="Скругленный прямоугольник 7">
            <a:hlinkClick r:id="rId4" action="ppaction://hlinksldjump"/>
          </p:cNvPr>
          <p:cNvSpPr/>
          <p:nvPr/>
        </p:nvSpPr>
        <p:spPr>
          <a:xfrm>
            <a:off x="0" y="2714620"/>
            <a:ext cx="2143108" cy="71438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b="1" dirty="0" smtClean="0">
                <a:solidFill>
                  <a:schemeClr val="bg1"/>
                </a:solidFill>
              </a:rPr>
              <a:t>Материальные и информационные модели</a:t>
            </a:r>
            <a:endParaRPr lang="ru-RU" b="1" dirty="0">
              <a:solidFill>
                <a:schemeClr val="bg1"/>
              </a:solidFill>
            </a:endParaRPr>
          </a:p>
        </p:txBody>
      </p:sp>
      <p:sp>
        <p:nvSpPr>
          <p:cNvPr id="9" name="Скругленный прямоугольник 8">
            <a:hlinkClick r:id="rId5" action="ppaction://hlinksldjump"/>
          </p:cNvPr>
          <p:cNvSpPr/>
          <p:nvPr/>
        </p:nvSpPr>
        <p:spPr>
          <a:xfrm>
            <a:off x="0" y="4286256"/>
            <a:ext cx="2143140" cy="71438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b="1" dirty="0" smtClean="0"/>
              <a:t>Структуры  данных</a:t>
            </a:r>
            <a:endParaRPr lang="ru-RU" b="1" dirty="0"/>
          </a:p>
        </p:txBody>
      </p:sp>
      <p:sp>
        <p:nvSpPr>
          <p:cNvPr id="10" name="Скругленный прямоугольник 9">
            <a:hlinkClick r:id="rId6" action="ppaction://hlinksldjump"/>
          </p:cNvPr>
          <p:cNvSpPr/>
          <p:nvPr/>
        </p:nvSpPr>
        <p:spPr>
          <a:xfrm>
            <a:off x="0" y="1928802"/>
            <a:ext cx="2143140" cy="71438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b="1" dirty="0" smtClean="0"/>
              <a:t>Понятие</a:t>
            </a:r>
            <a:r>
              <a:rPr lang="ru-RU" dirty="0" smtClean="0"/>
              <a:t> </a:t>
            </a:r>
            <a:r>
              <a:rPr lang="ru-RU" b="1" dirty="0" smtClean="0"/>
              <a:t>модели</a:t>
            </a:r>
            <a:endParaRPr lang="ru-RU" b="1" dirty="0"/>
          </a:p>
        </p:txBody>
      </p:sp>
      <p:grpSp>
        <p:nvGrpSpPr>
          <p:cNvPr id="11" name="Группа 10"/>
          <p:cNvGrpSpPr/>
          <p:nvPr/>
        </p:nvGrpSpPr>
        <p:grpSpPr>
          <a:xfrm rot="850989">
            <a:off x="4500562" y="5143512"/>
            <a:ext cx="2714644" cy="1500198"/>
            <a:chOff x="2786050" y="714356"/>
            <a:chExt cx="2714644" cy="1500198"/>
          </a:xfrm>
        </p:grpSpPr>
        <p:sp>
          <p:nvSpPr>
            <p:cNvPr id="12" name="Овал 11"/>
            <p:cNvSpPr/>
            <p:nvPr/>
          </p:nvSpPr>
          <p:spPr>
            <a:xfrm>
              <a:off x="3500430" y="785794"/>
              <a:ext cx="428628" cy="35719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ru-RU" b="1" dirty="0" smtClean="0"/>
                <a:t>Д</a:t>
              </a:r>
              <a:endParaRPr lang="ru-RU" b="1" dirty="0"/>
            </a:p>
          </p:txBody>
        </p:sp>
        <p:sp>
          <p:nvSpPr>
            <p:cNvPr id="13" name="Овал 12"/>
            <p:cNvSpPr/>
            <p:nvPr/>
          </p:nvSpPr>
          <p:spPr>
            <a:xfrm>
              <a:off x="2786050" y="1857364"/>
              <a:ext cx="428628" cy="35719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ru-RU" b="1" dirty="0" smtClean="0"/>
                <a:t>Р</a:t>
              </a:r>
              <a:endParaRPr lang="ru-RU" b="1" dirty="0"/>
            </a:p>
          </p:txBody>
        </p:sp>
        <p:sp>
          <p:nvSpPr>
            <p:cNvPr id="14" name="Овал 13"/>
            <p:cNvSpPr/>
            <p:nvPr/>
          </p:nvSpPr>
          <p:spPr>
            <a:xfrm>
              <a:off x="4143372" y="1571612"/>
              <a:ext cx="428628" cy="35719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ru-RU" b="1" dirty="0" smtClean="0"/>
                <a:t>К</a:t>
              </a:r>
              <a:endParaRPr lang="ru-RU" b="1" dirty="0"/>
            </a:p>
          </p:txBody>
        </p:sp>
        <p:sp>
          <p:nvSpPr>
            <p:cNvPr id="15" name="Овал 14"/>
            <p:cNvSpPr/>
            <p:nvPr/>
          </p:nvSpPr>
          <p:spPr>
            <a:xfrm>
              <a:off x="5072066" y="1714488"/>
              <a:ext cx="428628" cy="35719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ru-RU" b="1" dirty="0" smtClean="0"/>
                <a:t>М</a:t>
              </a:r>
              <a:endParaRPr lang="ru-RU" b="1" dirty="0"/>
            </a:p>
          </p:txBody>
        </p:sp>
        <p:sp>
          <p:nvSpPr>
            <p:cNvPr id="16" name="Овал 15"/>
            <p:cNvSpPr/>
            <p:nvPr/>
          </p:nvSpPr>
          <p:spPr>
            <a:xfrm>
              <a:off x="4572000" y="714356"/>
              <a:ext cx="428628" cy="35719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ru-RU" b="1" dirty="0" smtClean="0"/>
                <a:t>Б</a:t>
              </a:r>
              <a:endParaRPr lang="ru-RU" b="1" dirty="0"/>
            </a:p>
          </p:txBody>
        </p:sp>
        <p:cxnSp>
          <p:nvCxnSpPr>
            <p:cNvPr id="17" name="Прямая соединительная линия 16"/>
            <p:cNvCxnSpPr>
              <a:stCxn id="12" idx="6"/>
              <a:endCxn id="16" idx="2"/>
            </p:cNvCxnSpPr>
            <p:nvPr/>
          </p:nvCxnSpPr>
          <p:spPr>
            <a:xfrm flipV="1">
              <a:off x="3929058" y="892951"/>
              <a:ext cx="642942" cy="71438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Прямая соединительная линия 17"/>
            <p:cNvCxnSpPr>
              <a:endCxn id="14" idx="2"/>
            </p:cNvCxnSpPr>
            <p:nvPr/>
          </p:nvCxnSpPr>
          <p:spPr>
            <a:xfrm flipV="1">
              <a:off x="3214678" y="1750207"/>
              <a:ext cx="928694" cy="250033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Прямая соединительная линия 18"/>
            <p:cNvCxnSpPr>
              <a:stCxn id="12" idx="4"/>
              <a:endCxn id="14" idx="0"/>
            </p:cNvCxnSpPr>
            <p:nvPr/>
          </p:nvCxnSpPr>
          <p:spPr>
            <a:xfrm rot="16200000" flipH="1">
              <a:off x="3821901" y="1035827"/>
              <a:ext cx="428628" cy="642942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Прямая соединительная линия 19"/>
            <p:cNvCxnSpPr>
              <a:stCxn id="14" idx="7"/>
              <a:endCxn id="16" idx="4"/>
            </p:cNvCxnSpPr>
            <p:nvPr/>
          </p:nvCxnSpPr>
          <p:spPr>
            <a:xfrm rot="5400000" flipH="1" flipV="1">
              <a:off x="4371584" y="1209192"/>
              <a:ext cx="552375" cy="277085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Прямая соединительная линия 20"/>
            <p:cNvCxnSpPr>
              <a:stCxn id="15" idx="0"/>
            </p:cNvCxnSpPr>
            <p:nvPr/>
          </p:nvCxnSpPr>
          <p:spPr>
            <a:xfrm rot="16200000" flipV="1">
              <a:off x="4750595" y="1178703"/>
              <a:ext cx="642942" cy="428628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2" name="Скругленный прямоугольник 21">
            <a:hlinkClick r:id="rId7" action="ppaction://hlinksldjump"/>
          </p:cNvPr>
          <p:cNvSpPr/>
          <p:nvPr/>
        </p:nvSpPr>
        <p:spPr>
          <a:xfrm>
            <a:off x="0" y="6143620"/>
            <a:ext cx="2143140" cy="71438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b="1" dirty="0" smtClean="0"/>
              <a:t>Используемые   материалы	</a:t>
            </a:r>
            <a:endParaRPr lang="ru-RU" b="1" dirty="0"/>
          </a:p>
        </p:txBody>
      </p:sp>
    </p:spTree>
  </p:cSld>
  <p:clrMapOvr>
    <a:masterClrMapping/>
  </p:clrMapOvr>
  <p:transition>
    <p:strips dir="rd"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Таблица 4"/>
          <p:cNvGraphicFramePr>
            <a:graphicFrameLocks noGrp="1"/>
          </p:cNvGraphicFramePr>
          <p:nvPr/>
        </p:nvGraphicFramePr>
        <p:xfrm>
          <a:off x="0" y="0"/>
          <a:ext cx="9144000" cy="69988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67108"/>
                <a:gridCol w="6876892"/>
              </a:tblGrid>
              <a:tr h="1571612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ru-RU" sz="3600" dirty="0" smtClean="0"/>
                    </a:p>
                    <a:p>
                      <a:pPr algn="ctr"/>
                      <a:r>
                        <a:rPr lang="ru-RU" sz="3600" dirty="0" smtClean="0"/>
                        <a:t>Понятие модели</a:t>
                      </a:r>
                      <a:endParaRPr lang="ru-RU" sz="3600" dirty="0"/>
                    </a:p>
                  </a:txBody>
                  <a:tcPr/>
                </a:tc>
              </a:tr>
              <a:tr h="5427279">
                <a:tc>
                  <a:txBody>
                    <a:bodyPr/>
                    <a:lstStyle/>
                    <a:p>
                      <a:endParaRPr lang="ru-RU" u="non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2000" u="sng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ru-RU" sz="2000" b="1" u="sng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Объект</a:t>
                      </a:r>
                      <a:r>
                        <a:rPr lang="ru-RU" sz="2000" b="1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ru-RU" sz="20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– некоторая часть окружающего нас мира, которая может быть рассмотрена как единое целое. </a:t>
                      </a:r>
                    </a:p>
                    <a:p>
                      <a:endParaRPr lang="ru-RU" sz="20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ru-RU" sz="2000" b="1" u="sng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Свойства объекта</a:t>
                      </a:r>
                      <a:r>
                        <a:rPr lang="ru-RU" sz="2000" b="1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ru-RU" sz="20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– совокупность признаков объекта, по которым его можно отличить от других объектов</a:t>
                      </a:r>
                    </a:p>
                    <a:p>
                      <a:endParaRPr lang="ru-RU" sz="20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ru-RU" sz="2000" b="1" u="sng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Модель</a:t>
                      </a:r>
                      <a:r>
                        <a:rPr lang="ru-RU" sz="2000" b="1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– </a:t>
                      </a:r>
                      <a:r>
                        <a:rPr lang="ru-RU" sz="20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это упрощенное представление о реальном объекте, процессе или явлении.</a:t>
                      </a:r>
                    </a:p>
                    <a:p>
                      <a:endParaRPr lang="ru-RU" sz="20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ru-RU" sz="2000" b="1" u="sng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Моделирование</a:t>
                      </a:r>
                      <a:r>
                        <a:rPr lang="ru-RU" sz="2000" b="1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– </a:t>
                      </a:r>
                      <a:r>
                        <a:rPr lang="ru-RU" sz="20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построение моделей для изучения объектов, процессов, явлений.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Скругленный прямоугольник 5">
            <a:hlinkClick r:id="rId2" action="ppaction://hlinksldjump"/>
          </p:cNvPr>
          <p:cNvSpPr/>
          <p:nvPr/>
        </p:nvSpPr>
        <p:spPr>
          <a:xfrm>
            <a:off x="0" y="5143512"/>
            <a:ext cx="2143140" cy="92867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b="1" dirty="0" smtClean="0"/>
              <a:t>Задания для самостоятельного</a:t>
            </a:r>
            <a:r>
              <a:rPr lang="ru-RU" b="1" u="sng" dirty="0" smtClean="0"/>
              <a:t> </a:t>
            </a:r>
            <a:r>
              <a:rPr lang="ru-RU" b="1" dirty="0" smtClean="0"/>
              <a:t>решения</a:t>
            </a:r>
            <a:endParaRPr lang="ru-RU" b="1" dirty="0"/>
          </a:p>
        </p:txBody>
      </p:sp>
      <p:sp>
        <p:nvSpPr>
          <p:cNvPr id="7" name="Скругленный прямоугольник 6">
            <a:hlinkClick r:id="rId3" action="ppaction://hlinksldjump"/>
          </p:cNvPr>
          <p:cNvSpPr/>
          <p:nvPr/>
        </p:nvSpPr>
        <p:spPr>
          <a:xfrm>
            <a:off x="0" y="3429000"/>
            <a:ext cx="2143140" cy="71438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b="1" dirty="0" smtClean="0"/>
              <a:t>Этапы</a:t>
            </a:r>
            <a:r>
              <a:rPr lang="ru-RU" b="1" u="sng" dirty="0" smtClean="0"/>
              <a:t> </a:t>
            </a:r>
            <a:r>
              <a:rPr lang="ru-RU" b="1" dirty="0" smtClean="0"/>
              <a:t>моделирования</a:t>
            </a:r>
            <a:endParaRPr lang="ru-RU" b="1" dirty="0"/>
          </a:p>
        </p:txBody>
      </p:sp>
      <p:sp>
        <p:nvSpPr>
          <p:cNvPr id="8" name="Скругленный прямоугольник 7">
            <a:hlinkClick r:id="rId4" action="ppaction://hlinksldjump"/>
          </p:cNvPr>
          <p:cNvSpPr/>
          <p:nvPr/>
        </p:nvSpPr>
        <p:spPr>
          <a:xfrm>
            <a:off x="0" y="2571744"/>
            <a:ext cx="2143108" cy="71438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b="1" dirty="0" smtClean="0">
                <a:solidFill>
                  <a:schemeClr val="bg1"/>
                </a:solidFill>
              </a:rPr>
              <a:t>Материальные и информационные модели</a:t>
            </a:r>
            <a:endParaRPr lang="ru-RU" b="1" dirty="0">
              <a:solidFill>
                <a:schemeClr val="bg1"/>
              </a:solidFill>
            </a:endParaRPr>
          </a:p>
        </p:txBody>
      </p:sp>
      <p:sp>
        <p:nvSpPr>
          <p:cNvPr id="9" name="Скругленный прямоугольник 8">
            <a:hlinkClick r:id="rId5" action="ppaction://hlinksldjump"/>
          </p:cNvPr>
          <p:cNvSpPr/>
          <p:nvPr/>
        </p:nvSpPr>
        <p:spPr>
          <a:xfrm>
            <a:off x="0" y="4286256"/>
            <a:ext cx="2143140" cy="71438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b="1" dirty="0" smtClean="0"/>
              <a:t>Структуры  данных</a:t>
            </a:r>
            <a:endParaRPr lang="ru-RU" b="1" dirty="0"/>
          </a:p>
        </p:txBody>
      </p:sp>
      <p:sp>
        <p:nvSpPr>
          <p:cNvPr id="10" name="Скругленный прямоугольник 9"/>
          <p:cNvSpPr/>
          <p:nvPr/>
        </p:nvSpPr>
        <p:spPr>
          <a:xfrm>
            <a:off x="0" y="1714488"/>
            <a:ext cx="2143140" cy="71438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b="1" dirty="0" smtClean="0"/>
              <a:t>Понятие</a:t>
            </a:r>
            <a:r>
              <a:rPr lang="ru-RU" dirty="0" smtClean="0"/>
              <a:t> </a:t>
            </a:r>
            <a:r>
              <a:rPr lang="ru-RU" b="1" dirty="0" smtClean="0"/>
              <a:t>модели</a:t>
            </a:r>
            <a:endParaRPr lang="ru-RU" b="1" dirty="0"/>
          </a:p>
        </p:txBody>
      </p:sp>
      <p:sp>
        <p:nvSpPr>
          <p:cNvPr id="11" name="Скругленный прямоугольник 10">
            <a:hlinkClick r:id="rId6" action="ppaction://hlinksldjump"/>
          </p:cNvPr>
          <p:cNvSpPr/>
          <p:nvPr/>
        </p:nvSpPr>
        <p:spPr>
          <a:xfrm>
            <a:off x="0" y="6143620"/>
            <a:ext cx="2143140" cy="71438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b="1" dirty="0" smtClean="0"/>
              <a:t>Используемые   материалы	</a:t>
            </a:r>
            <a:endParaRPr lang="ru-RU" b="1" dirty="0"/>
          </a:p>
        </p:txBody>
      </p:sp>
    </p:spTree>
  </p:cSld>
  <p:clrMapOvr>
    <a:masterClrMapping/>
  </p:clrMapOvr>
  <p:transition>
    <p:strips dir="rd"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Таблица 4"/>
          <p:cNvGraphicFramePr>
            <a:graphicFrameLocks noGrp="1"/>
          </p:cNvGraphicFramePr>
          <p:nvPr/>
        </p:nvGraphicFramePr>
        <p:xfrm>
          <a:off x="0" y="0"/>
          <a:ext cx="9144000" cy="7223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67108"/>
                <a:gridCol w="6876892"/>
              </a:tblGrid>
              <a:tr h="1142984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3600" dirty="0" smtClean="0"/>
                        <a:t>Материальные и информационные модели</a:t>
                      </a:r>
                      <a:endParaRPr lang="ru-RU" sz="3600" dirty="0"/>
                    </a:p>
                  </a:txBody>
                  <a:tcPr/>
                </a:tc>
              </a:tr>
              <a:tr h="5427279">
                <a:tc>
                  <a:txBody>
                    <a:bodyPr/>
                    <a:lstStyle/>
                    <a:p>
                      <a:endParaRPr lang="ru-RU" u="non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442913" marR="0" indent="-442913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2400" b="1" u="sng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Материальные модели</a:t>
                      </a:r>
                      <a:r>
                        <a:rPr lang="ru-RU" sz="2400" b="1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ru-RU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иначе можно назвать предметными или физическими. Они воспроизводят геометрические свойства оригинала и имеют реальное воплощение. </a:t>
                      </a:r>
                    </a:p>
                    <a:p>
                      <a:pPr marL="442913" indent="-179388"/>
                      <a:r>
                        <a:rPr lang="ru-RU" sz="1800" b="1" i="1" u="sng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Примеры материальных моделей</a:t>
                      </a:r>
                      <a:r>
                        <a:rPr lang="ru-RU" sz="1800" b="1" i="1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: </a:t>
                      </a:r>
                    </a:p>
                    <a:p>
                      <a:pPr marL="442913" lvl="0" indent="0"/>
                      <a:r>
                        <a:rPr lang="ru-RU" sz="1800" i="1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Детские игрушки</a:t>
                      </a:r>
                      <a:r>
                        <a:rPr lang="ru-RU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(куклы – модель ребенка,  машинки – модели реальных автомобилей и т.д.). </a:t>
                      </a:r>
                    </a:p>
                    <a:p>
                      <a:pPr marL="442913" lvl="0" indent="0"/>
                      <a:r>
                        <a:rPr lang="ru-RU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Глобус – модель планеты Земля.</a:t>
                      </a:r>
                    </a:p>
                    <a:p>
                      <a:pPr marL="442913" lvl="0" indent="0"/>
                      <a:r>
                        <a:rPr lang="ru-RU" sz="1800" i="1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Школьные пособия </a:t>
                      </a:r>
                      <a:r>
                        <a:rPr lang="ru-RU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(скелет человека – модель реального скелета, модель атома кислорода и т.д.)</a:t>
                      </a:r>
                    </a:p>
                    <a:p>
                      <a:pPr marL="442913" lvl="0" indent="0"/>
                      <a:r>
                        <a:rPr lang="ru-RU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Физические и химические опыты.</a:t>
                      </a:r>
                    </a:p>
                    <a:p>
                      <a:pPr marL="442913" marR="0" indent="-442913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2400" b="1" u="sng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Информационная модель </a:t>
                      </a:r>
                      <a:r>
                        <a:rPr lang="ru-RU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– совокупность информации, характеризующая свойства и состояния объекта, процесса, явления, а также взаимосвязь с внешним миром. </a:t>
                      </a:r>
                    </a:p>
                    <a:p>
                      <a:pPr marL="530225" indent="-266700"/>
                      <a:r>
                        <a:rPr lang="ru-RU" sz="1800" b="1" i="1" u="sng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Примеры  моделей</a:t>
                      </a:r>
                      <a:r>
                        <a:rPr lang="ru-RU" sz="1800" b="1" i="1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:</a:t>
                      </a:r>
                    </a:p>
                    <a:p>
                      <a:pPr marL="442913" lvl="0" indent="0" algn="l" defTabSz="914400" rtl="0" eaLnBrk="1" latinLnBrk="0" hangingPunct="1"/>
                      <a:r>
                        <a:rPr lang="ru-RU" sz="1800" i="1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Чертеж кухонной мебели – модель мебели для кухни.</a:t>
                      </a:r>
                    </a:p>
                    <a:p>
                      <a:pPr marL="442913" lvl="0" indent="0" algn="l" defTabSz="914400" rtl="0" eaLnBrk="1" latinLnBrk="0" hangingPunct="1"/>
                      <a:r>
                        <a:rPr lang="ru-RU" sz="1800" i="1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Схема Московского метрополитена – модель метро. </a:t>
                      </a:r>
                    </a:p>
                    <a:p>
                      <a:pPr marL="442913" lvl="0" indent="0" algn="l" defTabSz="914400" rtl="0" eaLnBrk="1" latinLnBrk="0" hangingPunct="1"/>
                      <a:r>
                        <a:rPr lang="ru-RU" sz="1800" i="1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График изменения курса евро – модель роста курса евро</a:t>
                      </a:r>
                      <a:r>
                        <a:rPr lang="ru-RU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По способу реализации информационные  модели делятся на </a:t>
                      </a:r>
                      <a:r>
                        <a:rPr lang="ru-RU" sz="1800" u="sng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компьютерные</a:t>
                      </a:r>
                      <a:r>
                        <a:rPr lang="ru-RU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и </a:t>
                      </a:r>
                      <a:r>
                        <a:rPr lang="ru-RU" sz="1800" u="sng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некомпьютерные</a:t>
                      </a:r>
                      <a:r>
                        <a:rPr lang="ru-RU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</a:p>
                    <a:p>
                      <a:endParaRPr lang="ru-RU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Скругленный прямоугольник 5">
            <a:hlinkClick r:id="rId2" action="ppaction://hlinksldjump"/>
          </p:cNvPr>
          <p:cNvSpPr/>
          <p:nvPr/>
        </p:nvSpPr>
        <p:spPr>
          <a:xfrm>
            <a:off x="0" y="5072074"/>
            <a:ext cx="2143140" cy="92867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b="1" dirty="0" smtClean="0"/>
              <a:t>Задания для самостоятельного</a:t>
            </a:r>
            <a:r>
              <a:rPr lang="ru-RU" b="1" u="sng" dirty="0" smtClean="0"/>
              <a:t> </a:t>
            </a:r>
            <a:r>
              <a:rPr lang="ru-RU" b="1" dirty="0" smtClean="0"/>
              <a:t>решения</a:t>
            </a:r>
            <a:endParaRPr lang="ru-RU" b="1" dirty="0"/>
          </a:p>
        </p:txBody>
      </p:sp>
      <p:sp>
        <p:nvSpPr>
          <p:cNvPr id="7" name="Скругленный прямоугольник 6">
            <a:hlinkClick r:id="rId3" action="ppaction://hlinksldjump"/>
          </p:cNvPr>
          <p:cNvSpPr/>
          <p:nvPr/>
        </p:nvSpPr>
        <p:spPr>
          <a:xfrm>
            <a:off x="0" y="3214686"/>
            <a:ext cx="2143140" cy="71438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b="1" dirty="0" smtClean="0"/>
              <a:t>Этапы</a:t>
            </a:r>
            <a:r>
              <a:rPr lang="ru-RU" b="1" u="sng" dirty="0" smtClean="0"/>
              <a:t> </a:t>
            </a:r>
            <a:r>
              <a:rPr lang="ru-RU" b="1" dirty="0" smtClean="0"/>
              <a:t>моделирования</a:t>
            </a:r>
            <a:endParaRPr lang="ru-RU" b="1" dirty="0"/>
          </a:p>
        </p:txBody>
      </p:sp>
      <p:sp>
        <p:nvSpPr>
          <p:cNvPr id="8" name="Скругленный прямоугольник 7">
            <a:hlinkClick r:id="rId4" action="ppaction://hlinksldjump"/>
          </p:cNvPr>
          <p:cNvSpPr/>
          <p:nvPr/>
        </p:nvSpPr>
        <p:spPr>
          <a:xfrm>
            <a:off x="0" y="2357430"/>
            <a:ext cx="2143108" cy="71438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b="1" dirty="0" smtClean="0">
                <a:solidFill>
                  <a:schemeClr val="bg1"/>
                </a:solidFill>
              </a:rPr>
              <a:t>Материальные и информационные модели</a:t>
            </a:r>
            <a:endParaRPr lang="ru-RU" b="1" dirty="0">
              <a:solidFill>
                <a:schemeClr val="bg1"/>
              </a:solidFill>
            </a:endParaRPr>
          </a:p>
        </p:txBody>
      </p:sp>
      <p:sp>
        <p:nvSpPr>
          <p:cNvPr id="9" name="Скругленный прямоугольник 8">
            <a:hlinkClick r:id="rId5" action="ppaction://hlinksldjump"/>
          </p:cNvPr>
          <p:cNvSpPr/>
          <p:nvPr/>
        </p:nvSpPr>
        <p:spPr>
          <a:xfrm>
            <a:off x="0" y="4143380"/>
            <a:ext cx="2143140" cy="71438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b="1" dirty="0" smtClean="0"/>
              <a:t>Структуры  данных</a:t>
            </a:r>
            <a:endParaRPr lang="ru-RU" b="1" dirty="0"/>
          </a:p>
        </p:txBody>
      </p:sp>
      <p:sp>
        <p:nvSpPr>
          <p:cNvPr id="10" name="Скругленный прямоугольник 9">
            <a:hlinkClick r:id="rId6" action="ppaction://hlinksldjump"/>
          </p:cNvPr>
          <p:cNvSpPr/>
          <p:nvPr/>
        </p:nvSpPr>
        <p:spPr>
          <a:xfrm>
            <a:off x="0" y="1428736"/>
            <a:ext cx="2143140" cy="71438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b="1" dirty="0" smtClean="0"/>
              <a:t>Понятие</a:t>
            </a:r>
            <a:r>
              <a:rPr lang="ru-RU" dirty="0" smtClean="0"/>
              <a:t> </a:t>
            </a:r>
            <a:r>
              <a:rPr lang="ru-RU" b="1" dirty="0" smtClean="0"/>
              <a:t>модели</a:t>
            </a:r>
            <a:endParaRPr lang="ru-RU" b="1" dirty="0"/>
          </a:p>
        </p:txBody>
      </p:sp>
      <p:sp>
        <p:nvSpPr>
          <p:cNvPr id="11" name="Скругленный прямоугольник 10">
            <a:hlinkClick r:id="rId7" action="ppaction://hlinksldjump"/>
          </p:cNvPr>
          <p:cNvSpPr/>
          <p:nvPr/>
        </p:nvSpPr>
        <p:spPr>
          <a:xfrm>
            <a:off x="0" y="6143620"/>
            <a:ext cx="2143140" cy="71438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b="1" dirty="0" smtClean="0"/>
              <a:t>Используемые   материалы	</a:t>
            </a:r>
            <a:endParaRPr lang="ru-RU" b="1" dirty="0"/>
          </a:p>
        </p:txBody>
      </p:sp>
    </p:spTree>
  </p:cSld>
  <p:clrMapOvr>
    <a:masterClrMapping/>
  </p:clrMapOvr>
  <p:transition>
    <p:strips dir="rd"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CECFF">
            <a:alpha val="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Таблица 4"/>
          <p:cNvGraphicFramePr>
            <a:graphicFrameLocks noGrp="1"/>
          </p:cNvGraphicFramePr>
          <p:nvPr/>
        </p:nvGraphicFramePr>
        <p:xfrm>
          <a:off x="0" y="0"/>
          <a:ext cx="9144000" cy="68027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67108"/>
                <a:gridCol w="6876892"/>
              </a:tblGrid>
              <a:tr h="1285860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</a:pPr>
                      <a:r>
                        <a:rPr lang="ru-RU" sz="3600" dirty="0" smtClean="0"/>
                        <a:t>Этапы моделирования</a:t>
                      </a:r>
                      <a:endParaRPr lang="ru-RU" sz="3600" dirty="0"/>
                    </a:p>
                  </a:txBody>
                  <a:tcPr/>
                </a:tc>
              </a:tr>
              <a:tr h="5427279">
                <a:tc>
                  <a:txBody>
                    <a:bodyPr/>
                    <a:lstStyle/>
                    <a:p>
                      <a:endParaRPr lang="ru-RU" u="non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342900" indent="-342900">
                        <a:buFont typeface="+mj-lt"/>
                        <a:buNone/>
                      </a:pPr>
                      <a:endParaRPr lang="ru-RU" sz="2800" b="1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342900" indent="-342900">
                        <a:buFont typeface="+mj-lt"/>
                        <a:buAutoNum type="arabicPeriod"/>
                      </a:pPr>
                      <a:r>
                        <a:rPr lang="ru-RU" sz="2800" b="1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Постановка задачи.</a:t>
                      </a:r>
                      <a:endParaRPr lang="ru-RU" sz="28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342900" indent="-342900">
                        <a:buFont typeface="+mj-lt"/>
                        <a:buAutoNum type="arabicPeriod"/>
                      </a:pPr>
                      <a:r>
                        <a:rPr lang="ru-RU" sz="2800" b="1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Разработка модели. </a:t>
                      </a:r>
                      <a:endParaRPr lang="ru-RU" sz="28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342900" indent="-342900">
                        <a:buFont typeface="+mj-lt"/>
                        <a:buAutoNum type="arabicPeriod"/>
                      </a:pPr>
                      <a:r>
                        <a:rPr lang="ru-RU" sz="2800" b="1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Компьютерный эксперимент.</a:t>
                      </a:r>
                      <a:endParaRPr lang="ru-RU" sz="28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342900" indent="-342900">
                        <a:buFont typeface="+mj-lt"/>
                        <a:buAutoNum type="arabicPeriod"/>
                      </a:pPr>
                      <a:r>
                        <a:rPr lang="ru-RU" sz="2800" b="1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Анализ результатов моделирования.</a:t>
                      </a:r>
                    </a:p>
                    <a:p>
                      <a:pPr marL="342900" indent="-342900">
                        <a:buFont typeface="+mj-lt"/>
                        <a:buNone/>
                      </a:pPr>
                      <a:endParaRPr lang="ru-RU" sz="1800" b="1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342900" indent="-342900">
                        <a:buFont typeface="+mj-lt"/>
                        <a:buNone/>
                      </a:pPr>
                      <a:r>
                        <a:rPr lang="ru-RU" sz="1800" b="1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Постановка задачи</a:t>
                      </a:r>
                      <a:endParaRPr lang="ru-RU" sz="18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342900" indent="100013">
                        <a:buFont typeface="Wingdings" pitchFamily="2" charset="2"/>
                        <a:buChar char="q"/>
                      </a:pPr>
                      <a:r>
                        <a:rPr lang="ru-RU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Описание задачи</a:t>
                      </a:r>
                    </a:p>
                    <a:p>
                      <a:pPr marL="342900" indent="100013">
                        <a:buFont typeface="Wingdings" pitchFamily="2" charset="2"/>
                        <a:buChar char="q"/>
                      </a:pPr>
                      <a:r>
                        <a:rPr lang="ru-RU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Цель моделирования</a:t>
                      </a:r>
                    </a:p>
                    <a:p>
                      <a:pPr marL="342900" indent="100013">
                        <a:buFont typeface="Wingdings" pitchFamily="2" charset="2"/>
                        <a:buChar char="q"/>
                      </a:pPr>
                      <a:r>
                        <a:rPr lang="ru-RU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Анализ объекта</a:t>
                      </a:r>
                    </a:p>
                    <a:p>
                      <a:pPr marL="342900" indent="-342900" algn="l" defTabSz="914400" rtl="0" eaLnBrk="1" latinLnBrk="0" hangingPunct="1">
                        <a:buFont typeface="+mj-lt"/>
                        <a:buNone/>
                      </a:pPr>
                      <a:r>
                        <a:rPr lang="ru-RU" sz="1800" b="1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Разработка модели</a:t>
                      </a:r>
                    </a:p>
                    <a:p>
                      <a:pPr marL="342900" indent="100013" algn="l" defTabSz="914400" rtl="0" eaLnBrk="1" latinLnBrk="0" hangingPunct="1">
                        <a:buFont typeface="Wingdings" pitchFamily="2" charset="2"/>
                        <a:buChar char="q"/>
                      </a:pPr>
                      <a:r>
                        <a:rPr lang="ru-RU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Теоретическая информационная модель</a:t>
                      </a:r>
                    </a:p>
                    <a:p>
                      <a:pPr marL="342900" indent="100013" algn="l" defTabSz="914400" rtl="0" eaLnBrk="1" latinLnBrk="0" hangingPunct="1">
                        <a:buFont typeface="Wingdings" pitchFamily="2" charset="2"/>
                        <a:buChar char="q"/>
                      </a:pPr>
                      <a:r>
                        <a:rPr lang="ru-RU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Компьютерная модель</a:t>
                      </a:r>
                    </a:p>
                    <a:p>
                      <a:pPr marL="342900" indent="-342900" algn="l" defTabSz="914400" rtl="0" eaLnBrk="1" latinLnBrk="0" hangingPunct="1">
                        <a:buFont typeface="Wingdings" pitchFamily="2" charset="2"/>
                        <a:buNone/>
                      </a:pPr>
                      <a:r>
                        <a:rPr lang="ru-RU" sz="1800" b="1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Компьютерный эксперимент</a:t>
                      </a:r>
                      <a:endParaRPr lang="ru-RU" sz="18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342900" marR="0" lvl="1" indent="100013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Char char="q"/>
                        <a:tabLst/>
                        <a:defRPr/>
                      </a:pPr>
                      <a:r>
                        <a:rPr lang="ru-RU" sz="1800" u="none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План моделирования (</a:t>
                      </a:r>
                      <a:r>
                        <a:rPr lang="ru-RU" sz="1800" i="1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Тестирование</a:t>
                      </a:r>
                      <a:r>
                        <a:rPr lang="ru-RU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)</a:t>
                      </a:r>
                    </a:p>
                    <a:p>
                      <a:pPr marL="342900" marR="0" lvl="1" indent="100013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Char char="q"/>
                        <a:tabLst/>
                        <a:defRPr/>
                      </a:pPr>
                      <a:r>
                        <a:rPr lang="ru-RU" sz="1800" u="none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Технология моделирования</a:t>
                      </a:r>
                    </a:p>
                    <a:p>
                      <a:pPr marL="342900" marR="0" lvl="1" indent="100013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lang="ru-RU" sz="18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Скругленный прямоугольник 5">
            <a:hlinkClick r:id="rId2" action="ppaction://hlinksldjump"/>
          </p:cNvPr>
          <p:cNvSpPr/>
          <p:nvPr/>
        </p:nvSpPr>
        <p:spPr>
          <a:xfrm>
            <a:off x="0" y="5072074"/>
            <a:ext cx="2143140" cy="92867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b="1" dirty="0" smtClean="0"/>
              <a:t>Задания для самостоятельного</a:t>
            </a:r>
            <a:r>
              <a:rPr lang="ru-RU" b="1" u="sng" dirty="0" smtClean="0"/>
              <a:t> </a:t>
            </a:r>
            <a:r>
              <a:rPr lang="ru-RU" b="1" dirty="0" smtClean="0"/>
              <a:t>решения</a:t>
            </a:r>
            <a:endParaRPr lang="ru-RU" b="1" dirty="0"/>
          </a:p>
        </p:txBody>
      </p:sp>
      <p:sp>
        <p:nvSpPr>
          <p:cNvPr id="7" name="Скругленный прямоугольник 6">
            <a:hlinkClick r:id="rId3" action="ppaction://hlinksldjump"/>
          </p:cNvPr>
          <p:cNvSpPr/>
          <p:nvPr/>
        </p:nvSpPr>
        <p:spPr>
          <a:xfrm>
            <a:off x="0" y="3286124"/>
            <a:ext cx="2143140" cy="71438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b="1" dirty="0" smtClean="0"/>
              <a:t>Этапы</a:t>
            </a:r>
            <a:r>
              <a:rPr lang="ru-RU" b="1" u="sng" dirty="0" smtClean="0"/>
              <a:t> </a:t>
            </a:r>
            <a:r>
              <a:rPr lang="ru-RU" b="1" dirty="0" smtClean="0"/>
              <a:t>моделирования</a:t>
            </a:r>
            <a:endParaRPr lang="ru-RU" b="1" dirty="0"/>
          </a:p>
        </p:txBody>
      </p:sp>
      <p:sp>
        <p:nvSpPr>
          <p:cNvPr id="8" name="Скругленный прямоугольник 7">
            <a:hlinkClick r:id="rId4" action="ppaction://hlinksldjump"/>
          </p:cNvPr>
          <p:cNvSpPr/>
          <p:nvPr/>
        </p:nvSpPr>
        <p:spPr>
          <a:xfrm>
            <a:off x="0" y="2357430"/>
            <a:ext cx="2143108" cy="71438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b="1" dirty="0" smtClean="0">
                <a:solidFill>
                  <a:schemeClr val="bg1"/>
                </a:solidFill>
              </a:rPr>
              <a:t>Материальные и информационные модели</a:t>
            </a:r>
            <a:endParaRPr lang="ru-RU" b="1" dirty="0">
              <a:solidFill>
                <a:schemeClr val="bg1"/>
              </a:solidFill>
            </a:endParaRPr>
          </a:p>
        </p:txBody>
      </p:sp>
      <p:sp>
        <p:nvSpPr>
          <p:cNvPr id="9" name="Скругленный прямоугольник 8">
            <a:hlinkClick r:id="rId5" action="ppaction://hlinksldjump"/>
          </p:cNvPr>
          <p:cNvSpPr/>
          <p:nvPr/>
        </p:nvSpPr>
        <p:spPr>
          <a:xfrm>
            <a:off x="0" y="4214818"/>
            <a:ext cx="2143140" cy="71438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b="1" dirty="0" smtClean="0"/>
              <a:t>Структуры  данных</a:t>
            </a:r>
            <a:endParaRPr lang="ru-RU" b="1" dirty="0"/>
          </a:p>
        </p:txBody>
      </p:sp>
      <p:sp>
        <p:nvSpPr>
          <p:cNvPr id="10" name="Скругленный прямоугольник 9">
            <a:hlinkClick r:id="rId6" action="ppaction://hlinksldjump"/>
          </p:cNvPr>
          <p:cNvSpPr/>
          <p:nvPr/>
        </p:nvSpPr>
        <p:spPr>
          <a:xfrm>
            <a:off x="0" y="1428736"/>
            <a:ext cx="2143140" cy="71438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b="1" dirty="0" smtClean="0"/>
              <a:t>Понятие</a:t>
            </a:r>
            <a:r>
              <a:rPr lang="ru-RU" dirty="0" smtClean="0"/>
              <a:t> </a:t>
            </a:r>
            <a:r>
              <a:rPr lang="ru-RU" b="1" dirty="0" smtClean="0"/>
              <a:t>модели</a:t>
            </a:r>
            <a:endParaRPr lang="ru-RU" b="1" dirty="0"/>
          </a:p>
        </p:txBody>
      </p:sp>
      <p:sp>
        <p:nvSpPr>
          <p:cNvPr id="11" name="Скругленный прямоугольник 10">
            <a:hlinkClick r:id="rId7" action="ppaction://hlinksldjump"/>
          </p:cNvPr>
          <p:cNvSpPr/>
          <p:nvPr/>
        </p:nvSpPr>
        <p:spPr>
          <a:xfrm>
            <a:off x="0" y="6143620"/>
            <a:ext cx="2143140" cy="71438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b="1" dirty="0" smtClean="0"/>
              <a:t>Используемые   материалы	</a:t>
            </a:r>
            <a:endParaRPr lang="ru-RU" b="1" dirty="0"/>
          </a:p>
        </p:txBody>
      </p:sp>
    </p:spTree>
  </p:cSld>
  <p:clrMapOvr>
    <a:masterClrMapping/>
  </p:clrMapOvr>
  <p:transition>
    <p:strips dir="rd"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Таблица 4"/>
          <p:cNvGraphicFramePr>
            <a:graphicFrameLocks noGrp="1"/>
          </p:cNvGraphicFramePr>
          <p:nvPr/>
        </p:nvGraphicFramePr>
        <p:xfrm>
          <a:off x="0" y="0"/>
          <a:ext cx="9144000" cy="67151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67108"/>
                <a:gridCol w="6876892"/>
              </a:tblGrid>
              <a:tr h="928670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3600" dirty="0" smtClean="0"/>
                        <a:t>Структура данных</a:t>
                      </a:r>
                      <a:endParaRPr lang="ru-RU" sz="3600" dirty="0"/>
                    </a:p>
                  </a:txBody>
                  <a:tcPr/>
                </a:tc>
              </a:tr>
              <a:tr h="5786478">
                <a:tc>
                  <a:txBody>
                    <a:bodyPr/>
                    <a:lstStyle/>
                    <a:p>
                      <a:endParaRPr lang="ru-RU" u="non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000" i="1" dirty="0" smtClean="0">
                          <a:solidFill>
                            <a:schemeClr val="tx2">
                              <a:lumMod val="75000"/>
                            </a:schemeClr>
                          </a:solidFill>
                        </a:rPr>
                        <a:t>Данные,</a:t>
                      </a:r>
                      <a:r>
                        <a:rPr lang="ru-RU" sz="2000" i="1" baseline="0" dirty="0" smtClean="0">
                          <a:solidFill>
                            <a:schemeClr val="tx2">
                              <a:lumMod val="75000"/>
                            </a:schemeClr>
                          </a:solidFill>
                        </a:rPr>
                        <a:t> используемые в любой информационной модели, всегда структурированы, упорядочены.</a:t>
                      </a:r>
                    </a:p>
                    <a:p>
                      <a:endParaRPr lang="ru-RU" sz="2000" i="1" dirty="0" smtClean="0">
                        <a:solidFill>
                          <a:schemeClr val="tx2">
                            <a:lumMod val="75000"/>
                          </a:schemeClr>
                        </a:solidFill>
                      </a:endParaRPr>
                    </a:p>
                    <a:p>
                      <a:r>
                        <a:rPr lang="ru-RU" sz="2000" i="1" dirty="0" smtClean="0">
                          <a:solidFill>
                            <a:schemeClr val="tx2">
                              <a:lumMod val="75000"/>
                            </a:schemeClr>
                          </a:solidFill>
                        </a:rPr>
                        <a:t>Виды описания структур данных:</a:t>
                      </a:r>
                      <a:endParaRPr lang="ru-RU" sz="2000" i="1" dirty="0">
                        <a:solidFill>
                          <a:schemeClr val="tx2">
                            <a:lumMod val="75000"/>
                          </a:schemeClr>
                        </a:solidFill>
                      </a:endParaRP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Скругленный прямоугольник 5">
            <a:hlinkClick r:id="rId2" action="ppaction://hlinksldjump"/>
          </p:cNvPr>
          <p:cNvSpPr/>
          <p:nvPr/>
        </p:nvSpPr>
        <p:spPr>
          <a:xfrm>
            <a:off x="0" y="4857760"/>
            <a:ext cx="2143140" cy="92867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b="1" dirty="0" smtClean="0"/>
              <a:t>Задания для самостоятельного</a:t>
            </a:r>
            <a:r>
              <a:rPr lang="ru-RU" b="1" u="sng" dirty="0" smtClean="0"/>
              <a:t> </a:t>
            </a:r>
            <a:r>
              <a:rPr lang="ru-RU" b="1" dirty="0" smtClean="0"/>
              <a:t>решения</a:t>
            </a:r>
            <a:endParaRPr lang="ru-RU" b="1" dirty="0"/>
          </a:p>
        </p:txBody>
      </p:sp>
      <p:sp>
        <p:nvSpPr>
          <p:cNvPr id="7" name="Скругленный прямоугольник 6">
            <a:hlinkClick r:id="rId3" action="ppaction://hlinksldjump"/>
          </p:cNvPr>
          <p:cNvSpPr/>
          <p:nvPr/>
        </p:nvSpPr>
        <p:spPr>
          <a:xfrm>
            <a:off x="0" y="3000372"/>
            <a:ext cx="2143140" cy="71438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b="1" dirty="0" smtClean="0"/>
              <a:t>Этапы</a:t>
            </a:r>
            <a:r>
              <a:rPr lang="ru-RU" b="1" u="sng" dirty="0" smtClean="0"/>
              <a:t> </a:t>
            </a:r>
            <a:r>
              <a:rPr lang="ru-RU" b="1" dirty="0" smtClean="0"/>
              <a:t>моделирования</a:t>
            </a:r>
            <a:endParaRPr lang="ru-RU" b="1" dirty="0"/>
          </a:p>
        </p:txBody>
      </p:sp>
      <p:sp>
        <p:nvSpPr>
          <p:cNvPr id="8" name="Скругленный прямоугольник 7">
            <a:hlinkClick r:id="rId4" action="ppaction://hlinksldjump"/>
          </p:cNvPr>
          <p:cNvSpPr/>
          <p:nvPr/>
        </p:nvSpPr>
        <p:spPr>
          <a:xfrm>
            <a:off x="0" y="2071678"/>
            <a:ext cx="2143108" cy="71438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b="1" dirty="0" smtClean="0">
                <a:solidFill>
                  <a:schemeClr val="bg1"/>
                </a:solidFill>
              </a:rPr>
              <a:t>Материальные и информационные модели</a:t>
            </a:r>
            <a:endParaRPr lang="ru-RU" b="1" dirty="0">
              <a:solidFill>
                <a:schemeClr val="bg1"/>
              </a:solidFill>
            </a:endParaRPr>
          </a:p>
        </p:txBody>
      </p:sp>
      <p:sp>
        <p:nvSpPr>
          <p:cNvPr id="9" name="Скругленный прямоугольник 8"/>
          <p:cNvSpPr/>
          <p:nvPr/>
        </p:nvSpPr>
        <p:spPr>
          <a:xfrm>
            <a:off x="0" y="3929066"/>
            <a:ext cx="2143140" cy="71438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b="1" dirty="0" smtClean="0"/>
              <a:t>Структуры  данных</a:t>
            </a:r>
            <a:endParaRPr lang="ru-RU" b="1" dirty="0"/>
          </a:p>
        </p:txBody>
      </p:sp>
      <p:sp>
        <p:nvSpPr>
          <p:cNvPr id="10" name="Скругленный прямоугольник 9">
            <a:hlinkClick r:id="rId5" action="ppaction://hlinksldjump"/>
          </p:cNvPr>
          <p:cNvSpPr/>
          <p:nvPr/>
        </p:nvSpPr>
        <p:spPr>
          <a:xfrm>
            <a:off x="0" y="1142984"/>
            <a:ext cx="2143140" cy="71438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b="1" dirty="0" smtClean="0"/>
              <a:t>Понятие</a:t>
            </a:r>
            <a:r>
              <a:rPr lang="ru-RU" dirty="0" smtClean="0"/>
              <a:t> </a:t>
            </a:r>
            <a:r>
              <a:rPr lang="ru-RU" b="1" dirty="0" smtClean="0"/>
              <a:t>модели</a:t>
            </a:r>
            <a:endParaRPr lang="ru-RU" b="1" dirty="0"/>
          </a:p>
        </p:txBody>
      </p:sp>
      <p:sp>
        <p:nvSpPr>
          <p:cNvPr id="11" name="Скругленный прямоугольник 10">
            <a:hlinkClick r:id="rId6" action="ppaction://hlinksldjump"/>
          </p:cNvPr>
          <p:cNvSpPr/>
          <p:nvPr/>
        </p:nvSpPr>
        <p:spPr>
          <a:xfrm>
            <a:off x="3143240" y="2428868"/>
            <a:ext cx="1428760" cy="57150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графы</a:t>
            </a:r>
            <a:endParaRPr lang="ru-RU" dirty="0"/>
          </a:p>
        </p:txBody>
      </p:sp>
      <p:sp>
        <p:nvSpPr>
          <p:cNvPr id="12" name="Скругленный прямоугольник 11">
            <a:hlinkClick r:id="rId7" action="ppaction://hlinksldjump"/>
          </p:cNvPr>
          <p:cNvSpPr/>
          <p:nvPr/>
        </p:nvSpPr>
        <p:spPr>
          <a:xfrm>
            <a:off x="5357818" y="2428868"/>
            <a:ext cx="1500198" cy="57150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деревья</a:t>
            </a:r>
            <a:endParaRPr lang="ru-RU" dirty="0"/>
          </a:p>
        </p:txBody>
      </p:sp>
      <p:sp>
        <p:nvSpPr>
          <p:cNvPr id="13" name="Скругленный прямоугольник 12">
            <a:hlinkClick r:id="rId8" action="ppaction://hlinksldjump"/>
          </p:cNvPr>
          <p:cNvSpPr/>
          <p:nvPr/>
        </p:nvSpPr>
        <p:spPr>
          <a:xfrm>
            <a:off x="7572396" y="2428868"/>
            <a:ext cx="1285884" cy="571504"/>
          </a:xfrm>
          <a:prstGeom prst="roundRect">
            <a:avLst>
              <a:gd name="adj" fmla="val 1909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таблицы</a:t>
            </a:r>
            <a:endParaRPr lang="ru-RU" dirty="0"/>
          </a:p>
        </p:txBody>
      </p:sp>
      <p:grpSp>
        <p:nvGrpSpPr>
          <p:cNvPr id="26" name="Группа 25"/>
          <p:cNvGrpSpPr/>
          <p:nvPr/>
        </p:nvGrpSpPr>
        <p:grpSpPr>
          <a:xfrm>
            <a:off x="2285984" y="3857628"/>
            <a:ext cx="2714644" cy="1500198"/>
            <a:chOff x="2786050" y="714356"/>
            <a:chExt cx="2714644" cy="1500198"/>
          </a:xfrm>
        </p:grpSpPr>
        <p:sp>
          <p:nvSpPr>
            <p:cNvPr id="27" name="Овал 26"/>
            <p:cNvSpPr/>
            <p:nvPr/>
          </p:nvSpPr>
          <p:spPr>
            <a:xfrm>
              <a:off x="3500430" y="785794"/>
              <a:ext cx="428628" cy="35719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ru-RU" b="1" dirty="0" smtClean="0"/>
                <a:t>Д</a:t>
              </a:r>
              <a:endParaRPr lang="ru-RU" b="1" dirty="0"/>
            </a:p>
          </p:txBody>
        </p:sp>
        <p:sp>
          <p:nvSpPr>
            <p:cNvPr id="28" name="Овал 27"/>
            <p:cNvSpPr/>
            <p:nvPr/>
          </p:nvSpPr>
          <p:spPr>
            <a:xfrm>
              <a:off x="2786050" y="1857364"/>
              <a:ext cx="428628" cy="35719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ru-RU" b="1" dirty="0" smtClean="0"/>
                <a:t>Р</a:t>
              </a:r>
              <a:endParaRPr lang="ru-RU" b="1" dirty="0"/>
            </a:p>
          </p:txBody>
        </p:sp>
        <p:sp>
          <p:nvSpPr>
            <p:cNvPr id="29" name="Овал 28"/>
            <p:cNvSpPr/>
            <p:nvPr/>
          </p:nvSpPr>
          <p:spPr>
            <a:xfrm>
              <a:off x="4143372" y="1571612"/>
              <a:ext cx="428628" cy="35719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ru-RU" b="1" dirty="0" smtClean="0"/>
                <a:t>К</a:t>
              </a:r>
              <a:endParaRPr lang="ru-RU" b="1" dirty="0"/>
            </a:p>
          </p:txBody>
        </p:sp>
        <p:sp>
          <p:nvSpPr>
            <p:cNvPr id="30" name="Овал 29"/>
            <p:cNvSpPr/>
            <p:nvPr/>
          </p:nvSpPr>
          <p:spPr>
            <a:xfrm>
              <a:off x="5072066" y="1714488"/>
              <a:ext cx="428628" cy="35719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ru-RU" b="1" dirty="0" smtClean="0"/>
                <a:t>М</a:t>
              </a:r>
              <a:endParaRPr lang="ru-RU" b="1" dirty="0"/>
            </a:p>
          </p:txBody>
        </p:sp>
        <p:sp>
          <p:nvSpPr>
            <p:cNvPr id="31" name="Овал 30"/>
            <p:cNvSpPr/>
            <p:nvPr/>
          </p:nvSpPr>
          <p:spPr>
            <a:xfrm>
              <a:off x="4572000" y="714356"/>
              <a:ext cx="428628" cy="35719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ru-RU" b="1" dirty="0" smtClean="0"/>
                <a:t>Б</a:t>
              </a:r>
              <a:endParaRPr lang="ru-RU" b="1" dirty="0"/>
            </a:p>
          </p:txBody>
        </p:sp>
        <p:cxnSp>
          <p:nvCxnSpPr>
            <p:cNvPr id="32" name="Прямая соединительная линия 31"/>
            <p:cNvCxnSpPr>
              <a:stCxn id="27" idx="6"/>
              <a:endCxn id="31" idx="2"/>
            </p:cNvCxnSpPr>
            <p:nvPr/>
          </p:nvCxnSpPr>
          <p:spPr>
            <a:xfrm flipV="1">
              <a:off x="3929058" y="892951"/>
              <a:ext cx="642942" cy="71438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Прямая соединительная линия 32"/>
            <p:cNvCxnSpPr>
              <a:endCxn id="29" idx="2"/>
            </p:cNvCxnSpPr>
            <p:nvPr/>
          </p:nvCxnSpPr>
          <p:spPr>
            <a:xfrm flipV="1">
              <a:off x="3214678" y="1750207"/>
              <a:ext cx="928694" cy="250033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Прямая соединительная линия 33"/>
            <p:cNvCxnSpPr>
              <a:stCxn id="27" idx="4"/>
              <a:endCxn id="29" idx="0"/>
            </p:cNvCxnSpPr>
            <p:nvPr/>
          </p:nvCxnSpPr>
          <p:spPr>
            <a:xfrm rot="16200000" flipH="1">
              <a:off x="3821901" y="1035827"/>
              <a:ext cx="428628" cy="642942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Прямая соединительная линия 34"/>
            <p:cNvCxnSpPr>
              <a:stCxn id="29" idx="7"/>
              <a:endCxn id="31" idx="4"/>
            </p:cNvCxnSpPr>
            <p:nvPr/>
          </p:nvCxnSpPr>
          <p:spPr>
            <a:xfrm rot="5400000" flipH="1" flipV="1">
              <a:off x="4371584" y="1209192"/>
              <a:ext cx="552375" cy="277085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Прямая соединительная линия 35"/>
            <p:cNvCxnSpPr>
              <a:stCxn id="30" idx="0"/>
            </p:cNvCxnSpPr>
            <p:nvPr/>
          </p:nvCxnSpPr>
          <p:spPr>
            <a:xfrm rot="16200000" flipV="1">
              <a:off x="4750595" y="1178703"/>
              <a:ext cx="642942" cy="428628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37" name="Схема 36"/>
          <p:cNvGraphicFramePr/>
          <p:nvPr/>
        </p:nvGraphicFramePr>
        <p:xfrm>
          <a:off x="5357818" y="3143248"/>
          <a:ext cx="3286148" cy="221457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9" r:lo="rId10" r:qs="rId11" r:cs="rId12"/>
          </a:graphicData>
        </a:graphic>
      </p:graphicFrame>
      <p:sp>
        <p:nvSpPr>
          <p:cNvPr id="23" name="Скругленный прямоугольник 22">
            <a:hlinkClick r:id="rId13" action="ppaction://hlinksldjump"/>
          </p:cNvPr>
          <p:cNvSpPr/>
          <p:nvPr/>
        </p:nvSpPr>
        <p:spPr>
          <a:xfrm>
            <a:off x="0" y="5929330"/>
            <a:ext cx="2143140" cy="71438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b="1" dirty="0" smtClean="0"/>
              <a:t>Используемые   материалы	</a:t>
            </a:r>
            <a:endParaRPr lang="ru-RU" b="1" dirty="0"/>
          </a:p>
        </p:txBody>
      </p:sp>
    </p:spTree>
  </p:cSld>
  <p:clrMapOvr>
    <a:masterClrMapping/>
  </p:clrMapOvr>
  <p:transition>
    <p:strips dir="rd"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Таблица 4"/>
          <p:cNvGraphicFramePr>
            <a:graphicFrameLocks noGrp="1"/>
          </p:cNvGraphicFramePr>
          <p:nvPr/>
        </p:nvGraphicFramePr>
        <p:xfrm>
          <a:off x="0" y="0"/>
          <a:ext cx="9144000" cy="71646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67108"/>
                <a:gridCol w="6876892"/>
              </a:tblGrid>
              <a:tr h="1500174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3600" b="1" dirty="0" smtClean="0"/>
                        <a:t>Задания для самостоятельного</a:t>
                      </a:r>
                      <a:r>
                        <a:rPr lang="ru-RU" sz="3600" b="1" u="sng" dirty="0" smtClean="0"/>
                        <a:t> </a:t>
                      </a:r>
                      <a:r>
                        <a:rPr lang="ru-RU" sz="3600" b="1" dirty="0" smtClean="0"/>
                        <a:t>решения</a:t>
                      </a:r>
                    </a:p>
                    <a:p>
                      <a:pPr algn="ctr"/>
                      <a:endParaRPr lang="ru-RU" sz="3600" dirty="0"/>
                    </a:p>
                  </a:txBody>
                  <a:tcPr/>
                </a:tc>
              </a:tr>
              <a:tr h="5427279">
                <a:tc>
                  <a:txBody>
                    <a:bodyPr/>
                    <a:lstStyle/>
                    <a:p>
                      <a:endParaRPr lang="ru-RU" u="non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Скругленный прямоугольник 5">
            <a:hlinkClick r:id="rId2" action="ppaction://hlinksldjump"/>
          </p:cNvPr>
          <p:cNvSpPr/>
          <p:nvPr/>
        </p:nvSpPr>
        <p:spPr>
          <a:xfrm>
            <a:off x="0" y="5214950"/>
            <a:ext cx="2143140" cy="92867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b="1" dirty="0" smtClean="0"/>
              <a:t>Задания для самостоятельного</a:t>
            </a:r>
            <a:r>
              <a:rPr lang="ru-RU" b="1" u="sng" dirty="0" smtClean="0"/>
              <a:t> </a:t>
            </a:r>
            <a:r>
              <a:rPr lang="ru-RU" b="1" dirty="0" smtClean="0"/>
              <a:t>решения</a:t>
            </a:r>
            <a:endParaRPr lang="ru-RU" b="1" dirty="0"/>
          </a:p>
        </p:txBody>
      </p:sp>
      <p:sp>
        <p:nvSpPr>
          <p:cNvPr id="7" name="Скругленный прямоугольник 6">
            <a:hlinkClick r:id="rId3" action="ppaction://hlinksldjump"/>
          </p:cNvPr>
          <p:cNvSpPr/>
          <p:nvPr/>
        </p:nvSpPr>
        <p:spPr>
          <a:xfrm>
            <a:off x="0" y="3571876"/>
            <a:ext cx="2143140" cy="71438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b="1" dirty="0" smtClean="0"/>
              <a:t>Этапы</a:t>
            </a:r>
            <a:r>
              <a:rPr lang="ru-RU" b="1" u="sng" dirty="0" smtClean="0"/>
              <a:t> </a:t>
            </a:r>
            <a:r>
              <a:rPr lang="ru-RU" b="1" dirty="0" smtClean="0"/>
              <a:t>моделирования</a:t>
            </a:r>
            <a:endParaRPr lang="ru-RU" b="1" dirty="0"/>
          </a:p>
        </p:txBody>
      </p:sp>
      <p:sp>
        <p:nvSpPr>
          <p:cNvPr id="8" name="Скругленный прямоугольник 7">
            <a:hlinkClick r:id="rId4" action="ppaction://hlinksldjump"/>
          </p:cNvPr>
          <p:cNvSpPr/>
          <p:nvPr/>
        </p:nvSpPr>
        <p:spPr>
          <a:xfrm>
            <a:off x="0" y="2714620"/>
            <a:ext cx="2143108" cy="71438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b="1" dirty="0" smtClean="0">
                <a:solidFill>
                  <a:schemeClr val="bg1"/>
                </a:solidFill>
              </a:rPr>
              <a:t>Материальные и информационные модели</a:t>
            </a:r>
            <a:endParaRPr lang="ru-RU" b="1" dirty="0">
              <a:solidFill>
                <a:schemeClr val="bg1"/>
              </a:solidFill>
            </a:endParaRPr>
          </a:p>
        </p:txBody>
      </p:sp>
      <p:sp>
        <p:nvSpPr>
          <p:cNvPr id="9" name="Скругленный прямоугольник 8">
            <a:hlinkClick r:id="rId5" action="ppaction://hlinksldjump"/>
          </p:cNvPr>
          <p:cNvSpPr/>
          <p:nvPr/>
        </p:nvSpPr>
        <p:spPr>
          <a:xfrm>
            <a:off x="0" y="4357694"/>
            <a:ext cx="2143140" cy="71438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b="1" dirty="0" smtClean="0"/>
              <a:t>Структуры  данных</a:t>
            </a:r>
            <a:endParaRPr lang="ru-RU" b="1" dirty="0"/>
          </a:p>
        </p:txBody>
      </p:sp>
      <p:sp>
        <p:nvSpPr>
          <p:cNvPr id="10" name="Скругленный прямоугольник 9">
            <a:hlinkClick r:id="rId6" action="ppaction://hlinksldjump"/>
          </p:cNvPr>
          <p:cNvSpPr/>
          <p:nvPr/>
        </p:nvSpPr>
        <p:spPr>
          <a:xfrm>
            <a:off x="0" y="1857364"/>
            <a:ext cx="2143140" cy="71438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b="1" dirty="0" smtClean="0"/>
              <a:t>Понятие</a:t>
            </a:r>
            <a:r>
              <a:rPr lang="ru-RU" dirty="0" smtClean="0"/>
              <a:t> </a:t>
            </a:r>
            <a:r>
              <a:rPr lang="ru-RU" b="1" dirty="0" smtClean="0"/>
              <a:t>модели</a:t>
            </a:r>
            <a:endParaRPr lang="ru-RU" b="1" dirty="0"/>
          </a:p>
        </p:txBody>
      </p:sp>
      <p:sp>
        <p:nvSpPr>
          <p:cNvPr id="11" name="Скругленный прямоугольник 10">
            <a:hlinkClick r:id="rId7" action="ppaction://hlinksldjump"/>
          </p:cNvPr>
          <p:cNvSpPr/>
          <p:nvPr/>
        </p:nvSpPr>
        <p:spPr>
          <a:xfrm>
            <a:off x="4500562" y="2571744"/>
            <a:ext cx="1428760" cy="57150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графы</a:t>
            </a:r>
            <a:endParaRPr lang="ru-RU" dirty="0"/>
          </a:p>
        </p:txBody>
      </p:sp>
      <p:sp>
        <p:nvSpPr>
          <p:cNvPr id="12" name="Скругленный прямоугольник 11">
            <a:hlinkClick r:id="rId8" action="ppaction://hlinksldjump"/>
          </p:cNvPr>
          <p:cNvSpPr/>
          <p:nvPr/>
        </p:nvSpPr>
        <p:spPr>
          <a:xfrm>
            <a:off x="4500562" y="3786190"/>
            <a:ext cx="1500198" cy="57150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деревья</a:t>
            </a:r>
            <a:endParaRPr lang="ru-RU" dirty="0"/>
          </a:p>
        </p:txBody>
      </p:sp>
      <p:sp>
        <p:nvSpPr>
          <p:cNvPr id="13" name="Скругленный прямоугольник 12">
            <a:hlinkClick r:id="rId9" action="ppaction://hlinksldjump"/>
          </p:cNvPr>
          <p:cNvSpPr/>
          <p:nvPr/>
        </p:nvSpPr>
        <p:spPr>
          <a:xfrm>
            <a:off x="4572000" y="5143512"/>
            <a:ext cx="1428760" cy="571504"/>
          </a:xfrm>
          <a:prstGeom prst="roundRect">
            <a:avLst>
              <a:gd name="adj" fmla="val 1909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таблицы</a:t>
            </a:r>
            <a:endParaRPr lang="ru-RU" dirty="0"/>
          </a:p>
        </p:txBody>
      </p:sp>
      <p:sp>
        <p:nvSpPr>
          <p:cNvPr id="14" name="Скругленный прямоугольник 13">
            <a:hlinkClick r:id="rId10" action="ppaction://hlinksldjump"/>
          </p:cNvPr>
          <p:cNvSpPr/>
          <p:nvPr/>
        </p:nvSpPr>
        <p:spPr>
          <a:xfrm>
            <a:off x="0" y="6286520"/>
            <a:ext cx="2143140" cy="71438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b="1" dirty="0" smtClean="0"/>
              <a:t>Используемые   материалы	</a:t>
            </a:r>
            <a:endParaRPr lang="ru-RU" b="1" dirty="0"/>
          </a:p>
        </p:txBody>
      </p:sp>
    </p:spTree>
  </p:cSld>
  <p:clrMapOvr>
    <a:masterClrMapping/>
  </p:clrMapOvr>
  <p:transition>
    <p:strips dir="rd"/>
  </p:transition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Группа 1"/>
          <p:cNvGrpSpPr/>
          <p:nvPr/>
        </p:nvGrpSpPr>
        <p:grpSpPr>
          <a:xfrm>
            <a:off x="5000628" y="1928802"/>
            <a:ext cx="2714644" cy="1500198"/>
            <a:chOff x="2786050" y="714356"/>
            <a:chExt cx="2714644" cy="1500198"/>
          </a:xfrm>
        </p:grpSpPr>
        <p:sp>
          <p:nvSpPr>
            <p:cNvPr id="3" name="Овал 2"/>
            <p:cNvSpPr/>
            <p:nvPr/>
          </p:nvSpPr>
          <p:spPr>
            <a:xfrm>
              <a:off x="3500430" y="785794"/>
              <a:ext cx="428628" cy="357190"/>
            </a:xfrm>
            <a:prstGeom prst="ellipse">
              <a:avLst/>
            </a:prstGeom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ru-RU" b="1" dirty="0" smtClean="0"/>
                <a:t>Д</a:t>
              </a:r>
              <a:endParaRPr lang="ru-RU" b="1" dirty="0"/>
            </a:p>
          </p:txBody>
        </p:sp>
        <p:sp>
          <p:nvSpPr>
            <p:cNvPr id="4" name="Овал 3"/>
            <p:cNvSpPr/>
            <p:nvPr/>
          </p:nvSpPr>
          <p:spPr>
            <a:xfrm>
              <a:off x="2786050" y="1857364"/>
              <a:ext cx="428628" cy="357190"/>
            </a:xfrm>
            <a:prstGeom prst="ellipse">
              <a:avLst/>
            </a:prstGeom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ru-RU" b="1" dirty="0" smtClean="0"/>
                <a:t>Р</a:t>
              </a:r>
              <a:endParaRPr lang="ru-RU" b="1" dirty="0"/>
            </a:p>
          </p:txBody>
        </p:sp>
        <p:sp>
          <p:nvSpPr>
            <p:cNvPr id="5" name="Овал 4"/>
            <p:cNvSpPr/>
            <p:nvPr/>
          </p:nvSpPr>
          <p:spPr>
            <a:xfrm>
              <a:off x="4143372" y="1571612"/>
              <a:ext cx="428628" cy="357190"/>
            </a:xfrm>
            <a:prstGeom prst="ellipse">
              <a:avLst/>
            </a:prstGeom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ru-RU" b="1" dirty="0" smtClean="0"/>
                <a:t>К</a:t>
              </a:r>
              <a:endParaRPr lang="ru-RU" b="1" dirty="0"/>
            </a:p>
          </p:txBody>
        </p:sp>
        <p:sp>
          <p:nvSpPr>
            <p:cNvPr id="6" name="Овал 5"/>
            <p:cNvSpPr/>
            <p:nvPr/>
          </p:nvSpPr>
          <p:spPr>
            <a:xfrm>
              <a:off x="5072066" y="1714488"/>
              <a:ext cx="428628" cy="357190"/>
            </a:xfrm>
            <a:prstGeom prst="ellipse">
              <a:avLst/>
            </a:prstGeom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ru-RU" b="1" dirty="0" smtClean="0"/>
                <a:t>М</a:t>
              </a:r>
              <a:endParaRPr lang="ru-RU" b="1" dirty="0"/>
            </a:p>
          </p:txBody>
        </p:sp>
        <p:sp>
          <p:nvSpPr>
            <p:cNvPr id="7" name="Овал 6"/>
            <p:cNvSpPr/>
            <p:nvPr/>
          </p:nvSpPr>
          <p:spPr>
            <a:xfrm>
              <a:off x="4572000" y="714356"/>
              <a:ext cx="428628" cy="357190"/>
            </a:xfrm>
            <a:prstGeom prst="ellipse">
              <a:avLst/>
            </a:prstGeom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ru-RU" b="1" dirty="0" smtClean="0"/>
                <a:t>Б</a:t>
              </a:r>
              <a:endParaRPr lang="ru-RU" b="1" dirty="0"/>
            </a:p>
          </p:txBody>
        </p:sp>
        <p:cxnSp>
          <p:nvCxnSpPr>
            <p:cNvPr id="8" name="Прямая соединительная линия 7"/>
            <p:cNvCxnSpPr>
              <a:stCxn id="3" idx="6"/>
              <a:endCxn id="7" idx="2"/>
            </p:cNvCxnSpPr>
            <p:nvPr/>
          </p:nvCxnSpPr>
          <p:spPr>
            <a:xfrm flipV="1">
              <a:off x="3929058" y="892951"/>
              <a:ext cx="642942" cy="71438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Прямая соединительная линия 8"/>
            <p:cNvCxnSpPr>
              <a:endCxn id="5" idx="2"/>
            </p:cNvCxnSpPr>
            <p:nvPr/>
          </p:nvCxnSpPr>
          <p:spPr>
            <a:xfrm flipV="1">
              <a:off x="3214678" y="1750207"/>
              <a:ext cx="928694" cy="250033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Прямая соединительная линия 9"/>
            <p:cNvCxnSpPr>
              <a:stCxn id="3" idx="4"/>
              <a:endCxn id="5" idx="0"/>
            </p:cNvCxnSpPr>
            <p:nvPr/>
          </p:nvCxnSpPr>
          <p:spPr>
            <a:xfrm rot="16200000" flipH="1">
              <a:off x="3821901" y="1035827"/>
              <a:ext cx="428628" cy="642942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Прямая соединительная линия 10"/>
            <p:cNvCxnSpPr>
              <a:stCxn id="5" idx="7"/>
              <a:endCxn id="7" idx="4"/>
            </p:cNvCxnSpPr>
            <p:nvPr/>
          </p:nvCxnSpPr>
          <p:spPr>
            <a:xfrm rot="5400000" flipH="1" flipV="1">
              <a:off x="4371584" y="1209192"/>
              <a:ext cx="552375" cy="277085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Прямая соединительная линия 11"/>
            <p:cNvCxnSpPr>
              <a:stCxn id="6" idx="0"/>
            </p:cNvCxnSpPr>
            <p:nvPr/>
          </p:nvCxnSpPr>
          <p:spPr>
            <a:xfrm rot="16200000" flipV="1">
              <a:off x="4750595" y="1178703"/>
              <a:ext cx="642942" cy="428628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3" name="TextBox 12"/>
          <p:cNvSpPr txBox="1"/>
          <p:nvPr/>
        </p:nvSpPr>
        <p:spPr>
          <a:xfrm>
            <a:off x="2857488" y="357166"/>
            <a:ext cx="307183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4000" b="1" dirty="0" smtClean="0">
                <a:solidFill>
                  <a:schemeClr val="bg1"/>
                </a:solidFill>
              </a:rPr>
              <a:t>Графы</a:t>
            </a:r>
            <a:endParaRPr lang="ru-RU" sz="4000" b="1" dirty="0">
              <a:solidFill>
                <a:schemeClr val="bg1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357158" y="2000240"/>
            <a:ext cx="3143272" cy="1477328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ru-RU" dirty="0" smtClean="0">
                <a:solidFill>
                  <a:schemeClr val="bg1"/>
                </a:solidFill>
              </a:rPr>
              <a:t> Пример</a:t>
            </a:r>
            <a:r>
              <a:rPr lang="en-US" dirty="0" smtClean="0">
                <a:solidFill>
                  <a:schemeClr val="bg1"/>
                </a:solidFill>
              </a:rPr>
              <a:t> 1</a:t>
            </a:r>
            <a:r>
              <a:rPr lang="ru-RU" dirty="0" smtClean="0">
                <a:solidFill>
                  <a:schemeClr val="bg1"/>
                </a:solidFill>
              </a:rPr>
              <a:t>,  район состоит из пяти посёлков: Д,Б,Р,К, М. Автомобильные дороги проложены между: Д и Б, Д и К, Б и К, Б и М, Р и К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5214942" y="3571876"/>
            <a:ext cx="32147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i="1" dirty="0" smtClean="0">
                <a:solidFill>
                  <a:schemeClr val="bg1"/>
                </a:solidFill>
              </a:rPr>
              <a:t>Неориентированный граф</a:t>
            </a:r>
            <a:endParaRPr lang="ru-RU" b="1" i="1" dirty="0">
              <a:solidFill>
                <a:schemeClr val="bg1"/>
              </a:solidFill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357158" y="928670"/>
            <a:ext cx="828680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b="1" i="1" dirty="0" smtClean="0">
                <a:solidFill>
                  <a:schemeClr val="bg1"/>
                </a:solidFill>
              </a:rPr>
              <a:t>Граф отображает элементный состав системы и структуру связи.</a:t>
            </a:r>
            <a:endParaRPr lang="ru-RU" sz="2000" b="1" i="1" dirty="0">
              <a:solidFill>
                <a:schemeClr val="bg1"/>
              </a:solidFill>
            </a:endParaRPr>
          </a:p>
        </p:txBody>
      </p:sp>
      <p:grpSp>
        <p:nvGrpSpPr>
          <p:cNvPr id="18" name="Группа 17"/>
          <p:cNvGrpSpPr/>
          <p:nvPr/>
        </p:nvGrpSpPr>
        <p:grpSpPr>
          <a:xfrm>
            <a:off x="4857752" y="4357694"/>
            <a:ext cx="2357454" cy="1500198"/>
            <a:chOff x="3286116" y="642918"/>
            <a:chExt cx="2357454" cy="1500198"/>
          </a:xfrm>
        </p:grpSpPr>
        <p:sp>
          <p:nvSpPr>
            <p:cNvPr id="19" name="Овал 18"/>
            <p:cNvSpPr/>
            <p:nvPr/>
          </p:nvSpPr>
          <p:spPr>
            <a:xfrm>
              <a:off x="3286116" y="642918"/>
              <a:ext cx="571504" cy="500066"/>
            </a:xfrm>
            <a:prstGeom prst="ellipse">
              <a:avLst/>
            </a:prstGeom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 smtClean="0"/>
                <a:t>I</a:t>
              </a:r>
              <a:endParaRPr lang="ru-RU" b="1" dirty="0"/>
            </a:p>
          </p:txBody>
        </p:sp>
        <p:sp>
          <p:nvSpPr>
            <p:cNvPr id="21" name="Овал 20"/>
            <p:cNvSpPr/>
            <p:nvPr/>
          </p:nvSpPr>
          <p:spPr>
            <a:xfrm>
              <a:off x="3500430" y="1571612"/>
              <a:ext cx="571504" cy="500066"/>
            </a:xfrm>
            <a:prstGeom prst="ellipse">
              <a:avLst/>
            </a:prstGeom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 smtClean="0"/>
                <a:t>III</a:t>
              </a:r>
              <a:endParaRPr lang="ru-RU" b="1" dirty="0"/>
            </a:p>
          </p:txBody>
        </p:sp>
        <p:sp>
          <p:nvSpPr>
            <p:cNvPr id="22" name="Овал 21"/>
            <p:cNvSpPr/>
            <p:nvPr/>
          </p:nvSpPr>
          <p:spPr>
            <a:xfrm>
              <a:off x="5072066" y="1714488"/>
              <a:ext cx="571504" cy="428628"/>
            </a:xfrm>
            <a:prstGeom prst="ellipse">
              <a:avLst/>
            </a:prstGeom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 smtClean="0"/>
                <a:t>IV</a:t>
              </a:r>
              <a:endParaRPr lang="ru-RU" b="1" dirty="0"/>
            </a:p>
          </p:txBody>
        </p:sp>
        <p:sp>
          <p:nvSpPr>
            <p:cNvPr id="23" name="Овал 22"/>
            <p:cNvSpPr/>
            <p:nvPr/>
          </p:nvSpPr>
          <p:spPr>
            <a:xfrm>
              <a:off x="4572000" y="714356"/>
              <a:ext cx="500066" cy="428628"/>
            </a:xfrm>
            <a:prstGeom prst="ellipse">
              <a:avLst/>
            </a:prstGeom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 smtClean="0"/>
                <a:t>II</a:t>
              </a:r>
              <a:endParaRPr lang="ru-RU" b="1" dirty="0"/>
            </a:p>
          </p:txBody>
        </p:sp>
        <p:cxnSp>
          <p:nvCxnSpPr>
            <p:cNvPr id="24" name="Прямая соединительная линия 23"/>
            <p:cNvCxnSpPr>
              <a:stCxn id="19" idx="6"/>
              <a:endCxn id="23" idx="2"/>
            </p:cNvCxnSpPr>
            <p:nvPr/>
          </p:nvCxnSpPr>
          <p:spPr>
            <a:xfrm>
              <a:off x="3857620" y="892951"/>
              <a:ext cx="714380" cy="35719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Прямая соединительная линия 27"/>
            <p:cNvCxnSpPr>
              <a:stCxn id="22" idx="0"/>
            </p:cNvCxnSpPr>
            <p:nvPr/>
          </p:nvCxnSpPr>
          <p:spPr>
            <a:xfrm rot="16200000" flipV="1">
              <a:off x="4786314" y="1142984"/>
              <a:ext cx="642942" cy="500066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30" name="Прямая со стрелкой 29"/>
          <p:cNvCxnSpPr>
            <a:stCxn id="19" idx="6"/>
            <a:endCxn id="23" idx="2"/>
          </p:cNvCxnSpPr>
          <p:nvPr/>
        </p:nvCxnSpPr>
        <p:spPr>
          <a:xfrm>
            <a:off x="5429256" y="4607727"/>
            <a:ext cx="714380" cy="35719"/>
          </a:xfrm>
          <a:prstGeom prst="straightConnector1">
            <a:avLst/>
          </a:prstGeom>
          <a:ln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Прямая со стрелкой 30"/>
          <p:cNvCxnSpPr>
            <a:endCxn id="22" idx="0"/>
          </p:cNvCxnSpPr>
          <p:nvPr/>
        </p:nvCxnSpPr>
        <p:spPr>
          <a:xfrm rot="16200000" flipH="1">
            <a:off x="6286512" y="4786322"/>
            <a:ext cx="714380" cy="571504"/>
          </a:xfrm>
          <a:prstGeom prst="straightConnector1">
            <a:avLst/>
          </a:prstGeom>
          <a:ln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Прямая со стрелкой 32"/>
          <p:cNvCxnSpPr>
            <a:stCxn id="19" idx="5"/>
            <a:endCxn id="21" idx="0"/>
          </p:cNvCxnSpPr>
          <p:nvPr/>
        </p:nvCxnSpPr>
        <p:spPr>
          <a:xfrm rot="16200000" flipH="1">
            <a:off x="5100759" y="5029328"/>
            <a:ext cx="501861" cy="12257"/>
          </a:xfrm>
          <a:prstGeom prst="straightConnector1">
            <a:avLst/>
          </a:prstGeom>
          <a:ln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Прямая со стрелкой 35"/>
          <p:cNvCxnSpPr>
            <a:stCxn id="21" idx="6"/>
            <a:endCxn id="22" idx="2"/>
          </p:cNvCxnSpPr>
          <p:nvPr/>
        </p:nvCxnSpPr>
        <p:spPr>
          <a:xfrm>
            <a:off x="5643570" y="5536421"/>
            <a:ext cx="1000132" cy="107157"/>
          </a:xfrm>
          <a:prstGeom prst="straightConnector1">
            <a:avLst/>
          </a:prstGeom>
          <a:ln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Скругленная соединительная линия 41"/>
          <p:cNvCxnSpPr>
            <a:stCxn id="19" idx="1"/>
            <a:endCxn id="19" idx="0"/>
          </p:cNvCxnSpPr>
          <p:nvPr/>
        </p:nvCxnSpPr>
        <p:spPr>
          <a:xfrm rot="5400000" flipH="1" flipV="1">
            <a:off x="5005859" y="4293283"/>
            <a:ext cx="73233" cy="202057"/>
          </a:xfrm>
          <a:prstGeom prst="curvedConnector3">
            <a:avLst>
              <a:gd name="adj1" fmla="val 412154"/>
            </a:avLst>
          </a:prstGeom>
          <a:ln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Скругленная соединительная линия 48"/>
          <p:cNvCxnSpPr/>
          <p:nvPr/>
        </p:nvCxnSpPr>
        <p:spPr>
          <a:xfrm rot="5400000" flipH="1" flipV="1">
            <a:off x="6550443" y="4308077"/>
            <a:ext cx="52309" cy="151543"/>
          </a:xfrm>
          <a:prstGeom prst="curvedConnector3">
            <a:avLst>
              <a:gd name="adj1" fmla="val 669447"/>
            </a:avLst>
          </a:prstGeom>
          <a:ln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Скругленная соединительная линия 52"/>
          <p:cNvCxnSpPr/>
          <p:nvPr/>
        </p:nvCxnSpPr>
        <p:spPr>
          <a:xfrm rot="5400000" flipH="1">
            <a:off x="5478873" y="5736837"/>
            <a:ext cx="52309" cy="151543"/>
          </a:xfrm>
          <a:prstGeom prst="curvedConnector3">
            <a:avLst>
              <a:gd name="adj1" fmla="val -648908"/>
            </a:avLst>
          </a:prstGeom>
          <a:ln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Скругленная соединительная линия 67"/>
          <p:cNvCxnSpPr/>
          <p:nvPr/>
        </p:nvCxnSpPr>
        <p:spPr>
          <a:xfrm rot="5400000" flipH="1">
            <a:off x="7050509" y="5808275"/>
            <a:ext cx="52309" cy="151543"/>
          </a:xfrm>
          <a:prstGeom prst="curvedConnector3">
            <a:avLst>
              <a:gd name="adj1" fmla="val -437021"/>
            </a:avLst>
          </a:prstGeom>
          <a:ln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3" name="TextBox 72"/>
          <p:cNvSpPr txBox="1"/>
          <p:nvPr/>
        </p:nvSpPr>
        <p:spPr>
          <a:xfrm>
            <a:off x="5072066" y="6286520"/>
            <a:ext cx="28575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i="1" dirty="0" smtClean="0">
                <a:solidFill>
                  <a:schemeClr val="bg1"/>
                </a:solidFill>
              </a:rPr>
              <a:t>Ориентированный граф</a:t>
            </a:r>
            <a:endParaRPr lang="ru-RU" b="1" i="1" dirty="0">
              <a:solidFill>
                <a:schemeClr val="bg1"/>
              </a:solidFill>
            </a:endParaRPr>
          </a:p>
        </p:txBody>
      </p:sp>
      <p:cxnSp>
        <p:nvCxnSpPr>
          <p:cNvPr id="90" name="Прямая со стрелкой 89"/>
          <p:cNvCxnSpPr>
            <a:stCxn id="19" idx="5"/>
            <a:endCxn id="22" idx="1"/>
          </p:cNvCxnSpPr>
          <p:nvPr/>
        </p:nvCxnSpPr>
        <p:spPr>
          <a:xfrm rot="16200000" flipH="1">
            <a:off x="5682725" y="4447363"/>
            <a:ext cx="707508" cy="1381836"/>
          </a:xfrm>
          <a:prstGeom prst="straightConnector1">
            <a:avLst/>
          </a:prstGeom>
          <a:ln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2" name="TextBox 121"/>
          <p:cNvSpPr txBox="1"/>
          <p:nvPr/>
        </p:nvSpPr>
        <p:spPr>
          <a:xfrm>
            <a:off x="571472" y="4357694"/>
            <a:ext cx="2857520" cy="1200329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ru-RU" dirty="0" smtClean="0">
                <a:solidFill>
                  <a:schemeClr val="bg1"/>
                </a:solidFill>
              </a:rPr>
              <a:t> Пример,</a:t>
            </a:r>
            <a:r>
              <a:rPr lang="en-US" dirty="0" smtClean="0">
                <a:solidFill>
                  <a:schemeClr val="bg1"/>
                </a:solidFill>
              </a:rPr>
              <a:t> 2</a:t>
            </a:r>
            <a:r>
              <a:rPr lang="ru-RU" dirty="0" smtClean="0">
                <a:solidFill>
                  <a:schemeClr val="bg1"/>
                </a:solidFill>
              </a:rPr>
              <a:t>  переливание крови от одного человека другому зависит от группы крови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3929058" y="1357298"/>
            <a:ext cx="4643470" cy="36933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ru-RU" b="1" dirty="0" smtClean="0">
                <a:solidFill>
                  <a:schemeClr val="bg1"/>
                </a:solidFill>
              </a:rPr>
              <a:t>Составные части графа : вершины , рёбра</a:t>
            </a:r>
            <a:endParaRPr lang="ru-RU" b="1" dirty="0">
              <a:solidFill>
                <a:schemeClr val="bg1"/>
              </a:solidFill>
            </a:endParaRPr>
          </a:p>
        </p:txBody>
      </p:sp>
      <p:sp>
        <p:nvSpPr>
          <p:cNvPr id="37" name="Стрелка вправо 36">
            <a:hlinkClick r:id="rId3" action="ppaction://hlinksldjump"/>
          </p:cNvPr>
          <p:cNvSpPr/>
          <p:nvPr/>
        </p:nvSpPr>
        <p:spPr>
          <a:xfrm>
            <a:off x="2357422" y="6215082"/>
            <a:ext cx="1285884" cy="28575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>
                <a:hlinkClick r:id="rId3" action="ppaction://hlinksldjump"/>
              </a:rPr>
              <a:t>задачи</a:t>
            </a:r>
            <a:endParaRPr lang="ru-RU" dirty="0"/>
          </a:p>
        </p:txBody>
      </p:sp>
      <p:sp>
        <p:nvSpPr>
          <p:cNvPr id="38" name="Стрелка влево 37">
            <a:hlinkClick r:id="rId4" action="ppaction://hlinksldjump"/>
          </p:cNvPr>
          <p:cNvSpPr/>
          <p:nvPr/>
        </p:nvSpPr>
        <p:spPr>
          <a:xfrm>
            <a:off x="0" y="6143644"/>
            <a:ext cx="2000232" cy="285752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Назад к меню</a:t>
            </a:r>
            <a:endParaRPr lang="ru-RU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strips dir="rd"/>
  </p:transition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571472" y="785794"/>
            <a:ext cx="7215238" cy="59093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lvl="0" indent="-342900">
              <a:buFont typeface="+mj-lt"/>
              <a:buAutoNum type="arabicPeriod"/>
            </a:pPr>
            <a:r>
              <a:rPr lang="ru-RU" dirty="0" smtClean="0">
                <a:solidFill>
                  <a:schemeClr val="bg1"/>
                </a:solidFill>
              </a:rPr>
              <a:t>Изобразите в виде графа систему, состоящую из четырех одноклассников, между которыми существуют следующие связи (взаимоотношения): </a:t>
            </a:r>
            <a:r>
              <a:rPr lang="ru-RU" i="1" dirty="0" smtClean="0">
                <a:solidFill>
                  <a:schemeClr val="bg1"/>
                </a:solidFill>
              </a:rPr>
              <a:t>дружат: </a:t>
            </a:r>
            <a:r>
              <a:rPr lang="ru-RU" dirty="0" smtClean="0">
                <a:solidFill>
                  <a:schemeClr val="bg1"/>
                </a:solidFill>
              </a:rPr>
              <a:t>Саша и Маша, Саша и Даша, Маша и Гриша, Гриша и Саша. Глядя на полученный граф, ответьте на вопрос: с кем Саша может поделиться секретом, не рискуя, что он станет известен кому-то другому?</a:t>
            </a:r>
          </a:p>
          <a:p>
            <a:pPr marL="342900" lvl="0" indent="-342900">
              <a:buFont typeface="+mj-lt"/>
              <a:buAutoNum type="arabicPeriod"/>
            </a:pPr>
            <a:endParaRPr lang="ru-RU" dirty="0" smtClean="0">
              <a:solidFill>
                <a:schemeClr val="bg1"/>
              </a:solidFill>
            </a:endParaRPr>
          </a:p>
          <a:p>
            <a:pPr marL="342900" lvl="0" indent="-342900">
              <a:buFont typeface="+mj-lt"/>
              <a:buAutoNum type="arabicPeriod"/>
            </a:pPr>
            <a:r>
              <a:rPr lang="ru-RU" dirty="0" smtClean="0">
                <a:solidFill>
                  <a:schemeClr val="bg1"/>
                </a:solidFill>
              </a:rPr>
              <a:t>Нарисовать ориентированный граф (блок-схему) проверки учителем тетрадей. В систему команд входят команды : проверить работу; взять тетрадь из пачки; выставить оценку; выяснить, остались ли ещё не проверенные тетради.</a:t>
            </a:r>
          </a:p>
          <a:p>
            <a:pPr marL="342900" lvl="0" indent="-342900">
              <a:buFont typeface="+mj-lt"/>
              <a:buAutoNum type="arabicPeriod"/>
            </a:pPr>
            <a:endParaRPr lang="ru-RU" dirty="0" smtClean="0">
              <a:solidFill>
                <a:schemeClr val="bg1"/>
              </a:solidFill>
            </a:endParaRPr>
          </a:p>
          <a:p>
            <a:pPr marL="342900" indent="-342900">
              <a:buFont typeface="+mj-lt"/>
              <a:buAutoNum type="arabicPeriod"/>
            </a:pPr>
            <a:r>
              <a:rPr lang="ru-RU" dirty="0" smtClean="0">
                <a:solidFill>
                  <a:schemeClr val="bg1"/>
                </a:solidFill>
              </a:rPr>
              <a:t>Нарисуйте два варианта графа системы «Компьютер», содержащего следующие вершины: процессор, оперативная память, внешняя память, клавиатура, монитор, принтер; а) линия связи обозначает отношение «передает информацию»; б) линия связи обозначает отношение «управляет».</a:t>
            </a:r>
          </a:p>
          <a:p>
            <a:pPr marL="342900" indent="-342900">
              <a:buFont typeface="+mj-lt"/>
              <a:buAutoNum type="arabicPeriod"/>
            </a:pPr>
            <a:r>
              <a:rPr lang="ru-RU" dirty="0" smtClean="0">
                <a:solidFill>
                  <a:schemeClr val="bg1"/>
                </a:solidFill>
              </a:rPr>
              <a:t>Нарисуйте блок-схему поиска фальшивой монеты среди  10 монет.  Имеем чашечные весы и известно, что фальшивая монета всего </a:t>
            </a:r>
            <a:r>
              <a:rPr lang="ru-RU" smtClean="0">
                <a:solidFill>
                  <a:schemeClr val="bg1"/>
                </a:solidFill>
              </a:rPr>
              <a:t>одна , </a:t>
            </a:r>
            <a:r>
              <a:rPr lang="ru-RU" dirty="0" smtClean="0">
                <a:solidFill>
                  <a:schemeClr val="bg1"/>
                </a:solidFill>
              </a:rPr>
              <a:t>и она легче настоящих.</a:t>
            </a:r>
          </a:p>
          <a:p>
            <a:pPr marL="342900" lvl="0" indent="-342900">
              <a:buFont typeface="+mj-lt"/>
              <a:buAutoNum type="arabicPeriod"/>
            </a:pP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500298" y="0"/>
            <a:ext cx="264320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3200" dirty="0" smtClean="0">
                <a:solidFill>
                  <a:schemeClr val="bg1"/>
                </a:solidFill>
              </a:rPr>
              <a:t>Задания</a:t>
            </a:r>
            <a:endParaRPr lang="ru-RU" sz="3200" dirty="0">
              <a:solidFill>
                <a:schemeClr val="bg1"/>
              </a:solidFill>
            </a:endParaRPr>
          </a:p>
        </p:txBody>
      </p:sp>
      <p:sp>
        <p:nvSpPr>
          <p:cNvPr id="4" name="Стрелка влево 3">
            <a:hlinkClick r:id="rId3" action="ppaction://hlinksldjump"/>
          </p:cNvPr>
          <p:cNvSpPr/>
          <p:nvPr/>
        </p:nvSpPr>
        <p:spPr>
          <a:xfrm>
            <a:off x="2143108" y="6500810"/>
            <a:ext cx="1857388" cy="357190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Назад к меню</a:t>
            </a:r>
            <a:endParaRPr lang="ru-RU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strips dir="rd"/>
  </p:transition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extBox 25"/>
          <p:cNvSpPr txBox="1"/>
          <p:nvPr/>
        </p:nvSpPr>
        <p:spPr>
          <a:xfrm>
            <a:off x="1142976" y="428604"/>
            <a:ext cx="671517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200" b="1" dirty="0" smtClean="0">
                <a:solidFill>
                  <a:schemeClr val="bg1"/>
                </a:solidFill>
              </a:rPr>
              <a:t>Иерархические структуры (деревья)</a:t>
            </a:r>
            <a:endParaRPr lang="ru-RU" sz="3200" b="1" dirty="0">
              <a:solidFill>
                <a:schemeClr val="bg1"/>
              </a:solidFill>
            </a:endParaRPr>
          </a:p>
        </p:txBody>
      </p:sp>
      <p:sp>
        <p:nvSpPr>
          <p:cNvPr id="64" name="TextBox 63"/>
          <p:cNvSpPr txBox="1"/>
          <p:nvPr/>
        </p:nvSpPr>
        <p:spPr>
          <a:xfrm>
            <a:off x="571472" y="5214950"/>
            <a:ext cx="3500462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 smtClean="0">
                <a:solidFill>
                  <a:schemeClr val="bg1"/>
                </a:solidFill>
              </a:rPr>
              <a:t> </a:t>
            </a:r>
            <a:r>
              <a:rPr lang="ru-RU" b="1" u="sng" dirty="0" smtClean="0">
                <a:solidFill>
                  <a:schemeClr val="bg1"/>
                </a:solidFill>
              </a:rPr>
              <a:t>Элементы дерева:</a:t>
            </a:r>
          </a:p>
          <a:p>
            <a:pPr>
              <a:buFont typeface="Wingdings" pitchFamily="2" charset="2"/>
              <a:buChar char="§"/>
            </a:pPr>
            <a:r>
              <a:rPr lang="ru-RU" b="1" dirty="0" smtClean="0">
                <a:solidFill>
                  <a:schemeClr val="bg1"/>
                </a:solidFill>
              </a:rPr>
              <a:t>Корень дерева, </a:t>
            </a:r>
          </a:p>
          <a:p>
            <a:pPr>
              <a:buFont typeface="Wingdings" pitchFamily="2" charset="2"/>
              <a:buChar char="§"/>
            </a:pPr>
            <a:r>
              <a:rPr lang="ru-RU" b="1" dirty="0" smtClean="0">
                <a:solidFill>
                  <a:schemeClr val="bg1"/>
                </a:solidFill>
              </a:rPr>
              <a:t>вершины, ( шк1, шк3, </a:t>
            </a:r>
            <a:r>
              <a:rPr lang="ru-RU" b="1" dirty="0" err="1" smtClean="0">
                <a:solidFill>
                  <a:schemeClr val="bg1"/>
                </a:solidFill>
              </a:rPr>
              <a:t>нач.кл</a:t>
            </a:r>
            <a:r>
              <a:rPr lang="ru-RU" b="1" dirty="0" smtClean="0">
                <a:solidFill>
                  <a:schemeClr val="bg1"/>
                </a:solidFill>
              </a:rPr>
              <a:t> …)</a:t>
            </a:r>
          </a:p>
          <a:p>
            <a:pPr>
              <a:buFont typeface="Wingdings" pitchFamily="2" charset="2"/>
              <a:buChar char="§"/>
            </a:pPr>
            <a:r>
              <a:rPr lang="ru-RU" b="1" dirty="0" smtClean="0">
                <a:solidFill>
                  <a:schemeClr val="bg1"/>
                </a:solidFill>
              </a:rPr>
              <a:t>Ветви</a:t>
            </a:r>
          </a:p>
          <a:p>
            <a:pPr>
              <a:buFont typeface="Wingdings" pitchFamily="2" charset="2"/>
              <a:buChar char="§"/>
            </a:pPr>
            <a:r>
              <a:rPr lang="ru-RU" b="1" dirty="0" smtClean="0">
                <a:solidFill>
                  <a:schemeClr val="bg1"/>
                </a:solidFill>
              </a:rPr>
              <a:t>Листья (1,2,3)</a:t>
            </a:r>
            <a:endParaRPr lang="ru-RU" b="1" dirty="0">
              <a:solidFill>
                <a:schemeClr val="bg1"/>
              </a:solidFill>
            </a:endParaRPr>
          </a:p>
        </p:txBody>
      </p:sp>
      <p:sp>
        <p:nvSpPr>
          <p:cNvPr id="65" name="TextBox 64"/>
          <p:cNvSpPr txBox="1"/>
          <p:nvPr/>
        </p:nvSpPr>
        <p:spPr>
          <a:xfrm>
            <a:off x="5214942" y="5357826"/>
            <a:ext cx="3286148" cy="461665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ru-RU" sz="2400" i="1" dirty="0" smtClean="0">
                <a:solidFill>
                  <a:schemeClr val="bg1"/>
                </a:solidFill>
              </a:rPr>
              <a:t>Связь</a:t>
            </a:r>
            <a:r>
              <a:rPr lang="ru-RU" sz="2400" i="1" dirty="0" smtClean="0">
                <a:solidFill>
                  <a:srgbClr val="C00000"/>
                </a:solidFill>
              </a:rPr>
              <a:t>- </a:t>
            </a:r>
            <a:r>
              <a:rPr lang="ru-RU" sz="2400" i="1" dirty="0" smtClean="0">
                <a:solidFill>
                  <a:srgbClr val="FFFF00"/>
                </a:solidFill>
              </a:rPr>
              <a:t>один ко многим</a:t>
            </a:r>
            <a:endParaRPr lang="ru-RU" sz="2400" i="1" dirty="0">
              <a:solidFill>
                <a:srgbClr val="FFFF00"/>
              </a:solidFill>
            </a:endParaRPr>
          </a:p>
        </p:txBody>
      </p:sp>
      <p:grpSp>
        <p:nvGrpSpPr>
          <p:cNvPr id="80" name="Группа 79"/>
          <p:cNvGrpSpPr/>
          <p:nvPr/>
        </p:nvGrpSpPr>
        <p:grpSpPr>
          <a:xfrm>
            <a:off x="0" y="2214554"/>
            <a:ext cx="9001156" cy="2786082"/>
            <a:chOff x="0" y="1785926"/>
            <a:chExt cx="9001156" cy="2786082"/>
          </a:xfrm>
        </p:grpSpPr>
        <p:grpSp>
          <p:nvGrpSpPr>
            <p:cNvPr id="63" name="Группа 62"/>
            <p:cNvGrpSpPr/>
            <p:nvPr/>
          </p:nvGrpSpPr>
          <p:grpSpPr>
            <a:xfrm>
              <a:off x="0" y="1785926"/>
              <a:ext cx="9001156" cy="2214578"/>
              <a:chOff x="0" y="1785926"/>
              <a:chExt cx="9001156" cy="2214578"/>
            </a:xfrm>
          </p:grpSpPr>
          <p:sp>
            <p:nvSpPr>
              <p:cNvPr id="27" name="Овал 26"/>
              <p:cNvSpPr/>
              <p:nvPr/>
            </p:nvSpPr>
            <p:spPr>
              <a:xfrm>
                <a:off x="3286116" y="1785926"/>
                <a:ext cx="2286016" cy="428628"/>
              </a:xfrm>
              <a:prstGeom prst="ellipse">
                <a:avLst/>
              </a:prstGeom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ru-RU" dirty="0" smtClean="0"/>
                  <a:t>Образование</a:t>
                </a:r>
                <a:endParaRPr lang="ru-RU" dirty="0"/>
              </a:p>
            </p:txBody>
          </p:sp>
          <p:sp>
            <p:nvSpPr>
              <p:cNvPr id="28" name="Овал 27"/>
              <p:cNvSpPr/>
              <p:nvPr/>
            </p:nvSpPr>
            <p:spPr>
              <a:xfrm>
                <a:off x="857224" y="2643182"/>
                <a:ext cx="1571636" cy="357190"/>
              </a:xfrm>
              <a:prstGeom prst="ellipse">
                <a:avLst/>
              </a:prstGeom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ru-RU" dirty="0" smtClean="0"/>
                  <a:t>Школа 1</a:t>
                </a:r>
                <a:endParaRPr lang="ru-RU" dirty="0"/>
              </a:p>
            </p:txBody>
          </p:sp>
          <p:sp>
            <p:nvSpPr>
              <p:cNvPr id="29" name="Овал 28"/>
              <p:cNvSpPr/>
              <p:nvPr/>
            </p:nvSpPr>
            <p:spPr>
              <a:xfrm>
                <a:off x="3286116" y="2643182"/>
                <a:ext cx="1643074" cy="357190"/>
              </a:xfrm>
              <a:prstGeom prst="ellipse">
                <a:avLst/>
              </a:prstGeom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ru-RU" dirty="0" smtClean="0"/>
                  <a:t>Школа 3</a:t>
                </a:r>
                <a:endParaRPr lang="ru-RU" dirty="0"/>
              </a:p>
            </p:txBody>
          </p:sp>
          <p:sp>
            <p:nvSpPr>
              <p:cNvPr id="30" name="Овал 29"/>
              <p:cNvSpPr/>
              <p:nvPr/>
            </p:nvSpPr>
            <p:spPr>
              <a:xfrm>
                <a:off x="5357818" y="2643182"/>
                <a:ext cx="1643074" cy="357190"/>
              </a:xfrm>
              <a:prstGeom prst="ellipse">
                <a:avLst/>
              </a:prstGeom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ru-RU" dirty="0" smtClean="0"/>
                  <a:t>Школа 8 </a:t>
                </a:r>
                <a:endParaRPr lang="ru-RU" dirty="0"/>
              </a:p>
            </p:txBody>
          </p:sp>
          <p:sp>
            <p:nvSpPr>
              <p:cNvPr id="31" name="Овал 30"/>
              <p:cNvSpPr/>
              <p:nvPr/>
            </p:nvSpPr>
            <p:spPr>
              <a:xfrm>
                <a:off x="7358082" y="2643182"/>
                <a:ext cx="1643074" cy="357190"/>
              </a:xfrm>
              <a:prstGeom prst="ellipse">
                <a:avLst/>
              </a:prstGeom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ru-RU" dirty="0" smtClean="0"/>
                  <a:t>Школа 9</a:t>
                </a:r>
                <a:endParaRPr lang="ru-RU" dirty="0"/>
              </a:p>
            </p:txBody>
          </p:sp>
          <p:sp>
            <p:nvSpPr>
              <p:cNvPr id="32" name="Овал 31"/>
              <p:cNvSpPr/>
              <p:nvPr/>
            </p:nvSpPr>
            <p:spPr>
              <a:xfrm>
                <a:off x="0" y="3357562"/>
                <a:ext cx="1500166" cy="642942"/>
              </a:xfrm>
              <a:prstGeom prst="ellipse">
                <a:avLst/>
              </a:prstGeom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ru-RU" dirty="0" err="1" smtClean="0"/>
                  <a:t>Нач</a:t>
                </a:r>
                <a:r>
                  <a:rPr lang="ru-RU" dirty="0" smtClean="0"/>
                  <a:t>. классы</a:t>
                </a:r>
                <a:endParaRPr lang="ru-RU" dirty="0"/>
              </a:p>
            </p:txBody>
          </p:sp>
          <p:sp>
            <p:nvSpPr>
              <p:cNvPr id="33" name="Овал 32"/>
              <p:cNvSpPr/>
              <p:nvPr/>
            </p:nvSpPr>
            <p:spPr>
              <a:xfrm>
                <a:off x="3286116" y="3357562"/>
                <a:ext cx="1357322" cy="571504"/>
              </a:xfrm>
              <a:prstGeom prst="ellipse">
                <a:avLst/>
              </a:prstGeom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ru-RU" dirty="0" err="1" smtClean="0"/>
                  <a:t>Нач</a:t>
                </a:r>
                <a:r>
                  <a:rPr lang="ru-RU" dirty="0" smtClean="0"/>
                  <a:t>. классы</a:t>
                </a:r>
                <a:endParaRPr lang="ru-RU" dirty="0"/>
              </a:p>
            </p:txBody>
          </p:sp>
          <p:sp>
            <p:nvSpPr>
              <p:cNvPr id="34" name="Овал 33"/>
              <p:cNvSpPr/>
              <p:nvPr/>
            </p:nvSpPr>
            <p:spPr>
              <a:xfrm>
                <a:off x="1571604" y="3357562"/>
                <a:ext cx="1428760" cy="571504"/>
              </a:xfrm>
              <a:prstGeom prst="ellipse">
                <a:avLst/>
              </a:prstGeom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ru-RU" dirty="0" smtClean="0"/>
                  <a:t>старшие классы</a:t>
                </a:r>
                <a:endParaRPr lang="ru-RU" dirty="0"/>
              </a:p>
            </p:txBody>
          </p:sp>
          <p:sp>
            <p:nvSpPr>
              <p:cNvPr id="35" name="Овал 34"/>
              <p:cNvSpPr/>
              <p:nvPr/>
            </p:nvSpPr>
            <p:spPr>
              <a:xfrm>
                <a:off x="4714876" y="3357562"/>
                <a:ext cx="1428760" cy="571504"/>
              </a:xfrm>
              <a:prstGeom prst="ellipse">
                <a:avLst/>
              </a:prstGeom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ru-RU" dirty="0" smtClean="0"/>
                  <a:t>старшие классы</a:t>
                </a:r>
                <a:endParaRPr lang="ru-RU" dirty="0"/>
              </a:p>
            </p:txBody>
          </p:sp>
          <p:cxnSp>
            <p:nvCxnSpPr>
              <p:cNvPr id="37" name="Прямая соединительная линия 36"/>
              <p:cNvCxnSpPr>
                <a:endCxn id="28" idx="0"/>
              </p:cNvCxnSpPr>
              <p:nvPr/>
            </p:nvCxnSpPr>
            <p:spPr>
              <a:xfrm rot="10800000" flipV="1">
                <a:off x="1643042" y="2143116"/>
                <a:ext cx="1785950" cy="500066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" name="Прямая соединительная линия 37"/>
              <p:cNvCxnSpPr/>
              <p:nvPr/>
            </p:nvCxnSpPr>
            <p:spPr>
              <a:xfrm rot="5400000">
                <a:off x="3893339" y="2321711"/>
                <a:ext cx="428628" cy="214314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" name="Прямая соединительная линия 40"/>
              <p:cNvCxnSpPr/>
              <p:nvPr/>
            </p:nvCxnSpPr>
            <p:spPr>
              <a:xfrm>
                <a:off x="4714876" y="2214554"/>
                <a:ext cx="1071570" cy="428628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" name="Прямая соединительная линия 42"/>
              <p:cNvCxnSpPr/>
              <p:nvPr/>
            </p:nvCxnSpPr>
            <p:spPr>
              <a:xfrm>
                <a:off x="5286380" y="2143116"/>
                <a:ext cx="2571768" cy="428628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" name="Прямая соединительная линия 51"/>
              <p:cNvCxnSpPr/>
              <p:nvPr/>
            </p:nvCxnSpPr>
            <p:spPr>
              <a:xfrm rot="10800000" flipV="1">
                <a:off x="642910" y="3000372"/>
                <a:ext cx="714380" cy="35719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" name="Прямая соединительная линия 53"/>
              <p:cNvCxnSpPr/>
              <p:nvPr/>
            </p:nvCxnSpPr>
            <p:spPr>
              <a:xfrm rot="5400000">
                <a:off x="3714744" y="3000372"/>
                <a:ext cx="428628" cy="428628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9" name="Прямая соединительная линия 58"/>
              <p:cNvCxnSpPr>
                <a:stCxn id="34" idx="0"/>
              </p:cNvCxnSpPr>
              <p:nvPr/>
            </p:nvCxnSpPr>
            <p:spPr>
              <a:xfrm rot="16200000" flipV="1">
                <a:off x="1821637" y="2893215"/>
                <a:ext cx="357190" cy="571504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1" name="Прямая соединительная линия 60"/>
              <p:cNvCxnSpPr/>
              <p:nvPr/>
            </p:nvCxnSpPr>
            <p:spPr>
              <a:xfrm rot="16200000" flipV="1">
                <a:off x="4679157" y="2893215"/>
                <a:ext cx="357190" cy="571504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66" name="Овал 65"/>
            <p:cNvSpPr/>
            <p:nvPr/>
          </p:nvSpPr>
          <p:spPr>
            <a:xfrm>
              <a:off x="214282" y="4286256"/>
              <a:ext cx="357190" cy="285752"/>
            </a:xfrm>
            <a:prstGeom prst="ellipse">
              <a:avLst/>
            </a:prstGeom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ru-RU" dirty="0" smtClean="0"/>
                <a:t>1</a:t>
              </a:r>
              <a:endParaRPr lang="ru-RU" dirty="0"/>
            </a:p>
          </p:txBody>
        </p:sp>
        <p:sp>
          <p:nvSpPr>
            <p:cNvPr id="67" name="Овал 66"/>
            <p:cNvSpPr/>
            <p:nvPr/>
          </p:nvSpPr>
          <p:spPr>
            <a:xfrm>
              <a:off x="857224" y="4286256"/>
              <a:ext cx="357190" cy="285752"/>
            </a:xfrm>
            <a:prstGeom prst="ellipse">
              <a:avLst/>
            </a:prstGeom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ru-RU" dirty="0" smtClean="0"/>
                <a:t>2</a:t>
              </a:r>
              <a:endParaRPr lang="ru-RU" dirty="0"/>
            </a:p>
          </p:txBody>
        </p:sp>
        <p:sp>
          <p:nvSpPr>
            <p:cNvPr id="68" name="Овал 67"/>
            <p:cNvSpPr/>
            <p:nvPr/>
          </p:nvSpPr>
          <p:spPr>
            <a:xfrm>
              <a:off x="1428728" y="4286256"/>
              <a:ext cx="357190" cy="285752"/>
            </a:xfrm>
            <a:prstGeom prst="ellipse">
              <a:avLst/>
            </a:prstGeom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ru-RU" dirty="0" smtClean="0"/>
                <a:t>3</a:t>
              </a:r>
              <a:endParaRPr lang="ru-RU" dirty="0"/>
            </a:p>
          </p:txBody>
        </p:sp>
        <p:cxnSp>
          <p:nvCxnSpPr>
            <p:cNvPr id="70" name="Прямая соединительная линия 69"/>
            <p:cNvCxnSpPr>
              <a:endCxn id="66" idx="0"/>
            </p:cNvCxnSpPr>
            <p:nvPr/>
          </p:nvCxnSpPr>
          <p:spPr>
            <a:xfrm rot="5400000">
              <a:off x="339300" y="4054084"/>
              <a:ext cx="285750" cy="178595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Прямая соединительная линия 71"/>
            <p:cNvCxnSpPr>
              <a:stCxn id="32" idx="4"/>
              <a:endCxn id="67" idx="0"/>
            </p:cNvCxnSpPr>
            <p:nvPr/>
          </p:nvCxnSpPr>
          <p:spPr>
            <a:xfrm rot="16200000" flipH="1">
              <a:off x="750075" y="4000512"/>
              <a:ext cx="285752" cy="285736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Прямая соединительная линия 74"/>
            <p:cNvCxnSpPr>
              <a:endCxn id="68" idx="1"/>
            </p:cNvCxnSpPr>
            <p:nvPr/>
          </p:nvCxnSpPr>
          <p:spPr>
            <a:xfrm>
              <a:off x="1071538" y="3929066"/>
              <a:ext cx="409499" cy="399037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6" name="Прямоугольник 35"/>
          <p:cNvSpPr/>
          <p:nvPr/>
        </p:nvSpPr>
        <p:spPr>
          <a:xfrm>
            <a:off x="357158" y="1142984"/>
            <a:ext cx="857256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 smtClean="0">
                <a:solidFill>
                  <a:schemeClr val="bg1"/>
                </a:solidFill>
              </a:rPr>
              <a:t> Структура, в которой одни элементы «подчиняются» другим, называется </a:t>
            </a:r>
            <a:r>
              <a:rPr lang="ru-RU" i="1" dirty="0" smtClean="0">
                <a:solidFill>
                  <a:schemeClr val="bg1"/>
                </a:solidFill>
              </a:rPr>
              <a:t>иерархия (от древ</a:t>
            </a:r>
            <a:r>
              <a:rPr lang="ru-RU" dirty="0" smtClean="0">
                <a:solidFill>
                  <a:schemeClr val="bg1"/>
                </a:solidFill>
              </a:rPr>
              <a:t>негреческого </a:t>
            </a:r>
            <a:r>
              <a:rPr lang="ru-RU" dirty="0" err="1" smtClean="0">
                <a:solidFill>
                  <a:schemeClr val="bg1"/>
                </a:solidFill>
              </a:rPr>
              <a:t>ἱεραρχία </a:t>
            </a:r>
            <a:r>
              <a:rPr lang="ru-RU" dirty="0" smtClean="0">
                <a:solidFill>
                  <a:schemeClr val="bg1"/>
                </a:solidFill>
              </a:rPr>
              <a:t>– «священное правление»). В информатике иерархию называют </a:t>
            </a:r>
            <a:r>
              <a:rPr lang="ru-RU" b="1" dirty="0" smtClean="0">
                <a:solidFill>
                  <a:schemeClr val="bg1"/>
                </a:solidFill>
              </a:rPr>
              <a:t>деревом.</a:t>
            </a:r>
          </a:p>
        </p:txBody>
      </p:sp>
      <p:sp>
        <p:nvSpPr>
          <p:cNvPr id="39" name="Стрелка вправо 38"/>
          <p:cNvSpPr/>
          <p:nvPr/>
        </p:nvSpPr>
        <p:spPr>
          <a:xfrm>
            <a:off x="7715272" y="6500834"/>
            <a:ext cx="1071570" cy="35716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задача</a:t>
            </a:r>
            <a:endParaRPr lang="ru-RU" dirty="0"/>
          </a:p>
        </p:txBody>
      </p:sp>
      <p:sp>
        <p:nvSpPr>
          <p:cNvPr id="40" name="Стрелка влево 39">
            <a:hlinkClick r:id="rId3" action="ppaction://hlinksldjump"/>
          </p:cNvPr>
          <p:cNvSpPr/>
          <p:nvPr/>
        </p:nvSpPr>
        <p:spPr>
          <a:xfrm>
            <a:off x="5572132" y="6572248"/>
            <a:ext cx="1928826" cy="285752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Назад к меню</a:t>
            </a:r>
            <a:endParaRPr lang="ru-RU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strips dir="rd"/>
  </p:transition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785786" y="1285860"/>
            <a:ext cx="7786742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lvl="0" indent="-342900">
              <a:buFont typeface="+mj-lt"/>
              <a:buAutoNum type="arabicPeriod"/>
            </a:pPr>
            <a:r>
              <a:rPr lang="ru-RU" sz="2400" dirty="0" smtClean="0">
                <a:solidFill>
                  <a:schemeClr val="bg1"/>
                </a:solidFill>
              </a:rPr>
              <a:t>Постройте граф структуры управления вашей школой. Оказался ли он деревом? Если да, то что находится в корне этого дерева? Что является листьями?</a:t>
            </a:r>
            <a:endParaRPr lang="ru-RU" sz="2400" dirty="0">
              <a:solidFill>
                <a:schemeClr val="bg1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786050" y="500042"/>
            <a:ext cx="264320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3200" dirty="0" smtClean="0">
                <a:solidFill>
                  <a:schemeClr val="bg1"/>
                </a:solidFill>
              </a:rPr>
              <a:t>Задания</a:t>
            </a:r>
            <a:endParaRPr lang="ru-RU" sz="3200" dirty="0">
              <a:solidFill>
                <a:schemeClr val="bg1"/>
              </a:solidFill>
            </a:endParaRPr>
          </a:p>
        </p:txBody>
      </p:sp>
      <p:sp>
        <p:nvSpPr>
          <p:cNvPr id="4" name="Стрелка влево 3">
            <a:hlinkClick r:id="rId3" action="ppaction://hlinksldjump"/>
          </p:cNvPr>
          <p:cNvSpPr/>
          <p:nvPr/>
        </p:nvSpPr>
        <p:spPr>
          <a:xfrm>
            <a:off x="285720" y="5786454"/>
            <a:ext cx="1785950" cy="428604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Назад к меню</a:t>
            </a:r>
            <a:endParaRPr lang="ru-RU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strips dir="rd"/>
  </p:transition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57158" y="3214686"/>
            <a:ext cx="7750075" cy="28425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6" name="TextBox 5"/>
          <p:cNvSpPr txBox="1"/>
          <p:nvPr/>
        </p:nvSpPr>
        <p:spPr>
          <a:xfrm>
            <a:off x="2285984" y="0"/>
            <a:ext cx="421484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3200" b="1" dirty="0" smtClean="0">
                <a:solidFill>
                  <a:schemeClr val="bg1"/>
                </a:solidFill>
              </a:rPr>
              <a:t>Таблицы</a:t>
            </a:r>
            <a:endParaRPr lang="ru-RU" sz="3200" b="1" dirty="0">
              <a:solidFill>
                <a:schemeClr val="bg1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42910" y="1571612"/>
            <a:ext cx="2714644" cy="646331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ru-RU" b="1" dirty="0" smtClean="0">
                <a:solidFill>
                  <a:schemeClr val="bg1"/>
                </a:solidFill>
              </a:rPr>
              <a:t>Элементы таблицы:</a:t>
            </a:r>
          </a:p>
          <a:p>
            <a:pPr algn="ctr"/>
            <a:r>
              <a:rPr lang="ru-RU" b="1" dirty="0" smtClean="0">
                <a:solidFill>
                  <a:schemeClr val="bg1"/>
                </a:solidFill>
              </a:rPr>
              <a:t>Строки, столбцы, ячейки</a:t>
            </a:r>
            <a:endParaRPr lang="ru-RU" b="1" dirty="0">
              <a:solidFill>
                <a:schemeClr val="bg1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42910" y="2357430"/>
            <a:ext cx="278608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 smtClean="0">
                <a:solidFill>
                  <a:schemeClr val="bg1"/>
                </a:solidFill>
              </a:rPr>
              <a:t>ТИПЫ ТАБЛИЦ</a:t>
            </a:r>
          </a:p>
          <a:p>
            <a:pPr>
              <a:buFont typeface="Wingdings" pitchFamily="2" charset="2"/>
              <a:buChar char="q"/>
            </a:pPr>
            <a:r>
              <a:rPr lang="ru-RU" b="1" dirty="0" smtClean="0">
                <a:solidFill>
                  <a:schemeClr val="bg1"/>
                </a:solidFill>
              </a:rPr>
              <a:t>«объект-свойство»</a:t>
            </a:r>
          </a:p>
          <a:p>
            <a:pPr>
              <a:buFont typeface="Wingdings" pitchFamily="2" charset="2"/>
              <a:buChar char="q"/>
            </a:pPr>
            <a:r>
              <a:rPr lang="ru-RU" b="1" dirty="0" smtClean="0">
                <a:solidFill>
                  <a:schemeClr val="bg1"/>
                </a:solidFill>
              </a:rPr>
              <a:t>«объект-объект»</a:t>
            </a:r>
            <a:endParaRPr lang="ru-RU" b="1" dirty="0">
              <a:solidFill>
                <a:schemeClr val="bg1"/>
              </a:solidFill>
            </a:endParaRPr>
          </a:p>
        </p:txBody>
      </p:sp>
      <p:sp>
        <p:nvSpPr>
          <p:cNvPr id="9" name="Прямоугольник 8"/>
          <p:cNvSpPr/>
          <p:nvPr/>
        </p:nvSpPr>
        <p:spPr>
          <a:xfrm>
            <a:off x="5857884" y="2643182"/>
            <a:ext cx="204895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u="sng" dirty="0" smtClean="0">
                <a:solidFill>
                  <a:schemeClr val="bg1"/>
                </a:solidFill>
              </a:rPr>
              <a:t>«объект-свойство»</a:t>
            </a:r>
          </a:p>
        </p:txBody>
      </p:sp>
      <p:sp>
        <p:nvSpPr>
          <p:cNvPr id="10" name="Прямоугольник 9"/>
          <p:cNvSpPr/>
          <p:nvPr/>
        </p:nvSpPr>
        <p:spPr>
          <a:xfrm>
            <a:off x="214282" y="714356"/>
            <a:ext cx="8929718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400" dirty="0" smtClean="0">
                <a:solidFill>
                  <a:schemeClr val="bg1"/>
                </a:solidFill>
              </a:rPr>
              <a:t>С помощью таблиц устанавливается связь между несколькими элементами.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0" y="6286520"/>
            <a:ext cx="9144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i="1" dirty="0" smtClean="0">
                <a:solidFill>
                  <a:schemeClr val="bg1"/>
                </a:solidFill>
              </a:rPr>
              <a:t>Каждая строка относится к конкретному объекту, а столбцы отражают свойства объекта</a:t>
            </a:r>
            <a:endParaRPr lang="ru-RU" b="1" i="1" dirty="0">
              <a:solidFill>
                <a:schemeClr val="bg1"/>
              </a:solidFill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strips dir="rd"/>
  </p:transition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Рисунок 5" descr="Безимени-6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5720" y="4214818"/>
            <a:ext cx="8429684" cy="2643182"/>
          </a:xfrm>
          <a:prstGeom prst="rect">
            <a:avLst/>
          </a:prstGeom>
        </p:spPr>
      </p:pic>
      <p:pic>
        <p:nvPicPr>
          <p:cNvPr id="7" name="Picture 4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285720" y="1142984"/>
            <a:ext cx="8358246" cy="221457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8" name="Прямоугольник 7"/>
          <p:cNvSpPr/>
          <p:nvPr/>
        </p:nvSpPr>
        <p:spPr>
          <a:xfrm>
            <a:off x="6715140" y="214290"/>
            <a:ext cx="189346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b="1" dirty="0" smtClean="0">
                <a:solidFill>
                  <a:schemeClr val="bg1"/>
                </a:solidFill>
              </a:rPr>
              <a:t>«объект-объект»</a:t>
            </a:r>
            <a:endParaRPr lang="ru-RU" b="1" dirty="0">
              <a:solidFill>
                <a:schemeClr val="bg1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928794" y="0"/>
            <a:ext cx="421484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3200" b="1" dirty="0" smtClean="0">
                <a:solidFill>
                  <a:schemeClr val="bg1"/>
                </a:solidFill>
              </a:rPr>
              <a:t>Таблицы</a:t>
            </a:r>
            <a:endParaRPr lang="ru-RU" sz="3200" b="1" dirty="0">
              <a:solidFill>
                <a:schemeClr val="bg1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285720" y="714356"/>
            <a:ext cx="83582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i="1" dirty="0" smtClean="0">
                <a:solidFill>
                  <a:schemeClr val="bg1"/>
                </a:solidFill>
              </a:rPr>
              <a:t>Связь между объектами двух типов: учениками и изучаемыми дисциплинами</a:t>
            </a:r>
            <a:endParaRPr lang="ru-RU" b="1" i="1" dirty="0">
              <a:solidFill>
                <a:schemeClr val="bg1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0" y="3357562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b="1" dirty="0" smtClean="0">
                <a:solidFill>
                  <a:schemeClr val="bg1"/>
                </a:solidFill>
              </a:rPr>
              <a:t>Двоичные матрицы- отражают качественную связь между объектами: есть связь или нет связи</a:t>
            </a:r>
            <a:endParaRPr lang="ru-RU" sz="2400" b="1" dirty="0">
              <a:solidFill>
                <a:schemeClr val="bg1"/>
              </a:solidFill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strips dir="rd"/>
  </p:transition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28596" y="857232"/>
            <a:ext cx="814393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 smtClean="0">
                <a:solidFill>
                  <a:schemeClr val="bg1"/>
                </a:solidFill>
              </a:rPr>
              <a:t>Любую структуру данных, в том числе и представленных в форме графа можно свести к табличной форме.</a:t>
            </a:r>
            <a:endParaRPr lang="ru-RU" sz="2400" dirty="0">
              <a:solidFill>
                <a:schemeClr val="bg1"/>
              </a:solidFill>
            </a:endParaRPr>
          </a:p>
        </p:txBody>
      </p:sp>
      <p:grpSp>
        <p:nvGrpSpPr>
          <p:cNvPr id="3" name="Группа 2"/>
          <p:cNvGrpSpPr/>
          <p:nvPr/>
        </p:nvGrpSpPr>
        <p:grpSpPr>
          <a:xfrm>
            <a:off x="2643174" y="1857364"/>
            <a:ext cx="2714644" cy="1500198"/>
            <a:chOff x="2786050" y="714356"/>
            <a:chExt cx="2714644" cy="1500198"/>
          </a:xfrm>
        </p:grpSpPr>
        <p:sp>
          <p:nvSpPr>
            <p:cNvPr id="4" name="Овал 3"/>
            <p:cNvSpPr/>
            <p:nvPr/>
          </p:nvSpPr>
          <p:spPr>
            <a:xfrm>
              <a:off x="3500430" y="785794"/>
              <a:ext cx="428628" cy="357190"/>
            </a:xfrm>
            <a:prstGeom prst="ellipse">
              <a:avLst/>
            </a:prstGeom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ru-RU" b="1" dirty="0" smtClean="0"/>
                <a:t>Д</a:t>
              </a:r>
              <a:endParaRPr lang="ru-RU" b="1" dirty="0"/>
            </a:p>
          </p:txBody>
        </p:sp>
        <p:sp>
          <p:nvSpPr>
            <p:cNvPr id="5" name="Овал 4"/>
            <p:cNvSpPr/>
            <p:nvPr/>
          </p:nvSpPr>
          <p:spPr>
            <a:xfrm>
              <a:off x="2786050" y="1857364"/>
              <a:ext cx="428628" cy="357190"/>
            </a:xfrm>
            <a:prstGeom prst="ellipse">
              <a:avLst/>
            </a:prstGeom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ru-RU" b="1" dirty="0" smtClean="0"/>
                <a:t>Р</a:t>
              </a:r>
              <a:endParaRPr lang="ru-RU" b="1" dirty="0"/>
            </a:p>
          </p:txBody>
        </p:sp>
        <p:sp>
          <p:nvSpPr>
            <p:cNvPr id="6" name="Овал 5"/>
            <p:cNvSpPr/>
            <p:nvPr/>
          </p:nvSpPr>
          <p:spPr>
            <a:xfrm>
              <a:off x="4143372" y="1571612"/>
              <a:ext cx="428628" cy="357190"/>
            </a:xfrm>
            <a:prstGeom prst="ellipse">
              <a:avLst/>
            </a:prstGeom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ru-RU" b="1" dirty="0" smtClean="0"/>
                <a:t>К</a:t>
              </a:r>
              <a:endParaRPr lang="ru-RU" b="1" dirty="0"/>
            </a:p>
          </p:txBody>
        </p:sp>
        <p:sp>
          <p:nvSpPr>
            <p:cNvPr id="7" name="Овал 6"/>
            <p:cNvSpPr/>
            <p:nvPr/>
          </p:nvSpPr>
          <p:spPr>
            <a:xfrm>
              <a:off x="5072066" y="1714488"/>
              <a:ext cx="428628" cy="357190"/>
            </a:xfrm>
            <a:prstGeom prst="ellipse">
              <a:avLst/>
            </a:prstGeom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ru-RU" b="1" dirty="0" smtClean="0"/>
                <a:t>М</a:t>
              </a:r>
              <a:endParaRPr lang="ru-RU" b="1" dirty="0"/>
            </a:p>
          </p:txBody>
        </p:sp>
        <p:sp>
          <p:nvSpPr>
            <p:cNvPr id="8" name="Овал 7"/>
            <p:cNvSpPr/>
            <p:nvPr/>
          </p:nvSpPr>
          <p:spPr>
            <a:xfrm>
              <a:off x="4572000" y="714356"/>
              <a:ext cx="428628" cy="357190"/>
            </a:xfrm>
            <a:prstGeom prst="ellipse">
              <a:avLst/>
            </a:prstGeom>
            <a:ln w="317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ru-RU" b="1" dirty="0" smtClean="0"/>
                <a:t>Б</a:t>
              </a:r>
              <a:endParaRPr lang="ru-RU" b="1" dirty="0"/>
            </a:p>
          </p:txBody>
        </p:sp>
        <p:cxnSp>
          <p:nvCxnSpPr>
            <p:cNvPr id="9" name="Прямая соединительная линия 8"/>
            <p:cNvCxnSpPr>
              <a:stCxn id="4" idx="6"/>
              <a:endCxn id="8" idx="2"/>
            </p:cNvCxnSpPr>
            <p:nvPr/>
          </p:nvCxnSpPr>
          <p:spPr>
            <a:xfrm flipV="1">
              <a:off x="3929058" y="892951"/>
              <a:ext cx="642942" cy="71438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Прямая соединительная линия 9"/>
            <p:cNvCxnSpPr>
              <a:endCxn id="6" idx="2"/>
            </p:cNvCxnSpPr>
            <p:nvPr/>
          </p:nvCxnSpPr>
          <p:spPr>
            <a:xfrm flipV="1">
              <a:off x="3214678" y="1750207"/>
              <a:ext cx="928694" cy="250033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Прямая соединительная линия 10"/>
            <p:cNvCxnSpPr>
              <a:stCxn id="4" idx="4"/>
              <a:endCxn id="6" idx="0"/>
            </p:cNvCxnSpPr>
            <p:nvPr/>
          </p:nvCxnSpPr>
          <p:spPr>
            <a:xfrm rot="16200000" flipH="1">
              <a:off x="3821901" y="1035827"/>
              <a:ext cx="428628" cy="642942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Прямая соединительная линия 11"/>
            <p:cNvCxnSpPr>
              <a:stCxn id="6" idx="7"/>
              <a:endCxn id="8" idx="4"/>
            </p:cNvCxnSpPr>
            <p:nvPr/>
          </p:nvCxnSpPr>
          <p:spPr>
            <a:xfrm rot="5400000" flipH="1" flipV="1">
              <a:off x="4371584" y="1209192"/>
              <a:ext cx="552375" cy="277085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Прямая соединительная линия 12"/>
            <p:cNvCxnSpPr>
              <a:stCxn id="7" idx="0"/>
            </p:cNvCxnSpPr>
            <p:nvPr/>
          </p:nvCxnSpPr>
          <p:spPr>
            <a:xfrm rot="16200000" flipV="1">
              <a:off x="4750595" y="1178703"/>
              <a:ext cx="642942" cy="428628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26" name="Таблица 25"/>
          <p:cNvGraphicFramePr>
            <a:graphicFrameLocks noGrp="1"/>
          </p:cNvGraphicFramePr>
          <p:nvPr/>
        </p:nvGraphicFramePr>
        <p:xfrm>
          <a:off x="1142976" y="3500438"/>
          <a:ext cx="6429420" cy="25107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71570"/>
                <a:gridCol w="1071570"/>
                <a:gridCol w="1071570"/>
                <a:gridCol w="1071570"/>
                <a:gridCol w="1071570"/>
                <a:gridCol w="1071570"/>
              </a:tblGrid>
              <a:tr h="418465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b="1" dirty="0" smtClean="0"/>
                        <a:t>Д</a:t>
                      </a:r>
                      <a:endParaRPr lang="ru-RU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b="1" dirty="0" smtClean="0"/>
                        <a:t>Б</a:t>
                      </a:r>
                      <a:endParaRPr lang="ru-RU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b="1" dirty="0" smtClean="0"/>
                        <a:t>К</a:t>
                      </a:r>
                      <a:endParaRPr lang="ru-RU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b="1" dirty="0" smtClean="0"/>
                        <a:t>М</a:t>
                      </a:r>
                      <a:endParaRPr lang="ru-RU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b="1" dirty="0" smtClean="0"/>
                        <a:t>Р</a:t>
                      </a:r>
                      <a:endParaRPr lang="ru-RU" b="1" dirty="0"/>
                    </a:p>
                  </a:txBody>
                  <a:tcPr/>
                </a:tc>
              </a:tr>
              <a:tr h="418465">
                <a:tc>
                  <a:txBody>
                    <a:bodyPr/>
                    <a:lstStyle/>
                    <a:p>
                      <a:pPr algn="ctr"/>
                      <a:r>
                        <a:rPr lang="ru-RU" b="1" dirty="0" smtClean="0"/>
                        <a:t>Д</a:t>
                      </a:r>
                      <a:endParaRPr lang="ru-RU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0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1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1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0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0</a:t>
                      </a:r>
                      <a:endParaRPr lang="ru-RU" dirty="0"/>
                    </a:p>
                  </a:txBody>
                  <a:tcPr/>
                </a:tc>
              </a:tr>
              <a:tr h="418465">
                <a:tc>
                  <a:txBody>
                    <a:bodyPr/>
                    <a:lstStyle/>
                    <a:p>
                      <a:pPr algn="ctr"/>
                      <a:r>
                        <a:rPr lang="ru-RU" b="1" dirty="0" smtClean="0"/>
                        <a:t>Б</a:t>
                      </a:r>
                      <a:endParaRPr lang="ru-RU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1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0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1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1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0</a:t>
                      </a:r>
                      <a:endParaRPr lang="ru-RU" dirty="0"/>
                    </a:p>
                  </a:txBody>
                  <a:tcPr/>
                </a:tc>
              </a:tr>
              <a:tr h="418465">
                <a:tc>
                  <a:txBody>
                    <a:bodyPr/>
                    <a:lstStyle/>
                    <a:p>
                      <a:pPr algn="ctr"/>
                      <a:r>
                        <a:rPr lang="ru-RU" b="1" dirty="0" smtClean="0"/>
                        <a:t>К</a:t>
                      </a:r>
                      <a:endParaRPr lang="ru-RU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1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1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0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0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1</a:t>
                      </a:r>
                      <a:endParaRPr lang="ru-RU" dirty="0"/>
                    </a:p>
                  </a:txBody>
                  <a:tcPr/>
                </a:tc>
              </a:tr>
              <a:tr h="418465">
                <a:tc>
                  <a:txBody>
                    <a:bodyPr/>
                    <a:lstStyle/>
                    <a:p>
                      <a:pPr algn="ctr"/>
                      <a:r>
                        <a:rPr lang="ru-RU" b="1" dirty="0" smtClean="0"/>
                        <a:t>М</a:t>
                      </a:r>
                      <a:endParaRPr lang="ru-RU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0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1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0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0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0</a:t>
                      </a:r>
                      <a:endParaRPr lang="ru-RU" dirty="0"/>
                    </a:p>
                  </a:txBody>
                  <a:tcPr/>
                </a:tc>
              </a:tr>
              <a:tr h="418465">
                <a:tc>
                  <a:txBody>
                    <a:bodyPr/>
                    <a:lstStyle/>
                    <a:p>
                      <a:pPr algn="ctr"/>
                      <a:r>
                        <a:rPr lang="ru-RU" b="1" dirty="0" smtClean="0"/>
                        <a:t>Р</a:t>
                      </a:r>
                      <a:endParaRPr lang="ru-RU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0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0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1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0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0</a:t>
                      </a:r>
                      <a:endParaRPr lang="ru-RU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27" name="TextBox 26"/>
          <p:cNvSpPr txBox="1"/>
          <p:nvPr/>
        </p:nvSpPr>
        <p:spPr>
          <a:xfrm>
            <a:off x="0" y="6211669"/>
            <a:ext cx="9144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i="1" dirty="0" smtClean="0">
                <a:solidFill>
                  <a:schemeClr val="bg1"/>
                </a:solidFill>
              </a:rPr>
              <a:t>Матрица симметрична относительно главной диагонали для неориентированного графа</a:t>
            </a:r>
            <a:endParaRPr lang="ru-RU" b="1" i="1" dirty="0">
              <a:solidFill>
                <a:schemeClr val="bg1"/>
              </a:solidFill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strips dir="rd"/>
  </p:transition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Таблица 1"/>
          <p:cNvGraphicFramePr>
            <a:graphicFrameLocks noGrp="1"/>
          </p:cNvGraphicFramePr>
          <p:nvPr/>
        </p:nvGraphicFramePr>
        <p:xfrm>
          <a:off x="1500169" y="1643052"/>
          <a:ext cx="6286540" cy="235745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57308"/>
                <a:gridCol w="1257308"/>
                <a:gridCol w="1257308"/>
                <a:gridCol w="1257308"/>
                <a:gridCol w="1257308"/>
              </a:tblGrid>
              <a:tr h="471491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ru-RU" sz="1800" dirty="0">
                        <a:solidFill>
                          <a:srgbClr val="C0C0C0"/>
                        </a:solidFill>
                        <a:highlight>
                          <a:srgbClr val="C0C0C0"/>
                        </a:highlight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dirty="0">
                          <a:latin typeface="Arial"/>
                          <a:ea typeface="Times New Roman"/>
                          <a:cs typeface="Times New Roman"/>
                        </a:rPr>
                        <a:t>A</a:t>
                      </a:r>
                      <a:endParaRPr lang="ru-RU" sz="18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dirty="0">
                          <a:latin typeface="Arial"/>
                          <a:ea typeface="Times New Roman"/>
                          <a:cs typeface="Times New Roman"/>
                        </a:rPr>
                        <a:t>B</a:t>
                      </a:r>
                      <a:endParaRPr lang="ru-RU" sz="18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dirty="0">
                          <a:latin typeface="Arial"/>
                          <a:ea typeface="Times New Roman"/>
                          <a:cs typeface="Times New Roman"/>
                        </a:rPr>
                        <a:t>C</a:t>
                      </a:r>
                      <a:endParaRPr lang="ru-RU" sz="18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dirty="0">
                          <a:latin typeface="Arial"/>
                          <a:ea typeface="Times New Roman"/>
                          <a:cs typeface="Times New Roman"/>
                        </a:rPr>
                        <a:t>D</a:t>
                      </a:r>
                      <a:endParaRPr lang="ru-RU" sz="18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</a:tr>
              <a:tr h="471491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dirty="0">
                          <a:latin typeface="Arial"/>
                          <a:ea typeface="Times New Roman"/>
                          <a:cs typeface="Times New Roman"/>
                        </a:rPr>
                        <a:t>A</a:t>
                      </a:r>
                      <a:endParaRPr lang="ru-RU" sz="18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n-US" sz="18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>
                          <a:latin typeface="Arial"/>
                          <a:ea typeface="Times New Roman"/>
                          <a:cs typeface="Times New Roman"/>
                        </a:rPr>
                        <a:t>4</a:t>
                      </a:r>
                      <a:endParaRPr lang="ru-RU" sz="18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n-US" sz="18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dirty="0">
                          <a:latin typeface="Arial"/>
                          <a:ea typeface="Times New Roman"/>
                          <a:cs typeface="Times New Roman"/>
                        </a:rPr>
                        <a:t>5</a:t>
                      </a:r>
                      <a:endParaRPr lang="ru-RU" sz="18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</a:tr>
              <a:tr h="471491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dirty="0">
                          <a:latin typeface="Arial"/>
                          <a:ea typeface="Times New Roman"/>
                          <a:cs typeface="Times New Roman"/>
                        </a:rPr>
                        <a:t>B</a:t>
                      </a:r>
                      <a:endParaRPr lang="ru-RU" sz="18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>
                          <a:latin typeface="Arial"/>
                          <a:ea typeface="Times New Roman"/>
                          <a:cs typeface="Times New Roman"/>
                        </a:rPr>
                        <a:t>4</a:t>
                      </a:r>
                      <a:endParaRPr lang="ru-RU" sz="18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n-US" sz="18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>
                          <a:latin typeface="Arial"/>
                          <a:ea typeface="Times New Roman"/>
                          <a:cs typeface="Times New Roman"/>
                        </a:rPr>
                        <a:t>3</a:t>
                      </a:r>
                      <a:endParaRPr lang="ru-RU" sz="18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dirty="0">
                          <a:latin typeface="Arial"/>
                          <a:ea typeface="Times New Roman"/>
                          <a:cs typeface="Times New Roman"/>
                        </a:rPr>
                        <a:t>6</a:t>
                      </a:r>
                      <a:endParaRPr lang="ru-RU" sz="18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</a:tr>
              <a:tr h="471491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>
                          <a:latin typeface="Arial"/>
                          <a:ea typeface="Times New Roman"/>
                          <a:cs typeface="Times New Roman"/>
                        </a:rPr>
                        <a:t>C</a:t>
                      </a:r>
                      <a:endParaRPr lang="ru-RU" sz="18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n-US" sz="18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>
                          <a:latin typeface="Arial"/>
                          <a:ea typeface="Times New Roman"/>
                          <a:cs typeface="Times New Roman"/>
                        </a:rPr>
                        <a:t>3</a:t>
                      </a:r>
                      <a:endParaRPr lang="ru-RU" sz="18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n-US" sz="18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n-US" sz="1800" dirty="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</a:tr>
              <a:tr h="471491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>
                          <a:latin typeface="Arial"/>
                          <a:ea typeface="Times New Roman"/>
                          <a:cs typeface="Times New Roman"/>
                        </a:rPr>
                        <a:t>D</a:t>
                      </a:r>
                      <a:endParaRPr lang="ru-RU" sz="18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>
                          <a:latin typeface="Arial"/>
                          <a:ea typeface="Times New Roman"/>
                          <a:cs typeface="Times New Roman"/>
                        </a:rPr>
                        <a:t>5</a:t>
                      </a:r>
                      <a:endParaRPr lang="ru-RU" sz="18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>
                          <a:latin typeface="Arial"/>
                          <a:ea typeface="Times New Roman"/>
                          <a:cs typeface="Times New Roman"/>
                        </a:rPr>
                        <a:t>6</a:t>
                      </a:r>
                      <a:endParaRPr lang="ru-RU" sz="18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n-US" sz="18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n-US" sz="1800" dirty="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</a:tr>
            </a:tbl>
          </a:graphicData>
        </a:graphic>
      </p:graphicFrame>
      <p:sp>
        <p:nvSpPr>
          <p:cNvPr id="3" name="Прямоугольник 2"/>
          <p:cNvSpPr/>
          <p:nvPr/>
        </p:nvSpPr>
        <p:spPr>
          <a:xfrm>
            <a:off x="714348" y="428604"/>
            <a:ext cx="7929618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800" b="1" dirty="0" smtClean="0">
                <a:solidFill>
                  <a:schemeClr val="bg1"/>
                </a:solidFill>
              </a:rPr>
              <a:t>Задание 1. </a:t>
            </a:r>
            <a:r>
              <a:rPr lang="ru-RU" sz="2800" b="1" i="1" dirty="0" smtClean="0">
                <a:solidFill>
                  <a:schemeClr val="bg1"/>
                </a:solidFill>
              </a:rPr>
              <a:t>(Задание А12 демоверсии 2006 г.)</a:t>
            </a:r>
            <a:endParaRPr lang="ru-RU" sz="2800" b="1" dirty="0" smtClean="0">
              <a:solidFill>
                <a:schemeClr val="bg1"/>
              </a:solidFill>
            </a:endParaRPr>
          </a:p>
          <a:p>
            <a:r>
              <a:rPr lang="ru-RU" b="1" dirty="0" smtClean="0">
                <a:solidFill>
                  <a:schemeClr val="bg1"/>
                </a:solidFill>
              </a:rPr>
              <a:t>В таблице приведена стоимость перевозок между соседними железнодорожными станциями. Укажите схему, соответствующую таблице.</a:t>
            </a:r>
          </a:p>
        </p:txBody>
      </p:sp>
      <p:pic>
        <p:nvPicPr>
          <p:cNvPr id="4" name="Picture 2" descr="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85720" y="4642316"/>
            <a:ext cx="2618236" cy="19299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" name="Picture 3" descr="2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2500298" y="4643446"/>
            <a:ext cx="2000264" cy="19331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" name="Picture 4" descr="4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4500562" y="4500570"/>
            <a:ext cx="2279313" cy="20717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" name="Picture 5" descr="1"/>
          <p:cNvPicPr>
            <a:picLocks noChangeAspect="1"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6572264" y="4643447"/>
            <a:ext cx="2306187" cy="1928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aphicFrame>
        <p:nvGraphicFramePr>
          <p:cNvPr id="8" name="Таблица 7"/>
          <p:cNvGraphicFramePr>
            <a:graphicFrameLocks noGrp="1"/>
          </p:cNvGraphicFramePr>
          <p:nvPr/>
        </p:nvGraphicFramePr>
        <p:xfrm>
          <a:off x="357156" y="4429132"/>
          <a:ext cx="8501124" cy="274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79776"/>
                <a:gridCol w="2179776"/>
                <a:gridCol w="2179776"/>
                <a:gridCol w="1961796"/>
              </a:tblGrid>
              <a:tr h="142876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ru-RU" sz="1800" dirty="0">
                          <a:latin typeface="Arial"/>
                          <a:ea typeface="Times New Roman"/>
                          <a:cs typeface="Times New Roman"/>
                        </a:rPr>
                        <a:t>1)</a:t>
                      </a:r>
                      <a:endParaRPr lang="ru-RU" sz="18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ru-RU" sz="1800" dirty="0">
                          <a:latin typeface="Arial"/>
                          <a:ea typeface="Times New Roman"/>
                          <a:cs typeface="Times New Roman"/>
                        </a:rPr>
                        <a:t>2)</a:t>
                      </a:r>
                      <a:endParaRPr lang="ru-RU" sz="18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ru-RU" sz="1800">
                          <a:latin typeface="Arial"/>
                          <a:ea typeface="Times New Roman"/>
                          <a:cs typeface="Times New Roman"/>
                        </a:rPr>
                        <a:t>3)</a:t>
                      </a:r>
                      <a:endParaRPr lang="ru-RU" sz="18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ru-RU" sz="1800" dirty="0">
                          <a:latin typeface="Arial"/>
                          <a:ea typeface="Times New Roman"/>
                          <a:cs typeface="Times New Roman"/>
                        </a:rPr>
                        <a:t>4)</a:t>
                      </a:r>
                      <a:endParaRPr lang="ru-RU" sz="18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</a:tr>
            </a:tbl>
          </a:graphicData>
        </a:graphic>
      </p:graphicFrame>
      <p:sp>
        <p:nvSpPr>
          <p:cNvPr id="9" name="Стрелка влево 8">
            <a:hlinkClick r:id="rId7" action="ppaction://hlinksldjump"/>
          </p:cNvPr>
          <p:cNvSpPr/>
          <p:nvPr/>
        </p:nvSpPr>
        <p:spPr>
          <a:xfrm>
            <a:off x="571472" y="6572248"/>
            <a:ext cx="1928826" cy="285752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Назад к меню</a:t>
            </a:r>
            <a:endParaRPr lang="ru-RU" dirty="0"/>
          </a:p>
        </p:txBody>
      </p:sp>
      <p:sp>
        <p:nvSpPr>
          <p:cNvPr id="10" name="Стрелка вправо 9">
            <a:hlinkClick r:id="rId8" action="ppaction://hlinksldjump"/>
          </p:cNvPr>
          <p:cNvSpPr/>
          <p:nvPr/>
        </p:nvSpPr>
        <p:spPr>
          <a:xfrm>
            <a:off x="3143240" y="6500834"/>
            <a:ext cx="1214446" cy="35716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задачи</a:t>
            </a:r>
            <a:endParaRPr lang="ru-RU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strips dir="rd"/>
  </p:transition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5" name="Rectangle 1"/>
          <p:cNvSpPr>
            <a:spLocks noChangeArrowheads="1"/>
          </p:cNvSpPr>
          <p:nvPr/>
        </p:nvSpPr>
        <p:spPr bwMode="auto">
          <a:xfrm>
            <a:off x="0" y="1000108"/>
            <a:ext cx="9144000" cy="470898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>
                <a:tab pos="384175" algn="l"/>
              </a:tabLst>
            </a:pPr>
            <a:r>
              <a:rPr kumimoji="0" lang="ru-RU" sz="2000" b="0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Arial" pitchFamily="34" charset="0"/>
                <a:ea typeface="Times New Roman" pitchFamily="18" charset="0"/>
              </a:rPr>
              <a:t>Двоичные матрицы удобно использовать для решения некоторых логических задач — головоломок. Попробуйте таким путем решить следующие задачи.</a:t>
            </a:r>
            <a:endParaRPr kumimoji="0" lang="ru-RU" sz="2000" b="0" i="0" u="none" strike="noStrike" cap="none" normalizeH="0" baseline="0" dirty="0" smtClean="0">
              <a:ln>
                <a:noFill/>
              </a:ln>
              <a:solidFill>
                <a:schemeClr val="bg1"/>
              </a:solidFill>
              <a:effectLst/>
              <a:latin typeface="Arial" pitchFamily="34" charset="0"/>
            </a:endParaRP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>
                <a:tab pos="384175" algn="l"/>
              </a:tabLst>
            </a:pPr>
            <a:r>
              <a:rPr kumimoji="0" lang="ru-RU" sz="2000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Arial" pitchFamily="34" charset="0"/>
                <a:ea typeface="Times New Roman" pitchFamily="18" charset="0"/>
              </a:rPr>
              <a:t>Имена Иванова, Петрова, Семенова и Николаева — Иван, Петр, Семен и Николай, причем только у Николаева имя совпадает с фамилией, т. е. его зовут Николай. Семенова зовут не Петром. Определить фамилию и имя каждого человека.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>
                <a:tab pos="384175" algn="l"/>
              </a:tabLst>
            </a:pPr>
            <a:endParaRPr kumimoji="0" lang="ru-RU" sz="2000" i="0" u="none" strike="noStrike" cap="none" normalizeH="0" baseline="0" dirty="0" smtClean="0">
              <a:ln>
                <a:noFill/>
              </a:ln>
              <a:solidFill>
                <a:schemeClr val="bg1"/>
              </a:solidFill>
              <a:effectLst/>
              <a:latin typeface="Arial" pitchFamily="34" charset="0"/>
              <a:ea typeface="Times New Roman" pitchFamily="18" charset="0"/>
            </a:endParaRPr>
          </a:p>
          <a:p>
            <a:pPr marL="457200" indent="-4572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  <a:tabLst>
                <a:tab pos="384175" algn="l"/>
              </a:tabLst>
            </a:pPr>
            <a:r>
              <a:rPr lang="ru-RU" sz="2000" dirty="0" smtClean="0">
                <a:solidFill>
                  <a:schemeClr val="bg1"/>
                </a:solidFill>
                <a:latin typeface="Arial" pitchFamily="34" charset="0"/>
                <a:ea typeface="Times New Roman" pitchFamily="18" charset="0"/>
              </a:rPr>
              <a:t>В Норильске, Москве, Ростове и Пятигорске живут четыре супружеские пары, причем в каждом городе — только одна пара. Имена этих супругов: Антон, Борис, Давид, Григорий, Ольга, Мария, Светлана, Екатерина. Антон живет в Норильске, Борис и Ольга — супруги, Григорий и Светлана не живут в одном городе, Мария живет в Москве, Светлана — </a:t>
            </a:r>
            <a:r>
              <a:rPr lang="ru-RU" sz="2000" dirty="0" err="1" smtClean="0">
                <a:solidFill>
                  <a:schemeClr val="bg1"/>
                </a:solidFill>
                <a:latin typeface="Arial" pitchFamily="34" charset="0"/>
                <a:ea typeface="Times New Roman" pitchFamily="18" charset="0"/>
              </a:rPr>
              <a:t>ростовчанка</a:t>
            </a:r>
            <a:r>
              <a:rPr lang="ru-RU" sz="2000" dirty="0" smtClean="0">
                <a:solidFill>
                  <a:schemeClr val="bg1"/>
                </a:solidFill>
                <a:latin typeface="Arial" pitchFamily="34" charset="0"/>
                <a:ea typeface="Times New Roman" pitchFamily="18" charset="0"/>
              </a:rPr>
              <a:t>. Кто на ком женат и кто где живет?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>
                <a:tab pos="384175" algn="l"/>
              </a:tabLst>
            </a:pPr>
            <a:endParaRPr kumimoji="0" lang="ru-RU" sz="2000" b="0" i="0" u="none" strike="noStrike" cap="none" normalizeH="0" baseline="0" dirty="0" smtClean="0">
              <a:ln>
                <a:noFill/>
              </a:ln>
              <a:solidFill>
                <a:schemeClr val="bg1"/>
              </a:solidFill>
              <a:effectLst/>
              <a:latin typeface="Arial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714612" y="285728"/>
            <a:ext cx="264320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3200" dirty="0" smtClean="0">
                <a:solidFill>
                  <a:schemeClr val="bg1"/>
                </a:solidFill>
              </a:rPr>
              <a:t>Задания</a:t>
            </a:r>
            <a:endParaRPr lang="ru-RU" sz="3200" dirty="0">
              <a:solidFill>
                <a:schemeClr val="bg1"/>
              </a:solidFill>
            </a:endParaRPr>
          </a:p>
        </p:txBody>
      </p:sp>
      <p:sp>
        <p:nvSpPr>
          <p:cNvPr id="5" name="Стрелка вправо 4"/>
          <p:cNvSpPr/>
          <p:nvPr/>
        </p:nvSpPr>
        <p:spPr>
          <a:xfrm>
            <a:off x="6572264" y="6000768"/>
            <a:ext cx="2000264" cy="35719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К </a:t>
            </a:r>
            <a:r>
              <a:rPr lang="ru-RU" dirty="0" smtClean="0">
                <a:hlinkClick r:id="rId3" action="ppaction://hlinksldjump"/>
              </a:rPr>
              <a:t>решению</a:t>
            </a:r>
            <a:endParaRPr lang="ru-RU" dirty="0"/>
          </a:p>
        </p:txBody>
      </p:sp>
      <p:sp>
        <p:nvSpPr>
          <p:cNvPr id="6" name="Стрелка влево 5">
            <a:hlinkClick r:id="rId4" action="ppaction://hlinksldjump"/>
          </p:cNvPr>
          <p:cNvSpPr/>
          <p:nvPr/>
        </p:nvSpPr>
        <p:spPr>
          <a:xfrm>
            <a:off x="428596" y="6072206"/>
            <a:ext cx="1857388" cy="357190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Назад к меню</a:t>
            </a:r>
            <a:endParaRPr lang="ru-RU" dirty="0"/>
          </a:p>
        </p:txBody>
      </p:sp>
      <p:sp>
        <p:nvSpPr>
          <p:cNvPr id="7" name="Стрелка вправо 6"/>
          <p:cNvSpPr/>
          <p:nvPr/>
        </p:nvSpPr>
        <p:spPr>
          <a:xfrm>
            <a:off x="3500430" y="5929330"/>
            <a:ext cx="2571768" cy="50006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К следующей задаче</a:t>
            </a:r>
            <a:endParaRPr lang="ru-RU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strips dir="rd"/>
  </p:transition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3000364" y="285728"/>
            <a:ext cx="264320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3200" dirty="0" smtClean="0">
                <a:solidFill>
                  <a:schemeClr val="bg1"/>
                </a:solidFill>
              </a:rPr>
              <a:t>Задания</a:t>
            </a:r>
            <a:endParaRPr lang="ru-RU" sz="3200" dirty="0">
              <a:solidFill>
                <a:schemeClr val="bg1"/>
              </a:solidFill>
            </a:endParaRPr>
          </a:p>
        </p:txBody>
      </p:sp>
      <p:sp>
        <p:nvSpPr>
          <p:cNvPr id="35843" name="Rectangle 3"/>
          <p:cNvSpPr>
            <a:spLocks noChangeArrowheads="1"/>
          </p:cNvSpPr>
          <p:nvPr/>
        </p:nvSpPr>
        <p:spPr bwMode="auto">
          <a:xfrm>
            <a:off x="285720" y="1071546"/>
            <a:ext cx="8429684" cy="440120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231775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 startAt="4"/>
              <a:tabLst>
                <a:tab pos="217488" algn="l"/>
              </a:tabLst>
            </a:pPr>
            <a:r>
              <a:rPr kumimoji="0" lang="ru-RU" sz="2000" b="0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Arial" pitchFamily="34" charset="0"/>
                <a:ea typeface="Times New Roman" pitchFamily="18" charset="0"/>
              </a:rPr>
              <a:t> В школе учатся четыре талантливых мальчика: Иванов, Петров, Сидоров и Андреев. Один из них — будущий музыкант, другой преуспел в бальных танцах, третий — солист хора мальчиков, четвертый подает надежды как художник.</a:t>
            </a:r>
            <a:endParaRPr kumimoji="0" lang="ru-RU" sz="2000" b="0" i="0" u="none" strike="noStrike" cap="none" normalizeH="0" baseline="0" dirty="0" smtClean="0">
              <a:ln>
                <a:noFill/>
              </a:ln>
              <a:solidFill>
                <a:schemeClr val="bg1"/>
              </a:solidFill>
              <a:effectLst/>
              <a:latin typeface="Arial" pitchFamily="34" charset="0"/>
            </a:endParaRPr>
          </a:p>
          <a:p>
            <a:pPr marL="0" marR="0" lvl="0" indent="231775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217488" algn="l"/>
              </a:tabLst>
            </a:pPr>
            <a:endParaRPr kumimoji="0" lang="ru-RU" sz="2000" b="0" i="0" u="none" strike="noStrike" cap="none" normalizeH="0" baseline="0" dirty="0" smtClean="0">
              <a:ln>
                <a:noFill/>
              </a:ln>
              <a:solidFill>
                <a:schemeClr val="bg1"/>
              </a:solidFill>
              <a:effectLst/>
              <a:latin typeface="Arial" pitchFamily="34" charset="0"/>
              <a:ea typeface="Times New Roman" pitchFamily="18" charset="0"/>
            </a:endParaRPr>
          </a:p>
          <a:p>
            <a:pPr marL="0" marR="0" lvl="0" indent="231775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217488" algn="l"/>
              </a:tabLst>
            </a:pPr>
            <a:r>
              <a:rPr kumimoji="0" lang="ru-RU" sz="2000" b="0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Arial" pitchFamily="34" charset="0"/>
                <a:ea typeface="Times New Roman" pitchFamily="18" charset="0"/>
              </a:rPr>
              <a:t>О них известно следующее:</a:t>
            </a:r>
            <a:endParaRPr kumimoji="0" lang="ru-RU" sz="2000" b="0" i="0" u="none" strike="noStrike" cap="none" normalizeH="0" baseline="0" dirty="0" smtClean="0">
              <a:ln>
                <a:noFill/>
              </a:ln>
              <a:solidFill>
                <a:schemeClr val="bg1"/>
              </a:solidFill>
              <a:effectLst/>
              <a:latin typeface="Arial" pitchFamily="34" charset="0"/>
            </a:endParaRPr>
          </a:p>
          <a:p>
            <a:pPr marR="0" lvl="0" indent="357188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q"/>
              <a:tabLst>
                <a:tab pos="442913" algn="l"/>
              </a:tabLst>
            </a:pPr>
            <a:r>
              <a:rPr kumimoji="0" lang="ru-RU" sz="2000" b="0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Arial" pitchFamily="34" charset="0"/>
                <a:ea typeface="Times New Roman" pitchFamily="18" charset="0"/>
              </a:rPr>
              <a:t>Иванов и Сидоров присутствовали в зале консерватории, когда там солировал в хоре мальчиков певец.</a:t>
            </a:r>
            <a:endParaRPr kumimoji="0" lang="ru-RU" sz="2000" b="0" i="0" u="none" strike="noStrike" cap="none" normalizeH="0" baseline="0" dirty="0" smtClean="0">
              <a:ln>
                <a:noFill/>
              </a:ln>
              <a:solidFill>
                <a:schemeClr val="bg1"/>
              </a:solidFill>
              <a:effectLst/>
              <a:latin typeface="Arial" pitchFamily="34" charset="0"/>
            </a:endParaRPr>
          </a:p>
          <a:p>
            <a:pPr indent="357188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q"/>
              <a:tabLst>
                <a:tab pos="442913" algn="l"/>
              </a:tabLst>
            </a:pPr>
            <a:r>
              <a:rPr lang="ru-RU" sz="2000" dirty="0" smtClean="0">
                <a:solidFill>
                  <a:schemeClr val="bg1"/>
                </a:solidFill>
                <a:latin typeface="Arial" pitchFamily="34" charset="0"/>
                <a:ea typeface="Times New Roman" pitchFamily="18" charset="0"/>
              </a:rPr>
              <a:t>Петров и музыкант вместе позировали художнику.</a:t>
            </a:r>
          </a:p>
          <a:p>
            <a:pPr indent="357188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q"/>
              <a:tabLst>
                <a:tab pos="442913" algn="l"/>
              </a:tabLst>
            </a:pPr>
            <a:r>
              <a:rPr lang="ru-RU" sz="2000" dirty="0" smtClean="0">
                <a:solidFill>
                  <a:schemeClr val="bg1"/>
                </a:solidFill>
                <a:latin typeface="Arial" pitchFamily="34" charset="0"/>
                <a:ea typeface="Times New Roman" pitchFamily="18" charset="0"/>
              </a:rPr>
              <a:t>Музыкант раньше дружил с Андреевым, а теперь хочет позна­комиться с Ивановым.</a:t>
            </a:r>
          </a:p>
          <a:p>
            <a:pPr indent="357188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q"/>
              <a:tabLst>
                <a:tab pos="442913" algn="l"/>
              </a:tabLst>
            </a:pPr>
            <a:r>
              <a:rPr lang="ru-RU" sz="2000" dirty="0" smtClean="0">
                <a:solidFill>
                  <a:schemeClr val="bg1"/>
                </a:solidFill>
                <a:latin typeface="Arial" pitchFamily="34" charset="0"/>
                <a:ea typeface="Times New Roman" pitchFamily="18" charset="0"/>
              </a:rPr>
              <a:t>Иванов не знаком с Сидоровым, так как они учатся в разных кл</a:t>
            </a:r>
            <a:r>
              <a:rPr kumimoji="0" lang="ru-RU" sz="2000" b="0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Arial" pitchFamily="34" charset="0"/>
                <a:ea typeface="Times New Roman" pitchFamily="18" charset="0"/>
              </a:rPr>
              <a:t>ассах и в разные смены.</a:t>
            </a:r>
            <a:endParaRPr kumimoji="0" lang="ru-RU" sz="2000" b="0" i="0" u="none" strike="noStrike" cap="none" normalizeH="0" baseline="0" dirty="0" smtClean="0">
              <a:ln>
                <a:noFill/>
              </a:ln>
              <a:solidFill>
                <a:schemeClr val="bg1"/>
              </a:solidFill>
              <a:effectLst/>
              <a:latin typeface="Arial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217488" algn="l"/>
              </a:tabLst>
            </a:pPr>
            <a:r>
              <a:rPr kumimoji="0" lang="ru-RU" sz="2000" b="0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Arial" pitchFamily="34" charset="0"/>
                <a:ea typeface="Times New Roman" pitchFamily="18" charset="0"/>
              </a:rPr>
              <a:t>Кто чем увлекается?</a:t>
            </a:r>
            <a:endParaRPr kumimoji="0" lang="ru-RU" sz="2000" b="0" i="0" u="none" strike="noStrike" cap="none" normalizeH="0" baseline="0" dirty="0" smtClean="0">
              <a:ln>
                <a:noFill/>
              </a:ln>
              <a:solidFill>
                <a:schemeClr val="bg1"/>
              </a:solidFill>
              <a:effectLst/>
              <a:latin typeface="Arial" pitchFamily="34" charset="0"/>
            </a:endParaRPr>
          </a:p>
        </p:txBody>
      </p:sp>
      <p:sp>
        <p:nvSpPr>
          <p:cNvPr id="9" name="Стрелка влево 8">
            <a:hlinkClick r:id="rId3" action="ppaction://hlinksldjump"/>
          </p:cNvPr>
          <p:cNvSpPr/>
          <p:nvPr/>
        </p:nvSpPr>
        <p:spPr>
          <a:xfrm>
            <a:off x="428596" y="5929330"/>
            <a:ext cx="1857388" cy="357190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Назад к меню</a:t>
            </a:r>
            <a:endParaRPr lang="ru-RU" dirty="0"/>
          </a:p>
        </p:txBody>
      </p:sp>
      <p:sp>
        <p:nvSpPr>
          <p:cNvPr id="10" name="Стрелка вправо 9">
            <a:hlinkClick r:id="rId4" action="ppaction://hlinksldjump"/>
          </p:cNvPr>
          <p:cNvSpPr/>
          <p:nvPr/>
        </p:nvSpPr>
        <p:spPr>
          <a:xfrm>
            <a:off x="6500826" y="6000768"/>
            <a:ext cx="1500198" cy="35719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К решению</a:t>
            </a:r>
            <a:endParaRPr lang="ru-RU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strips dir="rd"/>
  </p:transition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" name="Таблица 10"/>
          <p:cNvGraphicFramePr>
            <a:graphicFrameLocks noGrp="1"/>
          </p:cNvGraphicFramePr>
          <p:nvPr/>
        </p:nvGraphicFramePr>
        <p:xfrm>
          <a:off x="857224" y="428604"/>
          <a:ext cx="7358115" cy="24288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71623"/>
                <a:gridCol w="1471623"/>
                <a:gridCol w="1471623"/>
                <a:gridCol w="1471623"/>
                <a:gridCol w="1471623"/>
              </a:tblGrid>
              <a:tr h="485778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ИВАН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ПЕТР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СЕМЁН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НИКОЛАЙ</a:t>
                      </a:r>
                      <a:endParaRPr lang="ru-RU" dirty="0"/>
                    </a:p>
                  </a:txBody>
                  <a:tcPr/>
                </a:tc>
              </a:tr>
              <a:tr h="485778">
                <a:tc>
                  <a:txBody>
                    <a:bodyPr/>
                    <a:lstStyle/>
                    <a:p>
                      <a:r>
                        <a:rPr lang="ru-RU" dirty="0" smtClean="0"/>
                        <a:t>ИВАНОВ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ru-RU" sz="2400" dirty="0"/>
                    </a:p>
                  </a:txBody>
                  <a:tcPr/>
                </a:tc>
              </a:tr>
              <a:tr h="485778">
                <a:tc>
                  <a:txBody>
                    <a:bodyPr/>
                    <a:lstStyle/>
                    <a:p>
                      <a:r>
                        <a:rPr lang="ru-RU" dirty="0" smtClean="0"/>
                        <a:t>ПЕТРОВ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ru-RU" sz="2400" dirty="0"/>
                    </a:p>
                  </a:txBody>
                  <a:tcPr/>
                </a:tc>
              </a:tr>
              <a:tr h="485778">
                <a:tc>
                  <a:txBody>
                    <a:bodyPr/>
                    <a:lstStyle/>
                    <a:p>
                      <a:r>
                        <a:rPr lang="ru-RU" dirty="0" smtClean="0"/>
                        <a:t>СЕМЁНОВ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ru-RU" sz="2400" dirty="0"/>
                    </a:p>
                  </a:txBody>
                  <a:tcPr/>
                </a:tc>
              </a:tr>
              <a:tr h="485778">
                <a:tc>
                  <a:txBody>
                    <a:bodyPr/>
                    <a:lstStyle/>
                    <a:p>
                      <a:r>
                        <a:rPr lang="ru-RU" dirty="0" smtClean="0"/>
                        <a:t>НИКОЛАЕВ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ru-RU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ru-RU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ru-RU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ru-RU" sz="2400" dirty="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2" name="Таблица 1"/>
          <p:cNvGraphicFramePr>
            <a:graphicFrameLocks noGrp="1"/>
          </p:cNvGraphicFramePr>
          <p:nvPr/>
        </p:nvGraphicFramePr>
        <p:xfrm>
          <a:off x="857224" y="357166"/>
          <a:ext cx="7358115" cy="24288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71623"/>
                <a:gridCol w="1471623"/>
                <a:gridCol w="1471623"/>
                <a:gridCol w="1471623"/>
                <a:gridCol w="1471623"/>
              </a:tblGrid>
              <a:tr h="485778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ИВАН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ПЕТР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СЕМЁН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НИКОЛАЙ</a:t>
                      </a:r>
                      <a:endParaRPr lang="ru-RU" dirty="0"/>
                    </a:p>
                  </a:txBody>
                  <a:tcPr/>
                </a:tc>
              </a:tr>
              <a:tr h="485778">
                <a:tc>
                  <a:txBody>
                    <a:bodyPr/>
                    <a:lstStyle/>
                    <a:p>
                      <a:r>
                        <a:rPr lang="ru-RU" dirty="0" smtClean="0"/>
                        <a:t>ИВАНОВ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400" dirty="0" smtClean="0"/>
                        <a:t>0</a:t>
                      </a:r>
                      <a:endParaRPr lang="ru-RU" sz="2400" dirty="0"/>
                    </a:p>
                  </a:txBody>
                  <a:tcPr/>
                </a:tc>
              </a:tr>
              <a:tr h="485778">
                <a:tc>
                  <a:txBody>
                    <a:bodyPr/>
                    <a:lstStyle/>
                    <a:p>
                      <a:r>
                        <a:rPr lang="ru-RU" dirty="0" smtClean="0"/>
                        <a:t>ПЕТРОВ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400" dirty="0" smtClean="0"/>
                        <a:t>0</a:t>
                      </a:r>
                      <a:endParaRPr lang="ru-RU" sz="2400" dirty="0"/>
                    </a:p>
                  </a:txBody>
                  <a:tcPr/>
                </a:tc>
              </a:tr>
              <a:tr h="485778">
                <a:tc>
                  <a:txBody>
                    <a:bodyPr/>
                    <a:lstStyle/>
                    <a:p>
                      <a:r>
                        <a:rPr lang="ru-RU" dirty="0" smtClean="0"/>
                        <a:t>СЕМЁНОВ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400" dirty="0" smtClean="0"/>
                        <a:t>0</a:t>
                      </a:r>
                      <a:endParaRPr lang="ru-RU" sz="2400" dirty="0"/>
                    </a:p>
                  </a:txBody>
                  <a:tcPr/>
                </a:tc>
              </a:tr>
              <a:tr h="485778">
                <a:tc>
                  <a:txBody>
                    <a:bodyPr/>
                    <a:lstStyle/>
                    <a:p>
                      <a:r>
                        <a:rPr lang="ru-RU" dirty="0" smtClean="0"/>
                        <a:t>НИКОЛАЕВ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400" dirty="0" smtClean="0"/>
                        <a:t>0</a:t>
                      </a:r>
                      <a:endParaRPr lang="ru-RU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400" dirty="0" smtClean="0"/>
                        <a:t>0</a:t>
                      </a:r>
                      <a:endParaRPr lang="ru-RU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400" dirty="0" smtClean="0"/>
                        <a:t>0</a:t>
                      </a:r>
                      <a:endParaRPr lang="ru-RU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400" dirty="0" smtClean="0"/>
                        <a:t>1</a:t>
                      </a:r>
                      <a:endParaRPr lang="ru-RU" sz="2400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928662" y="3500438"/>
            <a:ext cx="571504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/>
            <a:r>
              <a:rPr lang="ru-RU" b="1" dirty="0" smtClean="0">
                <a:solidFill>
                  <a:schemeClr val="bg1"/>
                </a:solidFill>
              </a:rPr>
              <a:t>Из  условия задачи :</a:t>
            </a:r>
          </a:p>
          <a:p>
            <a:pPr marL="342900" indent="-342900">
              <a:buFont typeface="+mj-lt"/>
              <a:buAutoNum type="arabicPeriod"/>
            </a:pPr>
            <a:r>
              <a:rPr lang="ru-RU" dirty="0" smtClean="0">
                <a:solidFill>
                  <a:schemeClr val="bg1"/>
                </a:solidFill>
              </a:rPr>
              <a:t> </a:t>
            </a:r>
            <a:r>
              <a:rPr lang="ru-RU" b="1" dirty="0" smtClean="0">
                <a:solidFill>
                  <a:schemeClr val="bg1"/>
                </a:solidFill>
              </a:rPr>
              <a:t>Николаев Николай</a:t>
            </a:r>
          </a:p>
          <a:p>
            <a:pPr marL="342900" indent="-342900">
              <a:buFont typeface="+mj-lt"/>
              <a:buAutoNum type="arabicPeriod"/>
            </a:pPr>
            <a:r>
              <a:rPr lang="ru-RU" b="1" dirty="0" smtClean="0">
                <a:solidFill>
                  <a:schemeClr val="bg1"/>
                </a:solidFill>
              </a:rPr>
              <a:t>Семёнов не Пётр</a:t>
            </a:r>
          </a:p>
          <a:p>
            <a:pPr marL="342900" indent="-342900">
              <a:buFont typeface="+mj-lt"/>
              <a:buAutoNum type="arabicPeriod"/>
            </a:pPr>
            <a:r>
              <a:rPr lang="ru-RU" b="1" dirty="0" smtClean="0">
                <a:solidFill>
                  <a:schemeClr val="bg1"/>
                </a:solidFill>
              </a:rPr>
              <a:t>У остальных имя не совпадает с фамилией</a:t>
            </a:r>
            <a:endParaRPr lang="ru-RU" b="1" dirty="0">
              <a:solidFill>
                <a:schemeClr val="bg1"/>
              </a:solidFill>
            </a:endParaRPr>
          </a:p>
        </p:txBody>
      </p:sp>
      <p:graphicFrame>
        <p:nvGraphicFramePr>
          <p:cNvPr id="4" name="Таблица 3"/>
          <p:cNvGraphicFramePr>
            <a:graphicFrameLocks noGrp="1"/>
          </p:cNvGraphicFramePr>
          <p:nvPr/>
        </p:nvGraphicFramePr>
        <p:xfrm>
          <a:off x="857224" y="357166"/>
          <a:ext cx="7358115" cy="23088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71623"/>
                <a:gridCol w="1471623"/>
                <a:gridCol w="1471623"/>
                <a:gridCol w="1471623"/>
                <a:gridCol w="1471623"/>
              </a:tblGrid>
              <a:tr h="128588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ИВАН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ПЕТР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СЕМЁН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НИКОЛАЙ</a:t>
                      </a:r>
                      <a:endParaRPr lang="ru-RU" dirty="0"/>
                    </a:p>
                  </a:txBody>
                  <a:tcPr/>
                </a:tc>
              </a:tr>
              <a:tr h="485778">
                <a:tc>
                  <a:txBody>
                    <a:bodyPr/>
                    <a:lstStyle/>
                    <a:p>
                      <a:r>
                        <a:rPr lang="ru-RU" dirty="0" smtClean="0"/>
                        <a:t>ИВАНОВ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400" dirty="0" smtClean="0"/>
                        <a:t>0</a:t>
                      </a:r>
                      <a:endParaRPr lang="ru-RU" sz="2400" dirty="0"/>
                    </a:p>
                  </a:txBody>
                  <a:tcPr/>
                </a:tc>
              </a:tr>
              <a:tr h="485778">
                <a:tc>
                  <a:txBody>
                    <a:bodyPr/>
                    <a:lstStyle/>
                    <a:p>
                      <a:r>
                        <a:rPr lang="ru-RU" dirty="0" smtClean="0"/>
                        <a:t>ПЕТРОВ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400" dirty="0" smtClean="0"/>
                        <a:t>0</a:t>
                      </a:r>
                      <a:endParaRPr lang="ru-RU" sz="2400" dirty="0"/>
                    </a:p>
                  </a:txBody>
                  <a:tcPr/>
                </a:tc>
              </a:tr>
              <a:tr h="485778">
                <a:tc>
                  <a:txBody>
                    <a:bodyPr/>
                    <a:lstStyle/>
                    <a:p>
                      <a:r>
                        <a:rPr lang="ru-RU" dirty="0" smtClean="0"/>
                        <a:t>СЕМЁНОВ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400" b="1" dirty="0" smtClean="0">
                          <a:solidFill>
                            <a:srgbClr val="00B050"/>
                          </a:solidFill>
                        </a:rPr>
                        <a:t>0</a:t>
                      </a:r>
                      <a:endParaRPr lang="ru-RU" sz="2400" b="1" dirty="0">
                        <a:solidFill>
                          <a:srgbClr val="00B05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400" dirty="0" smtClean="0"/>
                        <a:t>0</a:t>
                      </a:r>
                      <a:endParaRPr lang="ru-RU" sz="2400" dirty="0"/>
                    </a:p>
                  </a:txBody>
                  <a:tcPr/>
                </a:tc>
              </a:tr>
              <a:tr h="485778">
                <a:tc>
                  <a:txBody>
                    <a:bodyPr/>
                    <a:lstStyle/>
                    <a:p>
                      <a:r>
                        <a:rPr lang="ru-RU" dirty="0" smtClean="0"/>
                        <a:t>НИКОЛАЕВ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400" dirty="0" smtClean="0"/>
                        <a:t>0</a:t>
                      </a:r>
                      <a:endParaRPr lang="ru-RU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400" dirty="0" smtClean="0"/>
                        <a:t>0</a:t>
                      </a:r>
                      <a:endParaRPr lang="ru-RU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400" dirty="0" smtClean="0"/>
                        <a:t>0</a:t>
                      </a:r>
                      <a:endParaRPr lang="ru-RU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400" dirty="0" smtClean="0"/>
                        <a:t>1</a:t>
                      </a:r>
                      <a:endParaRPr lang="ru-RU" sz="2400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14348" y="4929199"/>
            <a:ext cx="457203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 smtClean="0">
                <a:solidFill>
                  <a:schemeClr val="bg1"/>
                </a:solidFill>
              </a:rPr>
              <a:t>Из таблицы видим:</a:t>
            </a:r>
          </a:p>
          <a:p>
            <a:pPr marL="342900" indent="-342900">
              <a:buFont typeface="+mj-lt"/>
              <a:buAutoNum type="arabicPeriod"/>
            </a:pPr>
            <a:r>
              <a:rPr lang="ru-RU" b="1" dirty="0" smtClean="0">
                <a:solidFill>
                  <a:srgbClr val="FFFF00"/>
                </a:solidFill>
              </a:rPr>
              <a:t>Иванов Пётр, следовательно он не может быть Семёном.</a:t>
            </a:r>
          </a:p>
          <a:p>
            <a:pPr marL="342900" indent="-342900">
              <a:buFont typeface="+mj-lt"/>
              <a:buAutoNum type="arabicPeriod"/>
            </a:pPr>
            <a:endParaRPr lang="ru-RU" b="1" dirty="0">
              <a:solidFill>
                <a:srgbClr val="FFFF00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14348" y="5786454"/>
            <a:ext cx="57150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 startAt="2"/>
            </a:pPr>
            <a:r>
              <a:rPr lang="ru-RU" b="1" dirty="0" smtClean="0">
                <a:solidFill>
                  <a:srgbClr val="FFFF00"/>
                </a:solidFill>
              </a:rPr>
              <a:t>Петров Семён</a:t>
            </a:r>
          </a:p>
          <a:p>
            <a:pPr marL="342900" indent="-342900">
              <a:buFont typeface="+mj-lt"/>
              <a:buAutoNum type="arabicPeriod" startAt="2"/>
            </a:pPr>
            <a:r>
              <a:rPr lang="ru-RU" b="1" dirty="0" smtClean="0">
                <a:solidFill>
                  <a:srgbClr val="FFFF00"/>
                </a:solidFill>
              </a:rPr>
              <a:t>Семёнов Иван</a:t>
            </a:r>
            <a:endParaRPr lang="ru-RU" dirty="0">
              <a:solidFill>
                <a:srgbClr val="FFFF00"/>
              </a:solidFill>
            </a:endParaRPr>
          </a:p>
        </p:txBody>
      </p:sp>
      <p:graphicFrame>
        <p:nvGraphicFramePr>
          <p:cNvPr id="12" name="Таблица 11"/>
          <p:cNvGraphicFramePr>
            <a:graphicFrameLocks noGrp="1"/>
          </p:cNvGraphicFramePr>
          <p:nvPr/>
        </p:nvGraphicFramePr>
        <p:xfrm>
          <a:off x="928662" y="357166"/>
          <a:ext cx="7358115" cy="24288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71623"/>
                <a:gridCol w="1471623"/>
                <a:gridCol w="1471623"/>
                <a:gridCol w="1471623"/>
                <a:gridCol w="1471623"/>
              </a:tblGrid>
              <a:tr h="485778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ИВАН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ПЕТР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СЕМЁН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НИКОЛАЙ</a:t>
                      </a:r>
                      <a:endParaRPr lang="ru-RU" dirty="0"/>
                    </a:p>
                  </a:txBody>
                  <a:tcPr/>
                </a:tc>
              </a:tr>
              <a:tr h="485778">
                <a:tc>
                  <a:txBody>
                    <a:bodyPr/>
                    <a:lstStyle/>
                    <a:p>
                      <a:r>
                        <a:rPr lang="ru-RU" dirty="0" smtClean="0"/>
                        <a:t>ИВАНОВ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400" dirty="0" smtClean="0">
                          <a:solidFill>
                            <a:srgbClr val="C00000"/>
                          </a:solidFill>
                        </a:rPr>
                        <a:t>0</a:t>
                      </a:r>
                      <a:endParaRPr lang="ru-RU" sz="2400" dirty="0">
                        <a:solidFill>
                          <a:srgbClr val="C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ru-RU" sz="2400" b="1" baseline="0" dirty="0">
                        <a:solidFill>
                          <a:srgbClr val="7030A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ru-RU" sz="2400" dirty="0">
                        <a:solidFill>
                          <a:srgbClr val="7030A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400" dirty="0" smtClean="0"/>
                        <a:t>0</a:t>
                      </a:r>
                      <a:endParaRPr lang="ru-RU" sz="2400" dirty="0"/>
                    </a:p>
                  </a:txBody>
                  <a:tcPr/>
                </a:tc>
              </a:tr>
              <a:tr h="485778">
                <a:tc>
                  <a:txBody>
                    <a:bodyPr/>
                    <a:lstStyle/>
                    <a:p>
                      <a:r>
                        <a:rPr lang="ru-RU" dirty="0" smtClean="0"/>
                        <a:t>ПЕТРОВ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400" dirty="0" smtClean="0">
                          <a:solidFill>
                            <a:srgbClr val="C00000"/>
                          </a:solidFill>
                        </a:rPr>
                        <a:t>0</a:t>
                      </a:r>
                      <a:endParaRPr lang="ru-RU" sz="2400" dirty="0">
                        <a:solidFill>
                          <a:srgbClr val="C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400" dirty="0" smtClean="0"/>
                        <a:t>0</a:t>
                      </a:r>
                      <a:endParaRPr lang="ru-RU" sz="2400" dirty="0"/>
                    </a:p>
                  </a:txBody>
                  <a:tcPr/>
                </a:tc>
              </a:tr>
              <a:tr h="485778">
                <a:tc>
                  <a:txBody>
                    <a:bodyPr/>
                    <a:lstStyle/>
                    <a:p>
                      <a:r>
                        <a:rPr lang="ru-RU" dirty="0" smtClean="0"/>
                        <a:t>СЕМЁНОВ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400" dirty="0" smtClean="0">
                          <a:solidFill>
                            <a:srgbClr val="00B050"/>
                          </a:solidFill>
                        </a:rPr>
                        <a:t>0</a:t>
                      </a:r>
                      <a:endParaRPr lang="ru-RU" sz="2400" dirty="0">
                        <a:solidFill>
                          <a:srgbClr val="00B05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400" dirty="0" smtClean="0">
                          <a:solidFill>
                            <a:srgbClr val="C00000"/>
                          </a:solidFill>
                        </a:rPr>
                        <a:t>0</a:t>
                      </a:r>
                      <a:endParaRPr lang="ru-RU" sz="2400" dirty="0">
                        <a:solidFill>
                          <a:srgbClr val="C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400" dirty="0" smtClean="0"/>
                        <a:t>0</a:t>
                      </a:r>
                      <a:endParaRPr lang="ru-RU" sz="2400" dirty="0"/>
                    </a:p>
                  </a:txBody>
                  <a:tcPr/>
                </a:tc>
              </a:tr>
              <a:tr h="485778">
                <a:tc>
                  <a:txBody>
                    <a:bodyPr/>
                    <a:lstStyle/>
                    <a:p>
                      <a:r>
                        <a:rPr lang="ru-RU" dirty="0" smtClean="0"/>
                        <a:t>НИКОЛАЕВ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400" dirty="0" smtClean="0"/>
                        <a:t>0</a:t>
                      </a:r>
                      <a:endParaRPr lang="ru-RU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400" dirty="0" smtClean="0"/>
                        <a:t>0</a:t>
                      </a:r>
                      <a:endParaRPr lang="ru-RU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400" dirty="0" smtClean="0"/>
                        <a:t>0</a:t>
                      </a:r>
                      <a:endParaRPr lang="ru-RU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400" dirty="0" smtClean="0"/>
                        <a:t>1</a:t>
                      </a:r>
                      <a:endParaRPr lang="ru-RU" sz="2400" dirty="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13" name="Таблица 12"/>
          <p:cNvGraphicFramePr>
            <a:graphicFrameLocks noGrp="1"/>
          </p:cNvGraphicFramePr>
          <p:nvPr/>
        </p:nvGraphicFramePr>
        <p:xfrm>
          <a:off x="857224" y="428604"/>
          <a:ext cx="7358115" cy="24288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71623"/>
                <a:gridCol w="1471623"/>
                <a:gridCol w="1471623"/>
                <a:gridCol w="1471623"/>
                <a:gridCol w="1471623"/>
              </a:tblGrid>
              <a:tr h="485778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ИВАН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ПЕТР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СЕМЁН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НИКОЛАЙ</a:t>
                      </a:r>
                      <a:endParaRPr lang="ru-RU" dirty="0"/>
                    </a:p>
                  </a:txBody>
                  <a:tcPr/>
                </a:tc>
              </a:tr>
              <a:tr h="485778">
                <a:tc>
                  <a:txBody>
                    <a:bodyPr/>
                    <a:lstStyle/>
                    <a:p>
                      <a:r>
                        <a:rPr lang="ru-RU" dirty="0" smtClean="0"/>
                        <a:t>ИВАНОВ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400" dirty="0" smtClean="0">
                          <a:solidFill>
                            <a:srgbClr val="C00000"/>
                          </a:solidFill>
                        </a:rPr>
                        <a:t>0</a:t>
                      </a:r>
                      <a:endParaRPr lang="ru-RU" sz="2400" dirty="0">
                        <a:solidFill>
                          <a:srgbClr val="C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400" b="1" baseline="0" dirty="0" smtClean="0">
                          <a:solidFill>
                            <a:srgbClr val="7030A0"/>
                          </a:solidFill>
                        </a:rPr>
                        <a:t>1</a:t>
                      </a:r>
                      <a:endParaRPr lang="ru-RU" sz="2400" b="1" baseline="0" dirty="0">
                        <a:solidFill>
                          <a:srgbClr val="7030A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400" dirty="0" smtClean="0">
                          <a:solidFill>
                            <a:srgbClr val="7030A0"/>
                          </a:solidFill>
                        </a:rPr>
                        <a:t>0</a:t>
                      </a:r>
                      <a:endParaRPr lang="ru-RU" sz="2400" dirty="0">
                        <a:solidFill>
                          <a:srgbClr val="7030A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400" dirty="0" smtClean="0"/>
                        <a:t>0</a:t>
                      </a:r>
                      <a:endParaRPr lang="ru-RU" sz="2400" dirty="0"/>
                    </a:p>
                  </a:txBody>
                  <a:tcPr/>
                </a:tc>
              </a:tr>
              <a:tr h="485778">
                <a:tc>
                  <a:txBody>
                    <a:bodyPr/>
                    <a:lstStyle/>
                    <a:p>
                      <a:r>
                        <a:rPr lang="ru-RU" dirty="0" smtClean="0"/>
                        <a:t>ПЕТРОВ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400" dirty="0" smtClean="0">
                          <a:solidFill>
                            <a:srgbClr val="C00000"/>
                          </a:solidFill>
                        </a:rPr>
                        <a:t>0</a:t>
                      </a:r>
                      <a:endParaRPr lang="ru-RU" sz="2400" dirty="0">
                        <a:solidFill>
                          <a:srgbClr val="C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400" dirty="0" smtClean="0"/>
                        <a:t>0</a:t>
                      </a:r>
                      <a:endParaRPr lang="ru-RU" sz="2400" dirty="0"/>
                    </a:p>
                  </a:txBody>
                  <a:tcPr/>
                </a:tc>
              </a:tr>
              <a:tr h="485778">
                <a:tc>
                  <a:txBody>
                    <a:bodyPr/>
                    <a:lstStyle/>
                    <a:p>
                      <a:r>
                        <a:rPr lang="ru-RU" dirty="0" smtClean="0"/>
                        <a:t>СЕМЁНОВ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400" dirty="0" smtClean="0">
                          <a:solidFill>
                            <a:srgbClr val="00B050"/>
                          </a:solidFill>
                        </a:rPr>
                        <a:t>0</a:t>
                      </a:r>
                      <a:endParaRPr lang="ru-RU" sz="2400" dirty="0">
                        <a:solidFill>
                          <a:srgbClr val="00B05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400" dirty="0" smtClean="0">
                          <a:solidFill>
                            <a:srgbClr val="C00000"/>
                          </a:solidFill>
                        </a:rPr>
                        <a:t>0</a:t>
                      </a:r>
                      <a:endParaRPr lang="ru-RU" sz="2400" dirty="0">
                        <a:solidFill>
                          <a:srgbClr val="C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400" dirty="0" smtClean="0"/>
                        <a:t>0</a:t>
                      </a:r>
                      <a:endParaRPr lang="ru-RU" sz="2400" dirty="0"/>
                    </a:p>
                  </a:txBody>
                  <a:tcPr/>
                </a:tc>
              </a:tr>
              <a:tr h="485778">
                <a:tc>
                  <a:txBody>
                    <a:bodyPr/>
                    <a:lstStyle/>
                    <a:p>
                      <a:r>
                        <a:rPr lang="ru-RU" dirty="0" smtClean="0"/>
                        <a:t>НИКОЛАЕВ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400" dirty="0" smtClean="0"/>
                        <a:t>0</a:t>
                      </a:r>
                      <a:endParaRPr lang="ru-RU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400" dirty="0" smtClean="0"/>
                        <a:t>0</a:t>
                      </a:r>
                      <a:endParaRPr lang="ru-RU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400" dirty="0" smtClean="0"/>
                        <a:t>0</a:t>
                      </a:r>
                      <a:endParaRPr lang="ru-RU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400" dirty="0" smtClean="0"/>
                        <a:t>1</a:t>
                      </a:r>
                      <a:endParaRPr lang="ru-RU" sz="2400" dirty="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9" name="Таблица 8"/>
          <p:cNvGraphicFramePr>
            <a:graphicFrameLocks noGrp="1"/>
          </p:cNvGraphicFramePr>
          <p:nvPr/>
        </p:nvGraphicFramePr>
        <p:xfrm>
          <a:off x="928662" y="428604"/>
          <a:ext cx="7358115" cy="24288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71623"/>
                <a:gridCol w="1471623"/>
                <a:gridCol w="1471623"/>
                <a:gridCol w="1471623"/>
                <a:gridCol w="1471623"/>
              </a:tblGrid>
              <a:tr h="485778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ИВАН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ПЕТР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СЕМЁН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НИКОЛАЙ</a:t>
                      </a:r>
                      <a:endParaRPr lang="ru-RU" dirty="0"/>
                    </a:p>
                  </a:txBody>
                  <a:tcPr/>
                </a:tc>
              </a:tr>
              <a:tr h="485778">
                <a:tc>
                  <a:txBody>
                    <a:bodyPr/>
                    <a:lstStyle/>
                    <a:p>
                      <a:r>
                        <a:rPr lang="ru-RU" dirty="0" smtClean="0"/>
                        <a:t>ИВАНОВ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400" dirty="0" smtClean="0">
                          <a:solidFill>
                            <a:srgbClr val="C00000"/>
                          </a:solidFill>
                        </a:rPr>
                        <a:t>0</a:t>
                      </a:r>
                      <a:endParaRPr lang="ru-RU" sz="2400" dirty="0">
                        <a:solidFill>
                          <a:srgbClr val="C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400" b="1" baseline="0" dirty="0" smtClean="0">
                          <a:solidFill>
                            <a:srgbClr val="FFFF00"/>
                          </a:solidFill>
                        </a:rPr>
                        <a:t>1</a:t>
                      </a:r>
                      <a:endParaRPr lang="ru-RU" sz="2400" b="1" baseline="0" dirty="0">
                        <a:solidFill>
                          <a:srgbClr val="FFFF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400" dirty="0" smtClean="0">
                          <a:solidFill>
                            <a:srgbClr val="FFFF00"/>
                          </a:solidFill>
                        </a:rPr>
                        <a:t>0</a:t>
                      </a:r>
                      <a:endParaRPr lang="ru-RU" sz="2400" dirty="0">
                        <a:solidFill>
                          <a:srgbClr val="FFFF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400" dirty="0" smtClean="0"/>
                        <a:t>0</a:t>
                      </a:r>
                      <a:endParaRPr lang="ru-RU" sz="2400" dirty="0"/>
                    </a:p>
                  </a:txBody>
                  <a:tcPr/>
                </a:tc>
              </a:tr>
              <a:tr h="485778">
                <a:tc>
                  <a:txBody>
                    <a:bodyPr/>
                    <a:lstStyle/>
                    <a:p>
                      <a:r>
                        <a:rPr lang="ru-RU" dirty="0" smtClean="0"/>
                        <a:t>ПЕТРОВ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400" dirty="0" smtClean="0"/>
                        <a:t>0</a:t>
                      </a:r>
                      <a:endParaRPr lang="ru-RU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400" dirty="0" smtClean="0">
                          <a:solidFill>
                            <a:srgbClr val="C00000"/>
                          </a:solidFill>
                        </a:rPr>
                        <a:t>0</a:t>
                      </a:r>
                      <a:endParaRPr lang="ru-RU" sz="2400" dirty="0">
                        <a:solidFill>
                          <a:srgbClr val="C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400" dirty="0" smtClean="0"/>
                        <a:t>1</a:t>
                      </a:r>
                      <a:endParaRPr lang="ru-RU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400" dirty="0" smtClean="0"/>
                        <a:t>0</a:t>
                      </a:r>
                      <a:endParaRPr lang="ru-RU" sz="2400" dirty="0"/>
                    </a:p>
                  </a:txBody>
                  <a:tcPr/>
                </a:tc>
              </a:tr>
              <a:tr h="485778">
                <a:tc>
                  <a:txBody>
                    <a:bodyPr/>
                    <a:lstStyle/>
                    <a:p>
                      <a:r>
                        <a:rPr lang="ru-RU" dirty="0" smtClean="0"/>
                        <a:t>СЕМЁНОВ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400" dirty="0" smtClean="0"/>
                        <a:t>1</a:t>
                      </a:r>
                      <a:endParaRPr lang="ru-RU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400" dirty="0" smtClean="0">
                          <a:solidFill>
                            <a:srgbClr val="00B050"/>
                          </a:solidFill>
                        </a:rPr>
                        <a:t>0</a:t>
                      </a:r>
                      <a:endParaRPr lang="ru-RU" sz="2400" dirty="0">
                        <a:solidFill>
                          <a:srgbClr val="00B05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400" dirty="0" smtClean="0">
                          <a:solidFill>
                            <a:srgbClr val="C00000"/>
                          </a:solidFill>
                        </a:rPr>
                        <a:t>0</a:t>
                      </a:r>
                      <a:endParaRPr lang="ru-RU" sz="2400" dirty="0">
                        <a:solidFill>
                          <a:srgbClr val="C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400" dirty="0" smtClean="0"/>
                        <a:t>0</a:t>
                      </a:r>
                      <a:endParaRPr lang="ru-RU" sz="2400" dirty="0"/>
                    </a:p>
                  </a:txBody>
                  <a:tcPr/>
                </a:tc>
              </a:tr>
              <a:tr h="485778">
                <a:tc>
                  <a:txBody>
                    <a:bodyPr/>
                    <a:lstStyle/>
                    <a:p>
                      <a:r>
                        <a:rPr lang="ru-RU" dirty="0" smtClean="0"/>
                        <a:t>НИКОЛАЕВ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400" dirty="0" smtClean="0"/>
                        <a:t>0</a:t>
                      </a:r>
                      <a:endParaRPr lang="ru-RU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400" dirty="0" smtClean="0"/>
                        <a:t>0</a:t>
                      </a:r>
                      <a:endParaRPr lang="ru-RU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400" dirty="0" smtClean="0"/>
                        <a:t>0</a:t>
                      </a:r>
                      <a:endParaRPr lang="ru-RU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400" dirty="0" smtClean="0"/>
                        <a:t>1</a:t>
                      </a:r>
                      <a:endParaRPr lang="ru-RU" sz="2400" dirty="0"/>
                    </a:p>
                  </a:txBody>
                  <a:tcPr/>
                </a:tc>
              </a:tr>
            </a:tbl>
          </a:graphicData>
        </a:graphic>
      </p:graphicFrame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strips dir="r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7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7" dur="80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8" dur="80"/>
                                        <p:tgtEl>
                                          <p:spTgt spid="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" dur="80"/>
                                        <p:tgtEl>
                                          <p:spTgt spid="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7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29" dur="80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30" dur="80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1" dur="80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7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41" dur="80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42" dur="80"/>
                                        <p:tgtEl>
                                          <p:spTgt spid="1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3" dur="80"/>
                                        <p:tgtEl>
                                          <p:spTgt spid="1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6" grpId="0"/>
      <p:bldP spid="10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Таблица 1"/>
          <p:cNvGraphicFramePr>
            <a:graphicFrameLocks noGrp="1"/>
          </p:cNvGraphicFramePr>
          <p:nvPr/>
        </p:nvGraphicFramePr>
        <p:xfrm>
          <a:off x="1524000" y="1397000"/>
          <a:ext cx="6762775" cy="2199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52555"/>
                <a:gridCol w="1352555"/>
                <a:gridCol w="1352555"/>
                <a:gridCol w="1352555"/>
                <a:gridCol w="1352555"/>
              </a:tblGrid>
              <a:tr h="370840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ОЛЬГА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МАРИЯ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СВЕТЛАНА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ЕКАТЕРИНА</a:t>
                      </a:r>
                      <a:endParaRPr lang="ru-RU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 smtClean="0"/>
                        <a:t>АНТОН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400" dirty="0" smtClean="0"/>
                        <a:t>Н</a:t>
                      </a:r>
                      <a:endParaRPr lang="ru-RU" sz="24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 smtClean="0"/>
                        <a:t>БОРИС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400" dirty="0" smtClean="0"/>
                        <a:t>П</a:t>
                      </a:r>
                      <a:endParaRPr lang="ru-RU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24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 smtClean="0"/>
                        <a:t>ДАВИД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400" dirty="0" smtClean="0"/>
                        <a:t>Р</a:t>
                      </a:r>
                      <a:endParaRPr lang="ru-RU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24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 smtClean="0"/>
                        <a:t>ГРИГОРИЙ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400" dirty="0" smtClean="0"/>
                        <a:t>М</a:t>
                      </a:r>
                      <a:endParaRPr lang="ru-RU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2400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1643042" y="500042"/>
            <a:ext cx="24288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>
                <a:solidFill>
                  <a:schemeClr val="bg1"/>
                </a:solidFill>
              </a:rPr>
              <a:t>РЕШЕНИЕ  ЗАДАЧИ 2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4" name="Стрелка влево 3">
            <a:hlinkClick r:id="rId3" action="ppaction://hlinksldjump"/>
          </p:cNvPr>
          <p:cNvSpPr/>
          <p:nvPr/>
        </p:nvSpPr>
        <p:spPr>
          <a:xfrm>
            <a:off x="428596" y="6072206"/>
            <a:ext cx="1857388" cy="357190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Назад к меню</a:t>
            </a:r>
            <a:endParaRPr lang="ru-RU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strips dir="rd"/>
  </p:transition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857488" y="142852"/>
            <a:ext cx="385765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3200" dirty="0" smtClean="0">
                <a:solidFill>
                  <a:schemeClr val="bg1"/>
                </a:solidFill>
              </a:rPr>
              <a:t>Решение задачи 4 </a:t>
            </a:r>
            <a:endParaRPr lang="ru-RU" sz="3200" dirty="0">
              <a:solidFill>
                <a:schemeClr val="bg1"/>
              </a:solidFill>
            </a:endParaRPr>
          </a:p>
        </p:txBody>
      </p:sp>
      <p:sp>
        <p:nvSpPr>
          <p:cNvPr id="38913" name="Rectangle 1"/>
          <p:cNvSpPr>
            <a:spLocks noChangeArrowheads="1"/>
          </p:cNvSpPr>
          <p:nvPr/>
        </p:nvSpPr>
        <p:spPr bwMode="auto">
          <a:xfrm>
            <a:off x="0" y="714356"/>
            <a:ext cx="9144000" cy="175432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63525" marR="0" lvl="0" indent="-263525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223838" algn="l"/>
              </a:tabLst>
            </a:pPr>
            <a:r>
              <a:rPr kumimoji="0" lang="ru-RU" b="0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Arial" pitchFamily="34" charset="0"/>
                <a:ea typeface="Times New Roman" pitchFamily="18" charset="0"/>
              </a:rPr>
              <a:t>1.	Из первого пункта следует, что ни Иванов, ни Сидоров не могут быть певцами. В таблице занесем в соответствующие клетки знак «—».</a:t>
            </a:r>
            <a:endParaRPr kumimoji="0" lang="ru-RU" b="0" i="0" u="none" strike="noStrike" cap="none" normalizeH="0" baseline="0" dirty="0" smtClean="0">
              <a:ln>
                <a:noFill/>
              </a:ln>
              <a:solidFill>
                <a:schemeClr val="bg1"/>
              </a:solidFill>
              <a:effectLst/>
              <a:latin typeface="Arial" pitchFamily="34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2"/>
              <a:tabLst>
                <a:tab pos="360363" algn="l"/>
              </a:tabLst>
            </a:pPr>
            <a:r>
              <a:rPr lang="ru-RU" dirty="0" smtClean="0">
                <a:solidFill>
                  <a:schemeClr val="bg1"/>
                </a:solidFill>
                <a:latin typeface="Arial" pitchFamily="34" charset="0"/>
                <a:ea typeface="Times New Roman" pitchFamily="18" charset="0"/>
              </a:rPr>
              <a:t>Петров — не художник и не музыкант (из пункта 2).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2"/>
              <a:tabLst>
                <a:tab pos="360363" algn="l"/>
              </a:tabLst>
            </a:pPr>
            <a:r>
              <a:rPr lang="ru-RU" dirty="0" smtClean="0">
                <a:solidFill>
                  <a:schemeClr val="bg1"/>
                </a:solidFill>
                <a:latin typeface="Arial" pitchFamily="34" charset="0"/>
                <a:ea typeface="Times New Roman" pitchFamily="18" charset="0"/>
              </a:rPr>
              <a:t> Андреев и Иванов — не музыканты (из пункта 3).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223838" algn="l"/>
              </a:tabLst>
            </a:pPr>
            <a:r>
              <a:rPr lang="ru-RU" dirty="0" smtClean="0">
                <a:solidFill>
                  <a:schemeClr val="bg1"/>
                </a:solidFill>
                <a:latin typeface="Arial" pitchFamily="34" charset="0"/>
                <a:ea typeface="Times New Roman" pitchFamily="18" charset="0"/>
              </a:rPr>
              <a:t>После этих рассуждений </a:t>
            </a:r>
            <a:r>
              <a:rPr kumimoji="0" lang="ru-RU" b="0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Arial" pitchFamily="34" charset="0"/>
                <a:ea typeface="Times New Roman" pitchFamily="18" charset="0"/>
              </a:rPr>
              <a:t>таблица выглядит так:</a:t>
            </a:r>
            <a:endParaRPr kumimoji="0" lang="ru-RU" b="0" i="0" u="none" strike="noStrike" cap="none" normalizeH="0" baseline="0" dirty="0" smtClean="0">
              <a:ln>
                <a:noFill/>
              </a:ln>
              <a:solidFill>
                <a:schemeClr val="bg1"/>
              </a:solidFill>
              <a:effectLst/>
              <a:latin typeface="Arial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223838" algn="l"/>
              </a:tabLst>
            </a:pPr>
            <a:endParaRPr kumimoji="0" lang="ru-RU" b="0" i="0" u="none" strike="noStrike" cap="none" normalizeH="0" baseline="0" dirty="0" smtClean="0">
              <a:ln>
                <a:noFill/>
              </a:ln>
              <a:solidFill>
                <a:schemeClr val="bg1"/>
              </a:solidFill>
              <a:effectLst/>
              <a:latin typeface="Arial" pitchFamily="34" charset="0"/>
            </a:endParaRPr>
          </a:p>
        </p:txBody>
      </p:sp>
      <p:graphicFrame>
        <p:nvGraphicFramePr>
          <p:cNvPr id="6" name="Таблица 5"/>
          <p:cNvGraphicFramePr>
            <a:graphicFrameLocks noGrp="1"/>
          </p:cNvGraphicFramePr>
          <p:nvPr/>
        </p:nvGraphicFramePr>
        <p:xfrm>
          <a:off x="571472" y="2285992"/>
          <a:ext cx="5857916" cy="1571638"/>
        </p:xfrm>
        <a:graphic>
          <a:graphicData uri="http://schemas.openxmlformats.org/drawingml/2006/table">
            <a:tbl>
              <a:tblPr/>
              <a:tblGrid>
                <a:gridCol w="961252"/>
                <a:gridCol w="1131276"/>
                <a:gridCol w="1391701"/>
                <a:gridCol w="1119663"/>
                <a:gridCol w="1254024"/>
              </a:tblGrid>
              <a:tr h="289835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ru-RU" sz="1000" dirty="0">
                        <a:latin typeface="Times New Roman"/>
                        <a:ea typeface="Times New Roman"/>
                      </a:endParaRPr>
                    </a:p>
                  </a:txBody>
                  <a:tcPr marL="25400" marR="2540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8890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>
                          <a:latin typeface="Times New Roman"/>
                          <a:ea typeface="Times New Roman"/>
                        </a:rPr>
                        <a:t>Танцор</a:t>
                      </a:r>
                    </a:p>
                  </a:txBody>
                  <a:tcPr marL="25400" marR="2540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00">
                          <a:latin typeface="Times New Roman"/>
                          <a:ea typeface="Times New Roman"/>
                        </a:rPr>
                        <a:t>Художник</a:t>
                      </a:r>
                    </a:p>
                  </a:txBody>
                  <a:tcPr marL="25400" marR="2540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00">
                          <a:latin typeface="Times New Roman"/>
                          <a:ea typeface="Times New Roman"/>
                        </a:rPr>
                        <a:t>Солист</a:t>
                      </a:r>
                    </a:p>
                  </a:txBody>
                  <a:tcPr marL="25400" marR="2540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00">
                          <a:latin typeface="Times New Roman"/>
                          <a:ea typeface="Times New Roman"/>
                        </a:rPr>
                        <a:t>Музыкант</a:t>
                      </a:r>
                    </a:p>
                  </a:txBody>
                  <a:tcPr marL="25400" marR="2540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7999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00">
                          <a:latin typeface="Times New Roman"/>
                          <a:ea typeface="Times New Roman"/>
                        </a:rPr>
                        <a:t>Иванов</a:t>
                      </a:r>
                    </a:p>
                  </a:txBody>
                  <a:tcPr marL="25400" marR="2540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ru-RU" sz="1000">
                        <a:latin typeface="Times New Roman"/>
                        <a:ea typeface="Times New Roman"/>
                      </a:endParaRPr>
                    </a:p>
                  </a:txBody>
                  <a:tcPr marL="25400" marR="2540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ru-RU" sz="1000">
                        <a:latin typeface="Times New Roman"/>
                        <a:ea typeface="Times New Roman"/>
                      </a:endParaRPr>
                    </a:p>
                  </a:txBody>
                  <a:tcPr marL="25400" marR="2540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00">
                          <a:latin typeface="Times New Roman"/>
                          <a:ea typeface="Times New Roman"/>
                        </a:rPr>
                        <a:t>-</a:t>
                      </a:r>
                    </a:p>
                  </a:txBody>
                  <a:tcPr marL="25400" marR="2540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00">
                          <a:latin typeface="Times New Roman"/>
                          <a:ea typeface="Times New Roman"/>
                        </a:rPr>
                        <a:t>—</a:t>
                      </a:r>
                    </a:p>
                  </a:txBody>
                  <a:tcPr marL="25400" marR="2540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8205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00">
                          <a:latin typeface="Times New Roman"/>
                          <a:ea typeface="Times New Roman"/>
                        </a:rPr>
                        <a:t>Петров</a:t>
                      </a:r>
                    </a:p>
                  </a:txBody>
                  <a:tcPr marL="25400" marR="2540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ru-RU" sz="1000">
                        <a:latin typeface="Times New Roman"/>
                        <a:ea typeface="Times New Roman"/>
                      </a:endParaRPr>
                    </a:p>
                  </a:txBody>
                  <a:tcPr marL="25400" marR="2540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>
                          <a:latin typeface="Times New Roman"/>
                          <a:ea typeface="Times New Roman"/>
                        </a:rPr>
                        <a:t>-</a:t>
                      </a:r>
                    </a:p>
                  </a:txBody>
                  <a:tcPr marL="25400" marR="2540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ru-RU" sz="1000">
                        <a:latin typeface="Times New Roman"/>
                        <a:ea typeface="Times New Roman"/>
                      </a:endParaRPr>
                    </a:p>
                  </a:txBody>
                  <a:tcPr marL="25400" marR="2540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>
                          <a:latin typeface="Times New Roman"/>
                          <a:ea typeface="Times New Roman"/>
                        </a:rPr>
                        <a:t>-</a:t>
                      </a:r>
                    </a:p>
                  </a:txBody>
                  <a:tcPr marL="25400" marR="2540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2286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00">
                          <a:latin typeface="Times New Roman"/>
                          <a:ea typeface="Times New Roman"/>
                        </a:rPr>
                        <a:t>Сидоров</a:t>
                      </a:r>
                    </a:p>
                  </a:txBody>
                  <a:tcPr marL="25400" marR="2540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ru-RU" sz="1000">
                        <a:latin typeface="Times New Roman"/>
                        <a:ea typeface="Times New Roman"/>
                      </a:endParaRPr>
                    </a:p>
                  </a:txBody>
                  <a:tcPr marL="25400" marR="2540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ru-RU" sz="1000">
                        <a:latin typeface="Times New Roman"/>
                        <a:ea typeface="Times New Roman"/>
                      </a:endParaRPr>
                    </a:p>
                  </a:txBody>
                  <a:tcPr marL="25400" marR="2540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00">
                          <a:latin typeface="Times New Roman"/>
                          <a:ea typeface="Times New Roman"/>
                        </a:rPr>
                        <a:t>-</a:t>
                      </a:r>
                    </a:p>
                  </a:txBody>
                  <a:tcPr marL="25400" marR="2540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ru-RU" sz="1000">
                        <a:latin typeface="Times New Roman"/>
                        <a:ea typeface="Times New Roman"/>
                      </a:endParaRPr>
                    </a:p>
                  </a:txBody>
                  <a:tcPr marL="25400" marR="2540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3313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>
                          <a:latin typeface="Times New Roman"/>
                          <a:ea typeface="Times New Roman"/>
                        </a:rPr>
                        <a:t>Андреев</a:t>
                      </a:r>
                    </a:p>
                  </a:txBody>
                  <a:tcPr marL="25400" marR="2540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ru-RU" sz="1000">
                        <a:latin typeface="Times New Roman"/>
                        <a:ea typeface="Times New Roman"/>
                      </a:endParaRPr>
                    </a:p>
                  </a:txBody>
                  <a:tcPr marL="25400" marR="2540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ru-RU" sz="1000" dirty="0">
                        <a:latin typeface="Times New Roman"/>
                        <a:ea typeface="Times New Roman"/>
                      </a:endParaRPr>
                    </a:p>
                  </a:txBody>
                  <a:tcPr marL="25400" marR="2540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ru-RU" sz="1000">
                        <a:latin typeface="Times New Roman"/>
                        <a:ea typeface="Times New Roman"/>
                      </a:endParaRPr>
                    </a:p>
                  </a:txBody>
                  <a:tcPr marL="25400" marR="2540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>
                          <a:latin typeface="Times New Roman"/>
                          <a:ea typeface="Times New Roman"/>
                        </a:rPr>
                        <a:t>-</a:t>
                      </a:r>
                    </a:p>
                  </a:txBody>
                  <a:tcPr marL="25400" marR="2540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8914" name="Rectangle 2"/>
          <p:cNvSpPr>
            <a:spLocks noChangeArrowheads="1"/>
          </p:cNvSpPr>
          <p:nvPr/>
        </p:nvSpPr>
        <p:spPr bwMode="auto">
          <a:xfrm>
            <a:off x="0" y="3929066"/>
            <a:ext cx="8643966" cy="6463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>
                <a:tab pos="212725" algn="l"/>
              </a:tabLst>
            </a:pPr>
            <a:r>
              <a:rPr lang="ru-RU" dirty="0" smtClean="0">
                <a:solidFill>
                  <a:schemeClr val="bg1"/>
                </a:solidFill>
                <a:latin typeface="Arial" pitchFamily="34" charset="0"/>
                <a:ea typeface="Times New Roman" pitchFamily="18" charset="0"/>
              </a:rPr>
              <a:t>Следовательно, </a:t>
            </a:r>
            <a:r>
              <a:rPr kumimoji="0" lang="ru-RU" b="0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Arial" pitchFamily="34" charset="0"/>
                <a:ea typeface="Times New Roman" pitchFamily="18" charset="0"/>
              </a:rPr>
              <a:t> Сидоров — музыкант, он не может быть ни солистом, ни танцором, ни художником, что и зафиксируем знаками «—» и его строчке.</a:t>
            </a:r>
            <a:endParaRPr kumimoji="0" lang="ru-RU" b="0" i="0" u="none" strike="noStrike" cap="none" normalizeH="0" baseline="0" dirty="0" smtClean="0">
              <a:ln>
                <a:noFill/>
              </a:ln>
              <a:solidFill>
                <a:schemeClr val="bg1"/>
              </a:solidFill>
              <a:effectLst/>
              <a:latin typeface="Arial" pitchFamily="34" charset="0"/>
            </a:endParaRPr>
          </a:p>
        </p:txBody>
      </p:sp>
      <p:sp>
        <p:nvSpPr>
          <p:cNvPr id="8" name="Прямоугольник 7"/>
          <p:cNvSpPr/>
          <p:nvPr/>
        </p:nvSpPr>
        <p:spPr>
          <a:xfrm>
            <a:off x="0" y="4572008"/>
            <a:ext cx="8929718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+mj-lt"/>
              <a:buAutoNum type="arabicPeriod" startAt="4"/>
            </a:pPr>
            <a:r>
              <a:rPr lang="ru-RU" dirty="0" smtClean="0">
                <a:solidFill>
                  <a:schemeClr val="bg1"/>
                </a:solidFill>
              </a:rPr>
              <a:t> Сопоставим теперь второй и третий пункты условия задачи. Петров и Сидоров вместе позировали художнику, но Иванов не знает Сидорова, значит художник — не Иванов. Отметим этот факт « —» в соответствующей клетке.</a:t>
            </a:r>
          </a:p>
          <a:p>
            <a:pPr marL="342900" indent="-342900">
              <a:buFont typeface="+mj-lt"/>
              <a:buAutoNum type="arabicPeriod" startAt="4"/>
            </a:pPr>
            <a:endParaRPr lang="ru-RU" dirty="0">
              <a:solidFill>
                <a:schemeClr val="bg1"/>
              </a:solidFill>
            </a:endParaRPr>
          </a:p>
        </p:txBody>
      </p:sp>
      <p:graphicFrame>
        <p:nvGraphicFramePr>
          <p:cNvPr id="9" name="Таблица 8"/>
          <p:cNvGraphicFramePr>
            <a:graphicFrameLocks noGrp="1"/>
          </p:cNvGraphicFramePr>
          <p:nvPr/>
        </p:nvGraphicFramePr>
        <p:xfrm>
          <a:off x="571472" y="5500704"/>
          <a:ext cx="6072231" cy="1357296"/>
        </p:xfrm>
        <a:graphic>
          <a:graphicData uri="http://schemas.openxmlformats.org/drawingml/2006/table">
            <a:tbl>
              <a:tblPr/>
              <a:tblGrid>
                <a:gridCol w="1047814"/>
                <a:gridCol w="1157262"/>
                <a:gridCol w="1429608"/>
                <a:gridCol w="1145384"/>
                <a:gridCol w="1292163"/>
              </a:tblGrid>
              <a:tr h="249659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ru-RU" sz="1000">
                        <a:latin typeface="Times New Roman"/>
                        <a:ea typeface="Times New Roman"/>
                      </a:endParaRPr>
                    </a:p>
                  </a:txBody>
                  <a:tcPr marL="25400" marR="2540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86995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00">
                          <a:latin typeface="Times New Roman"/>
                          <a:ea typeface="Times New Roman"/>
                        </a:rPr>
                        <a:t>Танцор</a:t>
                      </a:r>
                    </a:p>
                  </a:txBody>
                  <a:tcPr marL="25400" marR="2540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00">
                          <a:latin typeface="Times New Roman"/>
                          <a:ea typeface="Times New Roman"/>
                        </a:rPr>
                        <a:t>Художник</a:t>
                      </a:r>
                    </a:p>
                  </a:txBody>
                  <a:tcPr marL="25400" marR="2540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00">
                          <a:latin typeface="Times New Roman"/>
                          <a:ea typeface="Times New Roman"/>
                        </a:rPr>
                        <a:t>Солист</a:t>
                      </a:r>
                    </a:p>
                  </a:txBody>
                  <a:tcPr marL="25400" marR="2540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00">
                          <a:latin typeface="Times New Roman"/>
                          <a:ea typeface="Times New Roman"/>
                        </a:rPr>
                        <a:t>Музыкант</a:t>
                      </a:r>
                    </a:p>
                  </a:txBody>
                  <a:tcPr marL="25400" marR="2540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0219">
                <a:tc>
                  <a:txBody>
                    <a:bodyPr/>
                    <a:lstStyle/>
                    <a:p>
                      <a:pPr marL="889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00">
                          <a:latin typeface="Times New Roman"/>
                          <a:ea typeface="Times New Roman"/>
                        </a:rPr>
                        <a:t>Иванов</a:t>
                      </a:r>
                    </a:p>
                  </a:txBody>
                  <a:tcPr marL="25400" marR="2540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7178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200" b="1">
                          <a:latin typeface="Times New Roman"/>
                          <a:ea typeface="Times New Roman"/>
                        </a:rPr>
                        <a:t>+</a:t>
                      </a:r>
                      <a:endParaRPr lang="ru-RU" sz="1000">
                        <a:latin typeface="Times New Roman"/>
                        <a:ea typeface="Times New Roman"/>
                      </a:endParaRPr>
                    </a:p>
                  </a:txBody>
                  <a:tcPr marL="25400" marR="2540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00">
                          <a:latin typeface="Times New Roman"/>
                          <a:ea typeface="Times New Roman"/>
                        </a:rPr>
                        <a:t>-</a:t>
                      </a:r>
                    </a:p>
                  </a:txBody>
                  <a:tcPr marL="25400" marR="2540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00">
                          <a:latin typeface="Times New Roman"/>
                          <a:ea typeface="Times New Roman"/>
                        </a:rPr>
                        <a:t>-</a:t>
                      </a:r>
                    </a:p>
                  </a:txBody>
                  <a:tcPr marL="25400" marR="2540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00">
                          <a:latin typeface="Times New Roman"/>
                          <a:ea typeface="Times New Roman"/>
                        </a:rPr>
                        <a:t>-</a:t>
                      </a:r>
                    </a:p>
                  </a:txBody>
                  <a:tcPr marL="25400" marR="2540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0219">
                <a:tc>
                  <a:txBody>
                    <a:bodyPr/>
                    <a:lstStyle/>
                    <a:p>
                      <a:pPr marL="889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00">
                          <a:latin typeface="Times New Roman"/>
                          <a:ea typeface="Times New Roman"/>
                        </a:rPr>
                        <a:t>Петров</a:t>
                      </a:r>
                    </a:p>
                  </a:txBody>
                  <a:tcPr marL="25400" marR="2540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7432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00">
                          <a:latin typeface="Times New Roman"/>
                          <a:ea typeface="Times New Roman"/>
                        </a:rPr>
                        <a:t>-</a:t>
                      </a:r>
                    </a:p>
                  </a:txBody>
                  <a:tcPr marL="25400" marR="2540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00">
                          <a:latin typeface="Times New Roman"/>
                          <a:ea typeface="Times New Roman"/>
                        </a:rPr>
                        <a:t>-</a:t>
                      </a:r>
                    </a:p>
                  </a:txBody>
                  <a:tcPr marL="25400" marR="2540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200" b="1">
                          <a:latin typeface="Times New Roman"/>
                          <a:ea typeface="Times New Roman"/>
                        </a:rPr>
                        <a:t>+</a:t>
                      </a:r>
                      <a:endParaRPr lang="ru-RU" sz="1000">
                        <a:latin typeface="Times New Roman"/>
                        <a:ea typeface="Times New Roman"/>
                      </a:endParaRPr>
                    </a:p>
                  </a:txBody>
                  <a:tcPr marL="25400" marR="2540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00">
                          <a:latin typeface="Times New Roman"/>
                          <a:ea typeface="Times New Roman"/>
                        </a:rPr>
                        <a:t>-</a:t>
                      </a:r>
                    </a:p>
                  </a:txBody>
                  <a:tcPr marL="25400" marR="2540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0219">
                <a:tc>
                  <a:txBody>
                    <a:bodyPr/>
                    <a:lstStyle/>
                    <a:p>
                      <a:pPr marL="1397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00">
                          <a:latin typeface="Times New Roman"/>
                          <a:ea typeface="Times New Roman"/>
                        </a:rPr>
                        <a:t>Сидоров</a:t>
                      </a:r>
                    </a:p>
                  </a:txBody>
                  <a:tcPr marL="25400" marR="2540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7432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00">
                          <a:latin typeface="Times New Roman"/>
                          <a:ea typeface="Times New Roman"/>
                        </a:rPr>
                        <a:t>-</a:t>
                      </a:r>
                    </a:p>
                  </a:txBody>
                  <a:tcPr marL="25400" marR="2540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00">
                          <a:latin typeface="Times New Roman"/>
                          <a:ea typeface="Times New Roman"/>
                        </a:rPr>
                        <a:t>-</a:t>
                      </a:r>
                    </a:p>
                  </a:txBody>
                  <a:tcPr marL="25400" marR="2540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00">
                          <a:latin typeface="Times New Roman"/>
                          <a:ea typeface="Times New Roman"/>
                        </a:rPr>
                        <a:t>-</a:t>
                      </a:r>
                    </a:p>
                  </a:txBody>
                  <a:tcPr marL="25400" marR="2540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200" b="1">
                          <a:latin typeface="Times New Roman"/>
                          <a:ea typeface="Times New Roman"/>
                        </a:rPr>
                        <a:t>+</a:t>
                      </a:r>
                      <a:endParaRPr lang="ru-RU" sz="1000">
                        <a:latin typeface="Times New Roman"/>
                        <a:ea typeface="Times New Roman"/>
                      </a:endParaRPr>
                    </a:p>
                  </a:txBody>
                  <a:tcPr marL="25400" marR="2540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6980">
                <a:tc>
                  <a:txBody>
                    <a:bodyPr/>
                    <a:lstStyle/>
                    <a:p>
                      <a:pPr marL="1143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00">
                          <a:latin typeface="Times New Roman"/>
                          <a:ea typeface="Times New Roman"/>
                        </a:rPr>
                        <a:t>Андреев</a:t>
                      </a:r>
                    </a:p>
                  </a:txBody>
                  <a:tcPr marL="25400" marR="2540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78765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00">
                          <a:latin typeface="Times New Roman"/>
                          <a:ea typeface="Times New Roman"/>
                        </a:rPr>
                        <a:t>__</a:t>
                      </a:r>
                    </a:p>
                  </a:txBody>
                  <a:tcPr marL="25400" marR="2540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200" b="1">
                          <a:latin typeface="Times New Roman"/>
                          <a:ea typeface="Times New Roman"/>
                        </a:rPr>
                        <a:t>+</a:t>
                      </a:r>
                      <a:endParaRPr lang="ru-RU" sz="1000">
                        <a:latin typeface="Times New Roman"/>
                        <a:ea typeface="Times New Roman"/>
                      </a:endParaRPr>
                    </a:p>
                  </a:txBody>
                  <a:tcPr marL="25400" marR="2540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00">
                          <a:latin typeface="Times New Roman"/>
                          <a:ea typeface="Times New Roman"/>
                        </a:rPr>
                        <a:t>—</a:t>
                      </a:r>
                    </a:p>
                  </a:txBody>
                  <a:tcPr marL="25400" marR="2540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>
                          <a:latin typeface="Times New Roman"/>
                          <a:ea typeface="Times New Roman"/>
                        </a:rPr>
                        <a:t>—</a:t>
                      </a:r>
                    </a:p>
                  </a:txBody>
                  <a:tcPr marL="25400" marR="2540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Стрелка влево 9">
            <a:hlinkClick r:id="rId4" action="ppaction://hlinksldjump"/>
          </p:cNvPr>
          <p:cNvSpPr/>
          <p:nvPr/>
        </p:nvSpPr>
        <p:spPr>
          <a:xfrm>
            <a:off x="7072330" y="6500810"/>
            <a:ext cx="1857388" cy="357190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Назад к меню</a:t>
            </a:r>
            <a:endParaRPr lang="ru-RU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strips dir="r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89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914" grpId="0"/>
      <p:bldP spid="8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Таблица 1"/>
          <p:cNvGraphicFramePr>
            <a:graphicFrameLocks noGrp="1"/>
          </p:cNvGraphicFramePr>
          <p:nvPr/>
        </p:nvGraphicFramePr>
        <p:xfrm>
          <a:off x="1571604" y="1142984"/>
          <a:ext cx="5000660" cy="2071700"/>
        </p:xfrm>
        <a:graphic>
          <a:graphicData uri="http://schemas.openxmlformats.org/drawingml/2006/table">
            <a:tbl>
              <a:tblPr/>
              <a:tblGrid>
                <a:gridCol w="1283304"/>
                <a:gridCol w="1858678"/>
                <a:gridCol w="1858678"/>
              </a:tblGrid>
              <a:tr h="41434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ru-RU" sz="2000" dirty="0">
                        <a:solidFill>
                          <a:schemeClr val="accent1">
                            <a:lumMod val="50000"/>
                          </a:schemeClr>
                        </a:solidFill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 b="1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Arial"/>
                          <a:ea typeface="Times New Roman"/>
                          <a:cs typeface="Times New Roman"/>
                        </a:rPr>
                        <a:t>А</a:t>
                      </a:r>
                      <a:endParaRPr lang="ru-RU" sz="2000" dirty="0">
                        <a:solidFill>
                          <a:schemeClr val="accent1">
                            <a:lumMod val="50000"/>
                          </a:schemeClr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 b="1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Arial"/>
                          <a:ea typeface="Times New Roman"/>
                          <a:cs typeface="Times New Roman"/>
                        </a:rPr>
                        <a:t>В</a:t>
                      </a:r>
                      <a:endParaRPr lang="ru-RU" sz="2000" dirty="0">
                        <a:solidFill>
                          <a:schemeClr val="accent1">
                            <a:lumMod val="50000"/>
                          </a:schemeClr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  <a:tr h="41434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 b="1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Arial"/>
                          <a:ea typeface="Times New Roman"/>
                          <a:cs typeface="Times New Roman"/>
                        </a:rPr>
                        <a:t>1</a:t>
                      </a:r>
                      <a:endParaRPr lang="ru-RU" sz="2000">
                        <a:solidFill>
                          <a:schemeClr val="accent1">
                            <a:lumMod val="50000"/>
                          </a:schemeClr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ru-RU" sz="200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Arial"/>
                          <a:ea typeface="Times New Roman"/>
                          <a:cs typeface="Times New Roman"/>
                        </a:rPr>
                        <a:t>=</a:t>
                      </a:r>
                      <a:r>
                        <a:rPr lang="en-US" sz="200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Arial"/>
                          <a:ea typeface="Times New Roman"/>
                          <a:cs typeface="Times New Roman"/>
                        </a:rPr>
                        <a:t>B2</a:t>
                      </a:r>
                      <a:endParaRPr lang="ru-RU" sz="2000">
                        <a:solidFill>
                          <a:schemeClr val="accent1">
                            <a:lumMod val="50000"/>
                          </a:schemeClr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Arial"/>
                          <a:ea typeface="Times New Roman"/>
                          <a:cs typeface="Times New Roman"/>
                        </a:rPr>
                        <a:t>1</a:t>
                      </a:r>
                      <a:endParaRPr lang="ru-RU" sz="2000" dirty="0">
                        <a:solidFill>
                          <a:schemeClr val="accent1">
                            <a:lumMod val="50000"/>
                          </a:schemeClr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  <a:tr h="41434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b="1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Arial"/>
                          <a:ea typeface="Times New Roman"/>
                          <a:cs typeface="Times New Roman"/>
                        </a:rPr>
                        <a:t>2</a:t>
                      </a:r>
                      <a:endParaRPr lang="ru-RU" sz="2000">
                        <a:solidFill>
                          <a:schemeClr val="accent1">
                            <a:lumMod val="50000"/>
                          </a:schemeClr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00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Arial"/>
                          <a:ea typeface="Times New Roman"/>
                          <a:cs typeface="Times New Roman"/>
                        </a:rPr>
                        <a:t>=A1+2</a:t>
                      </a:r>
                      <a:endParaRPr lang="ru-RU" sz="2000">
                        <a:solidFill>
                          <a:schemeClr val="accent1">
                            <a:lumMod val="50000"/>
                          </a:schemeClr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Arial"/>
                          <a:ea typeface="Times New Roman"/>
                          <a:cs typeface="Times New Roman"/>
                        </a:rPr>
                        <a:t>2</a:t>
                      </a:r>
                      <a:endParaRPr lang="ru-RU" sz="2000" dirty="0">
                        <a:solidFill>
                          <a:schemeClr val="accent1">
                            <a:lumMod val="50000"/>
                          </a:schemeClr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  <a:tr h="41434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b="1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Arial"/>
                          <a:ea typeface="Times New Roman"/>
                          <a:cs typeface="Times New Roman"/>
                        </a:rPr>
                        <a:t>3</a:t>
                      </a:r>
                      <a:endParaRPr lang="ru-RU" sz="2000">
                        <a:solidFill>
                          <a:schemeClr val="accent1">
                            <a:lumMod val="50000"/>
                          </a:schemeClr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00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Arial"/>
                          <a:ea typeface="Times New Roman"/>
                          <a:cs typeface="Times New Roman"/>
                        </a:rPr>
                        <a:t>=B2-1</a:t>
                      </a:r>
                      <a:endParaRPr lang="ru-RU" sz="2000">
                        <a:solidFill>
                          <a:schemeClr val="accent1">
                            <a:lumMod val="50000"/>
                          </a:schemeClr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en-US" sz="2000" dirty="0">
                        <a:solidFill>
                          <a:schemeClr val="accent1">
                            <a:lumMod val="50000"/>
                          </a:schemeClr>
                        </a:solidFill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  <a:tr h="41434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b="1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Arial"/>
                          <a:ea typeface="Times New Roman"/>
                          <a:cs typeface="Times New Roman"/>
                        </a:rPr>
                        <a:t>4</a:t>
                      </a:r>
                      <a:endParaRPr lang="ru-RU" sz="2000">
                        <a:solidFill>
                          <a:schemeClr val="accent1">
                            <a:lumMod val="50000"/>
                          </a:schemeClr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00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Arial"/>
                          <a:ea typeface="Times New Roman"/>
                          <a:cs typeface="Times New Roman"/>
                        </a:rPr>
                        <a:t>=A3</a:t>
                      </a:r>
                      <a:endParaRPr lang="ru-RU" sz="2000">
                        <a:solidFill>
                          <a:schemeClr val="accent1">
                            <a:lumMod val="50000"/>
                          </a:schemeClr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en-US" sz="2000" dirty="0">
                        <a:solidFill>
                          <a:schemeClr val="accent1">
                            <a:lumMod val="50000"/>
                          </a:schemeClr>
                        </a:solidFill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2050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graphicFrame>
        <p:nvGraphicFramePr>
          <p:cNvPr id="2049" name="Object 1"/>
          <p:cNvGraphicFramePr>
            <a:graphicFrameLocks noChangeAspect="1"/>
          </p:cNvGraphicFramePr>
          <p:nvPr/>
        </p:nvGraphicFramePr>
        <p:xfrm>
          <a:off x="214282" y="4572008"/>
          <a:ext cx="2402573" cy="2028839"/>
        </p:xfrm>
        <a:graphic>
          <a:graphicData uri="http://schemas.openxmlformats.org/presentationml/2006/ole">
            <p:oleObj spid="_x0000_s2049" name="Точечный рисунок" r:id="rId4" imgW="1630821" imgH="1089754" progId="PBrush">
              <p:embed/>
            </p:oleObj>
          </a:graphicData>
        </a:graphic>
      </p:graphicFrame>
      <p:sp>
        <p:nvSpPr>
          <p:cNvPr id="2055" name="Rectangle 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graphicFrame>
        <p:nvGraphicFramePr>
          <p:cNvPr id="2054" name="Object 6"/>
          <p:cNvGraphicFramePr>
            <a:graphicFrameLocks noChangeAspect="1"/>
          </p:cNvGraphicFramePr>
          <p:nvPr/>
        </p:nvGraphicFramePr>
        <p:xfrm>
          <a:off x="2643174" y="4572008"/>
          <a:ext cx="2052644" cy="1983063"/>
        </p:xfrm>
        <a:graphic>
          <a:graphicData uri="http://schemas.openxmlformats.org/presentationml/2006/ole">
            <p:oleObj spid="_x0000_s2054" name="Точечный рисунок" r:id="rId5" imgW="1127858" imgH="1082134" progId="PBrush">
              <p:embed/>
            </p:oleObj>
          </a:graphicData>
        </a:graphic>
      </p:graphicFrame>
      <p:sp>
        <p:nvSpPr>
          <p:cNvPr id="2057" name="Rectangle 9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graphicFrame>
        <p:nvGraphicFramePr>
          <p:cNvPr id="2056" name="Object 8"/>
          <p:cNvGraphicFramePr>
            <a:graphicFrameLocks noChangeAspect="1"/>
          </p:cNvGraphicFramePr>
          <p:nvPr/>
        </p:nvGraphicFramePr>
        <p:xfrm>
          <a:off x="4786314" y="4572008"/>
          <a:ext cx="2376899" cy="1939969"/>
        </p:xfrm>
        <a:graphic>
          <a:graphicData uri="http://schemas.openxmlformats.org/presentationml/2006/ole">
            <p:oleObj spid="_x0000_s2056" name="Точечный рисунок" r:id="rId6" imgW="1615238" imgH="1059048" progId="PBrush">
              <p:embed/>
            </p:oleObj>
          </a:graphicData>
        </a:graphic>
      </p:graphicFrame>
      <p:sp>
        <p:nvSpPr>
          <p:cNvPr id="2059" name="Rectangle 1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graphicFrame>
        <p:nvGraphicFramePr>
          <p:cNvPr id="2058" name="Object 10"/>
          <p:cNvGraphicFramePr>
            <a:graphicFrameLocks noChangeAspect="1"/>
          </p:cNvGraphicFramePr>
          <p:nvPr/>
        </p:nvGraphicFramePr>
        <p:xfrm>
          <a:off x="7143769" y="4572008"/>
          <a:ext cx="2000232" cy="1928826"/>
        </p:xfrm>
        <a:graphic>
          <a:graphicData uri="http://schemas.openxmlformats.org/presentationml/2006/ole">
            <p:oleObj spid="_x0000_s2058" name="Точечный рисунок" r:id="rId7" imgW="1044030" imgH="1059048" progId="PBrush">
              <p:embed/>
            </p:oleObj>
          </a:graphicData>
        </a:graphic>
      </p:graphicFrame>
      <p:sp>
        <p:nvSpPr>
          <p:cNvPr id="2060" name="Rectangle 12"/>
          <p:cNvSpPr>
            <a:spLocks noChangeArrowheads="1"/>
          </p:cNvSpPr>
          <p:nvPr/>
        </p:nvSpPr>
        <p:spPr bwMode="auto">
          <a:xfrm>
            <a:off x="0" y="0"/>
            <a:ext cx="6144759" cy="7078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223838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sz="2000" b="1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Задание 3.</a:t>
            </a:r>
            <a:r>
              <a:rPr kumimoji="0" lang="ru-RU" sz="2000" b="0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 </a:t>
            </a:r>
            <a:r>
              <a:rPr kumimoji="0" lang="ru-RU" sz="2000" b="1" i="1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(Задание А19 демоверсии 2006 г.)</a:t>
            </a:r>
            <a:endParaRPr kumimoji="0" lang="ru-RU" sz="2000" b="0" i="0" u="none" strike="noStrike" cap="none" normalizeH="0" baseline="0" dirty="0" smtClean="0">
              <a:ln>
                <a:noFill/>
              </a:ln>
              <a:solidFill>
                <a:schemeClr val="bg1"/>
              </a:solidFill>
              <a:effectLst/>
              <a:latin typeface="Arial" pitchFamily="34" charset="0"/>
            </a:endParaRPr>
          </a:p>
          <a:p>
            <a:pPr marL="0" marR="0" lvl="0" indent="223838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sz="2000" b="0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Дан фрагмент электронной таблицы:</a:t>
            </a:r>
            <a:endParaRPr kumimoji="0" lang="ru-RU" sz="2000" b="0" i="0" u="none" strike="noStrike" cap="none" normalizeH="0" baseline="0" dirty="0" smtClean="0">
              <a:ln>
                <a:noFill/>
              </a:ln>
              <a:solidFill>
                <a:schemeClr val="bg1"/>
              </a:solidFill>
              <a:effectLst/>
              <a:latin typeface="Arial" pitchFamily="34" charset="0"/>
            </a:endParaRPr>
          </a:p>
        </p:txBody>
      </p:sp>
      <p:sp>
        <p:nvSpPr>
          <p:cNvPr id="2061" name="Rectangle 13"/>
          <p:cNvSpPr>
            <a:spLocks noChangeArrowheads="1"/>
          </p:cNvSpPr>
          <p:nvPr/>
        </p:nvSpPr>
        <p:spPr bwMode="auto">
          <a:xfrm>
            <a:off x="0" y="3429000"/>
            <a:ext cx="8786842" cy="1015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sz="2000" b="0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После выполнения вычислений, была построена диаграмма  по значениям диапазона ячеек 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A</a:t>
            </a:r>
            <a:r>
              <a:rPr kumimoji="0" lang="ru-RU" sz="2000" b="0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1: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A</a:t>
            </a:r>
            <a:r>
              <a:rPr kumimoji="0" lang="ru-RU" sz="2000" b="0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4. Укажите получившуюся диаграмму.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ru-RU" sz="2000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1.			2.		  3.			4</a:t>
            </a:r>
            <a:endParaRPr kumimoji="0" lang="ru-RU" sz="2000" b="0" i="0" u="none" strike="noStrike" cap="none" normalizeH="0" baseline="0" dirty="0" smtClean="0">
              <a:ln>
                <a:noFill/>
              </a:ln>
              <a:solidFill>
                <a:schemeClr val="bg1"/>
              </a:solidFill>
              <a:effectLst/>
              <a:latin typeface="Arial" pitchFamily="34" charset="0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strips dir="rd"/>
  </p:transition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>
                <a:solidFill>
                  <a:schemeClr val="bg1"/>
                </a:solidFill>
              </a:rPr>
              <a:t>Используемые материалы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285852" y="2285992"/>
            <a:ext cx="5929354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ru-RU" dirty="0" smtClean="0">
                <a:solidFill>
                  <a:schemeClr val="bg1"/>
                </a:solidFill>
                <a:latin typeface="Arial" pitchFamily="34" charset="0"/>
                <a:ea typeface="Times New Roman" pitchFamily="18" charset="0"/>
                <a:cs typeface="Arial" pitchFamily="34" charset="0"/>
              </a:rPr>
              <a:t>И. Г. Семакин, Е.К. </a:t>
            </a:r>
            <a:r>
              <a:rPr lang="ru-RU" dirty="0" err="1" smtClean="0">
                <a:solidFill>
                  <a:schemeClr val="bg1"/>
                </a:solidFill>
                <a:latin typeface="Arial" pitchFamily="34" charset="0"/>
                <a:ea typeface="Times New Roman" pitchFamily="18" charset="0"/>
                <a:cs typeface="Arial" pitchFamily="34" charset="0"/>
              </a:rPr>
              <a:t>Хеннер</a:t>
            </a:r>
            <a:r>
              <a:rPr lang="ru-RU" dirty="0" smtClean="0">
                <a:solidFill>
                  <a:schemeClr val="bg1"/>
                </a:solidFill>
                <a:latin typeface="Arial" pitchFamily="34" charset="0"/>
                <a:ea typeface="Times New Roman" pitchFamily="18" charset="0"/>
                <a:cs typeface="Arial" pitchFamily="34" charset="0"/>
              </a:rPr>
              <a:t>, Информатика и ИКТ,  базовый уровень для 10-11 классов. М. БИНОМ 2009г. </a:t>
            </a:r>
          </a:p>
          <a:p>
            <a:endParaRPr lang="ru-RU" dirty="0" smtClean="0">
              <a:solidFill>
                <a:schemeClr val="bg1"/>
              </a:solidFill>
            </a:endParaRPr>
          </a:p>
          <a:p>
            <a:endParaRPr lang="ru-RU" dirty="0" smtClean="0">
              <a:solidFill>
                <a:schemeClr val="bg1"/>
              </a:solidFill>
            </a:endParaRPr>
          </a:p>
          <a:p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5" name="Прямоугольник 4"/>
          <p:cNvSpPr/>
          <p:nvPr/>
        </p:nvSpPr>
        <p:spPr>
          <a:xfrm>
            <a:off x="1357290" y="3143248"/>
            <a:ext cx="6215106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fontAlgn="base">
              <a:spcBef>
                <a:spcPct val="0"/>
              </a:spcBef>
              <a:spcAft>
                <a:spcPct val="0"/>
              </a:spcAft>
              <a:buFont typeface="+mj-lt"/>
              <a:buAutoNum type="arabicPeriod" startAt="2"/>
              <a:tabLst>
                <a:tab pos="2970213" algn="ctr"/>
                <a:tab pos="5940425" algn="r"/>
              </a:tabLst>
            </a:pPr>
            <a:r>
              <a:rPr lang="ru-RU" b="1" dirty="0" smtClean="0">
                <a:solidFill>
                  <a:schemeClr val="bg1"/>
                </a:solidFill>
              </a:rPr>
              <a:t>Моделирование и формализация . </a:t>
            </a:r>
            <a:r>
              <a:rPr lang="ru-RU" dirty="0" smtClean="0">
                <a:solidFill>
                  <a:schemeClr val="bg1"/>
                </a:solidFill>
                <a:latin typeface="Arial" pitchFamily="34" charset="0"/>
                <a:ea typeface="Times New Roman" pitchFamily="18" charset="0"/>
                <a:cs typeface="Arial" pitchFamily="34" charset="0"/>
              </a:rPr>
              <a:t>Практикум по решению задач в курсе информатики. Лебедева Э.В, Центр информатизации и оценки качества образования</a:t>
            </a:r>
            <a:endParaRPr lang="ru-RU" sz="4400" dirty="0" smtClean="0">
              <a:solidFill>
                <a:schemeClr val="bg1"/>
              </a:solidFill>
              <a:latin typeface="Arial" pitchFamily="34" charset="0"/>
            </a:endParaRPr>
          </a:p>
        </p:txBody>
      </p:sp>
      <p:sp>
        <p:nvSpPr>
          <p:cNvPr id="6" name="Прямоугольник 5"/>
          <p:cNvSpPr/>
          <p:nvPr/>
        </p:nvSpPr>
        <p:spPr>
          <a:xfrm>
            <a:off x="1428728" y="4286256"/>
            <a:ext cx="5857916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+mj-lt"/>
              <a:buAutoNum type="arabicPeriod" startAt="3"/>
            </a:pPr>
            <a:r>
              <a:rPr lang="ru-RU" dirty="0" smtClean="0">
                <a:solidFill>
                  <a:schemeClr val="bg1"/>
                </a:solidFill>
                <a:latin typeface="Arial" pitchFamily="34" charset="0"/>
                <a:ea typeface="Times New Roman" pitchFamily="18" charset="0"/>
                <a:cs typeface="Arial" pitchFamily="34" charset="0"/>
              </a:rPr>
              <a:t>Структура информации, К.Ю. Поляков, А.П. Шестаков, Е.А. Еремин</a:t>
            </a:r>
          </a:p>
          <a:p>
            <a:pPr marL="342900" indent="-342900"/>
            <a:r>
              <a:rPr lang="ru-RU" dirty="0" smtClean="0">
                <a:solidFill>
                  <a:schemeClr val="bg1"/>
                </a:solidFill>
                <a:latin typeface="Arial" pitchFamily="34" charset="0"/>
                <a:ea typeface="Times New Roman" pitchFamily="18" charset="0"/>
                <a:cs typeface="Arial" pitchFamily="34" charset="0"/>
              </a:rPr>
              <a:t> </a:t>
            </a:r>
            <a:r>
              <a:rPr lang="ru-RU" dirty="0" smtClean="0">
                <a:solidFill>
                  <a:schemeClr val="bg1"/>
                </a:solidFill>
                <a:latin typeface="Arial" pitchFamily="34" charset="0"/>
                <a:ea typeface="Times New Roman" pitchFamily="18" charset="0"/>
                <a:cs typeface="Arial" pitchFamily="34" charset="0"/>
                <a:hlinkClick r:id="rId3"/>
              </a:rPr>
              <a:t>http://kpolyakov.narod.ru</a:t>
            </a:r>
            <a:endParaRPr lang="ru-RU" dirty="0" smtClean="0">
              <a:solidFill>
                <a:schemeClr val="bg1"/>
              </a:solidFill>
              <a:latin typeface="Arial" pitchFamily="34" charset="0"/>
              <a:ea typeface="Times New Roman" pitchFamily="18" charset="0"/>
              <a:cs typeface="Arial" pitchFamily="34" charset="0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strips dir="rd"/>
  </p:transition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Override1.xml><?xml version="1.0" encoding="utf-8"?>
<a:themeOverride xmlns:a="http://schemas.openxmlformats.org/drawingml/2006/main">
  <a:clrScheme name="Стандартная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ppt/theme/themeOverride2.xml><?xml version="1.0" encoding="utf-8"?>
<a:themeOverride xmlns:a="http://schemas.openxmlformats.org/drawingml/2006/main">
  <a:clrScheme name="Стандартная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ppt/theme/themeOverride3.xml><?xml version="1.0" encoding="utf-8"?>
<a:themeOverride xmlns:a="http://schemas.openxmlformats.org/drawingml/2006/main">
  <a:clrScheme name="Стандартная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ppt/theme/themeOverride4.xml><?xml version="1.0" encoding="utf-8"?>
<a:themeOverride xmlns:a="http://schemas.openxmlformats.org/drawingml/2006/main">
  <a:clrScheme name="Стандартная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ppt/theme/themeOverride5.xml><?xml version="1.0" encoding="utf-8"?>
<a:themeOverride xmlns:a="http://schemas.openxmlformats.org/drawingml/2006/main">
  <a:clrScheme name="Стандартная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ppt/theme/themeOverride6.xml><?xml version="1.0" encoding="utf-8"?>
<a:themeOverride xmlns:a="http://schemas.openxmlformats.org/drawingml/2006/main">
  <a:clrScheme name="Стандартная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ppt/theme/themeOverride7.xml><?xml version="1.0" encoding="utf-8"?>
<a:themeOverride xmlns:a="http://schemas.openxmlformats.org/drawingml/2006/main">
  <a:clrScheme name="Стандартная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ppt/theme/themeOverride8.xml><?xml version="1.0" encoding="utf-8"?>
<a:themeOverride xmlns:a="http://schemas.openxmlformats.org/drawingml/2006/main">
  <a:clrScheme name="Стандартная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ppt/theme/themeOverride9.xml><?xml version="1.0" encoding="utf-8"?>
<a:themeOverride xmlns:a="http://schemas.openxmlformats.org/drawingml/2006/main">
  <a:clrScheme name="Стандартная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ppt/theme/themeOverride10.xml><?xml version="1.0" encoding="utf-8"?>
<a:themeOverride xmlns:a="http://schemas.openxmlformats.org/drawingml/2006/main">
  <a:clrScheme name="Стандартная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ppt/theme/themeOverride11.xml><?xml version="1.0" encoding="utf-8"?>
<a:themeOverride xmlns:a="http://schemas.openxmlformats.org/drawingml/2006/main">
  <a:clrScheme name="Стандартная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ppt/theme/themeOverride12.xml><?xml version="1.0" encoding="utf-8"?>
<a:themeOverride xmlns:a="http://schemas.openxmlformats.org/drawingml/2006/main">
  <a:clrScheme name="Стандартная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ppt/theme/themeOverride13.xml><?xml version="1.0" encoding="utf-8"?>
<a:themeOverride xmlns:a="http://schemas.openxmlformats.org/drawingml/2006/main">
  <a:clrScheme name="Стандартная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ppt/theme/themeOverride14.xml><?xml version="1.0" encoding="utf-8"?>
<a:themeOverride xmlns:a="http://schemas.openxmlformats.org/drawingml/2006/main">
  <a:clrScheme name="Стандартная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ppt/theme/themeOverride15.xml><?xml version="1.0" encoding="utf-8"?>
<a:themeOverride xmlns:a="http://schemas.openxmlformats.org/drawingml/2006/main">
  <a:clrScheme name="Стандартная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1090</TotalTime>
  <Words>1647</Words>
  <Application>Microsoft Office PowerPoint</Application>
  <PresentationFormat>Экран (4:3)</PresentationFormat>
  <Paragraphs>455</Paragraphs>
  <Slides>22</Slides>
  <Notes>2</Notes>
  <HiddenSlides>0</HiddenSlides>
  <MMClips>0</MMClips>
  <ScaleCrop>false</ScaleCrop>
  <HeadingPairs>
    <vt:vector size="6" baseType="variant">
      <vt:variant>
        <vt:lpstr>Тема</vt:lpstr>
      </vt:variant>
      <vt:variant>
        <vt:i4>1</vt:i4>
      </vt:variant>
      <vt:variant>
        <vt:lpstr>Внедренные серверы OLE</vt:lpstr>
      </vt:variant>
      <vt:variant>
        <vt:i4>1</vt:i4>
      </vt:variant>
      <vt:variant>
        <vt:lpstr>Заголовки слайдов</vt:lpstr>
      </vt:variant>
      <vt:variant>
        <vt:i4>22</vt:i4>
      </vt:variant>
    </vt:vector>
  </HeadingPairs>
  <TitlesOfParts>
    <vt:vector size="24" baseType="lpstr">
      <vt:lpstr>Тема Office</vt:lpstr>
      <vt:lpstr>Точечный рисунок</vt:lpstr>
      <vt:lpstr>Компьютерное  информационное моделирование </vt:lpstr>
      <vt:lpstr>Слайд 2</vt:lpstr>
      <vt:lpstr>Слайд 3</vt:lpstr>
      <vt:lpstr>Слайд 4</vt:lpstr>
      <vt:lpstr>Слайд 5</vt:lpstr>
      <vt:lpstr>Слайд 6</vt:lpstr>
      <vt:lpstr>Слайд 7</vt:lpstr>
      <vt:lpstr>Слайд 8</vt:lpstr>
      <vt:lpstr>Слайд 9</vt:lpstr>
      <vt:lpstr>Слайд 10</vt:lpstr>
      <vt:lpstr>Слайд 11</vt:lpstr>
      <vt:lpstr>Слайд 12</vt:lpstr>
      <vt:lpstr>Слайд 13</vt:lpstr>
      <vt:lpstr>Слайд 14</vt:lpstr>
      <vt:lpstr>Слайд 15</vt:lpstr>
      <vt:lpstr>Слайд 16</vt:lpstr>
      <vt:lpstr>Слайд 17</vt:lpstr>
      <vt:lpstr>Слайд 18</vt:lpstr>
      <vt:lpstr>Слайд 19</vt:lpstr>
      <vt:lpstr>Слайд 20</vt:lpstr>
      <vt:lpstr>Слайд 21</vt:lpstr>
      <vt:lpstr>Используемые материалы</vt:lpstr>
    </vt:vector>
  </TitlesOfParts>
  <Company>школа9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Компьютерное  информационное моделирование</dc:title>
  <dc:creator>МОУ СОШ 9</dc:creator>
  <cp:lastModifiedBy>МОУ СОШ 9</cp:lastModifiedBy>
  <cp:revision>90</cp:revision>
  <dcterms:created xsi:type="dcterms:W3CDTF">2010-10-26T08:09:41Z</dcterms:created>
  <dcterms:modified xsi:type="dcterms:W3CDTF">2010-12-24T02:10:32Z</dcterms:modified>
</cp:coreProperties>
</file>