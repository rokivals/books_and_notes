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259" r:id="rId3"/>
    <p:sldId id="260" r:id="rId4"/>
    <p:sldId id="261" r:id="rId5"/>
    <p:sldId id="262" r:id="rId6"/>
    <p:sldId id="263" r:id="rId7"/>
    <p:sldId id="280" r:id="rId8"/>
    <p:sldId id="281" r:id="rId9"/>
    <p:sldId id="282" r:id="rId10"/>
    <p:sldId id="283" r:id="rId11"/>
    <p:sldId id="284" r:id="rId12"/>
    <p:sldId id="285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6" r:id="rId29"/>
    <p:sldId id="287" r:id="rId30"/>
    <p:sldId id="288" r:id="rId31"/>
    <p:sldId id="295" r:id="rId32"/>
    <p:sldId id="296" r:id="rId33"/>
    <p:sldId id="291" r:id="rId34"/>
    <p:sldId id="292" r:id="rId35"/>
    <p:sldId id="293" r:id="rId36"/>
    <p:sldId id="294" r:id="rId37"/>
    <p:sldId id="289" r:id="rId38"/>
    <p:sldId id="290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2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204A2-E384-4A33-B7AC-95CAF741A251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2328F-7AD5-4B7F-8D24-7D9C8DFFD4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83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44FAF-D9B6-455F-B217-AA9810128AA2}" type="slidenum">
              <a:rPr lang="ru-RU" altLang="ru-RU"/>
              <a:pPr/>
              <a:t>28</a:t>
            </a:fld>
            <a:endParaRPr lang="ru-RU" altLang="ru-RU"/>
          </a:p>
        </p:txBody>
      </p:sp>
      <p:sp>
        <p:nvSpPr>
          <p:cNvPr id="67277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2771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3276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5413E7-D183-4B53-9E72-350AE4E72F8D}" type="slidenum">
              <a:rPr lang="ru-RU" altLang="ru-RU"/>
              <a:pPr/>
              <a:t>29</a:t>
            </a:fld>
            <a:endParaRPr lang="ru-RU" altLang="ru-RU"/>
          </a:p>
        </p:txBody>
      </p:sp>
      <p:sp>
        <p:nvSpPr>
          <p:cNvPr id="7270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63854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477F51-F7B3-4C7A-BB8F-90F013C4AF38}" type="slidenum">
              <a:rPr lang="ru-RU" altLang="ru-RU"/>
              <a:pPr/>
              <a:t>30</a:t>
            </a:fld>
            <a:endParaRPr lang="ru-RU" altLang="ru-RU"/>
          </a:p>
        </p:txBody>
      </p:sp>
      <p:sp>
        <p:nvSpPr>
          <p:cNvPr id="674818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481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3226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76816-7929-43FF-817A-FE113CBBFB68}" type="slidenum">
              <a:rPr lang="ru-RU" altLang="ru-RU"/>
              <a:pPr/>
              <a:t>33</a:t>
            </a:fld>
            <a:endParaRPr lang="ru-RU" altLang="ru-RU"/>
          </a:p>
        </p:txBody>
      </p:sp>
      <p:sp>
        <p:nvSpPr>
          <p:cNvPr id="7311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39786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A6A50-CB6D-4097-8576-46FB086E6109}" type="slidenum">
              <a:rPr lang="ru-RU" altLang="ru-RU"/>
              <a:pPr/>
              <a:t>34</a:t>
            </a:fld>
            <a:endParaRPr lang="ru-RU" altLang="ru-RU"/>
          </a:p>
        </p:txBody>
      </p:sp>
      <p:sp>
        <p:nvSpPr>
          <p:cNvPr id="733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6938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29952A-19E3-4DBD-916B-97FC7035A5B3}" type="slidenum">
              <a:rPr lang="ru-RU" altLang="ru-RU"/>
              <a:pPr/>
              <a:t>35</a:t>
            </a:fld>
            <a:endParaRPr lang="ru-RU" altLang="ru-RU"/>
          </a:p>
        </p:txBody>
      </p:sp>
      <p:sp>
        <p:nvSpPr>
          <p:cNvPr id="7168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505702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8A8696-9F6E-48A8-BB42-63D0FCEAF734}" type="slidenum">
              <a:rPr lang="ru-RU" altLang="ru-RU"/>
              <a:pPr/>
              <a:t>36</a:t>
            </a:fld>
            <a:endParaRPr lang="ru-RU" altLang="ru-RU"/>
          </a:p>
        </p:txBody>
      </p:sp>
      <p:sp>
        <p:nvSpPr>
          <p:cNvPr id="7188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6962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A7B8F8-A346-4F3B-8938-C8826CDB1A95}" type="slidenum">
              <a:rPr lang="ru-RU" altLang="ru-RU"/>
              <a:pPr/>
              <a:t>37</a:t>
            </a:fld>
            <a:endParaRPr lang="ru-RU" altLang="ru-RU"/>
          </a:p>
        </p:txBody>
      </p:sp>
      <p:sp>
        <p:nvSpPr>
          <p:cNvPr id="680962" name="Rectangle 1026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0963" name="Rectangle 1027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32374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D96B49-F40D-4587-8634-09C5CF84F01D}" type="slidenum">
              <a:rPr lang="ru-RU" altLang="ru-RU"/>
              <a:pPr/>
              <a:t>38</a:t>
            </a:fld>
            <a:endParaRPr lang="ru-RU" altLang="ru-RU"/>
          </a:p>
        </p:txBody>
      </p:sp>
      <p:sp>
        <p:nvSpPr>
          <p:cNvPr id="683010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3011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421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34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42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51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51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56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98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00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6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04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65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349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385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097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692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824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007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399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Заголовок, текст и кл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Клип 3"/>
          <p:cNvSpPr>
            <a:spLocks noGrp="1"/>
          </p:cNvSpPr>
          <p:nvPr>
            <p:ph type="clipArt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4B76C1-9435-4497-BA37-2C829500BC1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0519649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B2B6E-906C-4538-BF97-EDDD9F19BC1C}" type="datetimeFigureOut">
              <a:rPr lang="ru-RU" smtClean="0"/>
              <a:t>10.09.2017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CEF68-2214-462A-9C89-561F98E76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445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npo-pusk.ru/develop/img/ethernet.gif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12231" y="1386311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Локально вычислительные сети (ЛВС)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21831" y="4305970"/>
            <a:ext cx="9448800" cy="685800"/>
          </a:xfrm>
        </p:spPr>
        <p:txBody>
          <a:bodyPr/>
          <a:lstStyle/>
          <a:p>
            <a:pPr algn="r"/>
            <a:r>
              <a:rPr lang="ru-RU" dirty="0" smtClean="0"/>
              <a:t>Преподаватель: Алиев Самир Алиевич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960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5"/>
          <p:cNvSpPr txBox="1">
            <a:spLocks noChangeArrowheads="1"/>
          </p:cNvSpPr>
          <p:nvPr/>
        </p:nvSpPr>
        <p:spPr bwMode="auto">
          <a:xfrm>
            <a:off x="1774825" y="333375"/>
            <a:ext cx="8605838" cy="18651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b="1">
                <a:solidFill>
                  <a:srgbClr val="FF0066"/>
                </a:solidFill>
                <a:latin typeface="Arial" panose="020B0604020202020204" pitchFamily="34" charset="0"/>
              </a:rPr>
              <a:t>КОМПЬЮТЕРНАЯ  СЕТЬ</a:t>
            </a:r>
            <a:r>
              <a:rPr lang="ru-RU" altLang="ru-RU" b="1">
                <a:latin typeface="Arial" panose="020B0604020202020204" pitchFamily="34" charset="0"/>
              </a:rPr>
              <a:t> </a:t>
            </a:r>
            <a:r>
              <a:rPr lang="ru-RU" altLang="ru-RU" b="1">
                <a:solidFill>
                  <a:schemeClr val="accent2"/>
                </a:solidFill>
                <a:latin typeface="Arial" panose="020B0604020202020204" pitchFamily="34" charset="0"/>
              </a:rPr>
              <a:t>–</a:t>
            </a:r>
            <a:r>
              <a:rPr lang="ru-RU" altLang="ru-RU" b="1">
                <a:latin typeface="Arial" panose="020B0604020202020204" pitchFamily="34" charset="0"/>
              </a:rPr>
              <a:t> </a:t>
            </a:r>
            <a:r>
              <a:rPr lang="ru-RU" altLang="ru-RU" b="1">
                <a:solidFill>
                  <a:srgbClr val="3333CC"/>
                </a:solidFill>
                <a:latin typeface="Arial" panose="020B0604020202020204" pitchFamily="34" charset="0"/>
              </a:rPr>
              <a:t>соединение компьютеров для обмена информацией и совместного использования ресурсов (</a:t>
            </a:r>
            <a:r>
              <a:rPr lang="ru-RU" altLang="ru-RU" sz="2400" b="1" i="1">
                <a:solidFill>
                  <a:srgbClr val="3333CC"/>
                </a:solidFill>
                <a:latin typeface="Arial" panose="020B0604020202020204" pitchFamily="34" charset="0"/>
              </a:rPr>
              <a:t>принтер, модем и т. д</a:t>
            </a:r>
            <a:r>
              <a:rPr lang="ru-RU" altLang="ru-RU" b="1" i="1">
                <a:solidFill>
                  <a:srgbClr val="3333CC"/>
                </a:solidFill>
                <a:latin typeface="Arial" panose="020B0604020202020204" pitchFamily="34" charset="0"/>
              </a:rPr>
              <a:t>)</a:t>
            </a:r>
            <a:endParaRPr lang="ru-RU" altLang="ru-RU" i="1">
              <a:solidFill>
                <a:srgbClr val="3333CC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1666876" y="4689475"/>
            <a:ext cx="47164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Arial" panose="020B0604020202020204" pitchFamily="34" charset="0"/>
              </a:rPr>
              <a:t>       </a:t>
            </a:r>
            <a:endParaRPr lang="ru-RU" altLang="ru-RU" sz="1400" b="1">
              <a:latin typeface="Arial" panose="020B0604020202020204" pitchFamily="34" charset="0"/>
            </a:endParaRPr>
          </a:p>
        </p:txBody>
      </p:sp>
      <p:sp>
        <p:nvSpPr>
          <p:cNvPr id="19460" name="Rectangle 8"/>
          <p:cNvSpPr>
            <a:spLocks noChangeArrowheads="1"/>
          </p:cNvSpPr>
          <p:nvPr/>
        </p:nvSpPr>
        <p:spPr bwMode="auto">
          <a:xfrm>
            <a:off x="1524001" y="2349501"/>
            <a:ext cx="8747125" cy="2951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grpSp>
        <p:nvGrpSpPr>
          <p:cNvPr id="19461" name="Group 9"/>
          <p:cNvGrpSpPr>
            <a:grpSpLocks/>
          </p:cNvGrpSpPr>
          <p:nvPr/>
        </p:nvGrpSpPr>
        <p:grpSpPr bwMode="auto">
          <a:xfrm>
            <a:off x="3143251" y="2852739"/>
            <a:ext cx="5616575" cy="422275"/>
            <a:chOff x="2632" y="3693"/>
            <a:chExt cx="1796" cy="222"/>
          </a:xfrm>
        </p:grpSpPr>
        <p:pic>
          <p:nvPicPr>
            <p:cNvPr id="19476" name="Picture 10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33" y="3797"/>
              <a:ext cx="1795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7" name="Picture 11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72000" contrast="-7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2" y="3693"/>
              <a:ext cx="1796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462" name="Picture 12" descr="computer"/>
          <p:cNvPicPr>
            <a:picLocks noChangeAspect="1" noChangeArrowheads="1" noCrop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276475"/>
            <a:ext cx="3203575" cy="266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13" descr="computer"/>
          <p:cNvPicPr>
            <a:picLocks noChangeAspect="1" noChangeArrowheads="1" noCrop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205039"/>
            <a:ext cx="34925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Text Box 14"/>
          <p:cNvSpPr txBox="1">
            <a:spLocks noChangeArrowheads="1"/>
          </p:cNvSpPr>
          <p:nvPr/>
        </p:nvSpPr>
        <p:spPr bwMode="auto">
          <a:xfrm>
            <a:off x="4008439" y="2492376"/>
            <a:ext cx="3959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solidFill>
                  <a:srgbClr val="FF3300"/>
                </a:solidFill>
                <a:latin typeface="Arial" panose="020B0604020202020204" pitchFamily="34" charset="0"/>
              </a:rPr>
              <a:t>Линия  передачи  данных</a:t>
            </a:r>
          </a:p>
        </p:txBody>
      </p:sp>
      <p:sp>
        <p:nvSpPr>
          <p:cNvPr id="19465" name="Text Box 24"/>
          <p:cNvSpPr txBox="1">
            <a:spLocks noChangeArrowheads="1"/>
          </p:cNvSpPr>
          <p:nvPr/>
        </p:nvSpPr>
        <p:spPr bwMode="auto">
          <a:xfrm>
            <a:off x="6708775" y="4724400"/>
            <a:ext cx="3708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Arial" panose="020B0604020202020204" pitchFamily="34" charset="0"/>
              </a:rPr>
              <a:t>        </a:t>
            </a:r>
            <a:endParaRPr lang="ru-RU" altLang="ru-RU" sz="14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9466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199689" y="6381750"/>
            <a:ext cx="217487" cy="287338"/>
          </a:xfrm>
          <a:prstGeom prst="actionButtonForwardNex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19467" name="AutoShape 2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774825" y="6381750"/>
            <a:ext cx="217488" cy="287338"/>
          </a:xfrm>
          <a:prstGeom prst="actionButtonBackPrevious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pic>
        <p:nvPicPr>
          <p:cNvPr id="19468" name="Picture 27" descr="comp6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1" y="4437064"/>
            <a:ext cx="1368425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3500439"/>
            <a:ext cx="10795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70" name="Group 29"/>
          <p:cNvGrpSpPr>
            <a:grpSpLocks/>
          </p:cNvGrpSpPr>
          <p:nvPr/>
        </p:nvGrpSpPr>
        <p:grpSpPr bwMode="auto">
          <a:xfrm>
            <a:off x="3503614" y="3573464"/>
            <a:ext cx="1152525" cy="422275"/>
            <a:chOff x="2632" y="3693"/>
            <a:chExt cx="1796" cy="222"/>
          </a:xfrm>
        </p:grpSpPr>
        <p:pic>
          <p:nvPicPr>
            <p:cNvPr id="19474" name="Picture 30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33" y="3797"/>
              <a:ext cx="1795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5" name="Picture 31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72000" contrast="-7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2" y="3693"/>
              <a:ext cx="1796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71" name="Group 32"/>
          <p:cNvGrpSpPr>
            <a:grpSpLocks/>
          </p:cNvGrpSpPr>
          <p:nvPr/>
        </p:nvGrpSpPr>
        <p:grpSpPr bwMode="auto">
          <a:xfrm>
            <a:off x="5519738" y="3716339"/>
            <a:ext cx="2520950" cy="422275"/>
            <a:chOff x="2632" y="3693"/>
            <a:chExt cx="1796" cy="222"/>
          </a:xfrm>
        </p:grpSpPr>
        <p:pic>
          <p:nvPicPr>
            <p:cNvPr id="19472" name="Picture 33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33" y="3797"/>
              <a:ext cx="1795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3" name="Picture 34" descr="AG00056_"/>
            <p:cNvPicPr>
              <a:picLocks noChangeAspect="1" noChangeArrowheads="1" noCrop="1"/>
            </p:cNvPicPr>
            <p:nvPr/>
          </p:nvPicPr>
          <p:blipFill>
            <a:blip r:embed="rId2">
              <a:lum bright="72000" contrast="-7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2" y="3693"/>
              <a:ext cx="1796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04757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/>
            <a:r>
              <a:rPr lang="ru-RU" altLang="ru-RU" b="1" dirty="0"/>
              <a:t>Компьютерные сети классифицируются по: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8213" y="2420939"/>
            <a:ext cx="7772400" cy="3240087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ru-RU" altLang="ru-RU" sz="3600" b="1" dirty="0">
                <a:solidFill>
                  <a:srgbClr val="CCCC00"/>
                </a:solidFill>
              </a:rPr>
              <a:t>Расстоянию между узлами;</a:t>
            </a:r>
          </a:p>
          <a:p>
            <a:pPr marL="609600" indent="-609600">
              <a:buFontTx/>
              <a:buAutoNum type="arabicPeriod"/>
            </a:pPr>
            <a:r>
              <a:rPr lang="ru-RU" altLang="ru-RU" sz="3600" b="1" dirty="0">
                <a:solidFill>
                  <a:srgbClr val="CCCC00"/>
                </a:solidFill>
              </a:rPr>
              <a:t>Типу среды передачи;</a:t>
            </a:r>
          </a:p>
          <a:p>
            <a:pPr marL="609600" indent="-609600">
              <a:buFontTx/>
              <a:buAutoNum type="arabicPeriod"/>
            </a:pPr>
            <a:r>
              <a:rPr lang="ru-RU" altLang="ru-RU" sz="3600" b="1" dirty="0">
                <a:solidFill>
                  <a:srgbClr val="CCCC00"/>
                </a:solidFill>
              </a:rPr>
              <a:t>Скорости передачи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4160119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3600" b="1" dirty="0"/>
              <a:t>Классификация сетей по скорости передачи информации</a:t>
            </a:r>
          </a:p>
        </p:txBody>
      </p:sp>
      <p:sp>
        <p:nvSpPr>
          <p:cNvPr id="347139" name="Text Box 3"/>
          <p:cNvSpPr txBox="1">
            <a:spLocks noChangeArrowheads="1"/>
          </p:cNvSpPr>
          <p:nvPr/>
        </p:nvSpPr>
        <p:spPr bwMode="auto">
          <a:xfrm>
            <a:off x="5087939" y="2133601"/>
            <a:ext cx="2016125" cy="58261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b="1">
                <a:solidFill>
                  <a:srgbClr val="006699"/>
                </a:solidFill>
                <a:latin typeface="Arial" panose="020B0604020202020204" pitchFamily="34" charset="0"/>
              </a:rPr>
              <a:t>Сети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1919289" y="3860801"/>
            <a:ext cx="2808287" cy="88741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200" b="1">
                <a:solidFill>
                  <a:srgbClr val="006600"/>
                </a:solidFill>
                <a:latin typeface="Arial" panose="020B0604020202020204" pitchFamily="34" charset="0"/>
              </a:rPr>
              <a:t>Низкоскоростные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(до 10 Мбит/с)</a:t>
            </a:r>
          </a:p>
        </p:txBody>
      </p:sp>
      <p:sp>
        <p:nvSpPr>
          <p:cNvPr id="347141" name="Text Box 5"/>
          <p:cNvSpPr txBox="1">
            <a:spLocks noChangeArrowheads="1"/>
          </p:cNvSpPr>
          <p:nvPr/>
        </p:nvSpPr>
        <p:spPr bwMode="auto">
          <a:xfrm>
            <a:off x="7391401" y="3860801"/>
            <a:ext cx="2951163" cy="88741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200" b="1">
                <a:solidFill>
                  <a:srgbClr val="006600"/>
                </a:solidFill>
                <a:latin typeface="Arial" panose="020B0604020202020204" pitchFamily="34" charset="0"/>
              </a:rPr>
              <a:t>Среднескоростные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(до 100 Мбит/с)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4583113" y="5084763"/>
            <a:ext cx="3059112" cy="88741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200" b="1">
                <a:solidFill>
                  <a:srgbClr val="006600"/>
                </a:solidFill>
                <a:latin typeface="Arial" panose="020B0604020202020204" pitchFamily="34" charset="0"/>
              </a:rPr>
              <a:t>Высокоскоростные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(свыше 1000 Мбит/с)</a:t>
            </a:r>
          </a:p>
        </p:txBody>
      </p:sp>
      <p:sp>
        <p:nvSpPr>
          <p:cNvPr id="21511" name="AutoShape 10"/>
          <p:cNvSpPr>
            <a:spLocks noChangeArrowheads="1"/>
          </p:cNvSpPr>
          <p:nvPr/>
        </p:nvSpPr>
        <p:spPr bwMode="auto">
          <a:xfrm rot="1988921">
            <a:off x="3638551" y="2179639"/>
            <a:ext cx="1008063" cy="1584325"/>
          </a:xfrm>
          <a:prstGeom prst="curvedRightArrow">
            <a:avLst>
              <a:gd name="adj1" fmla="val 31433"/>
              <a:gd name="adj2" fmla="val 62866"/>
              <a:gd name="adj3" fmla="val 303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21512" name="AutoShape 12"/>
          <p:cNvSpPr>
            <a:spLocks noChangeArrowheads="1"/>
          </p:cNvSpPr>
          <p:nvPr/>
        </p:nvSpPr>
        <p:spPr bwMode="auto">
          <a:xfrm rot="-1512648">
            <a:off x="7734300" y="2159000"/>
            <a:ext cx="1022350" cy="1620838"/>
          </a:xfrm>
          <a:prstGeom prst="curvedLeftArrow">
            <a:avLst>
              <a:gd name="adj1" fmla="val 31708"/>
              <a:gd name="adj2" fmla="val 63416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21513" name="AutoShape 13"/>
          <p:cNvSpPr>
            <a:spLocks noChangeArrowheads="1"/>
          </p:cNvSpPr>
          <p:nvPr/>
        </p:nvSpPr>
        <p:spPr bwMode="auto">
          <a:xfrm>
            <a:off x="6024563" y="2924176"/>
            <a:ext cx="215900" cy="2017713"/>
          </a:xfrm>
          <a:prstGeom prst="downArrow">
            <a:avLst>
              <a:gd name="adj1" fmla="val 50000"/>
              <a:gd name="adj2" fmla="val 2336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1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/>
      <p:bldP spid="347139" grpId="0" animBg="1"/>
      <p:bldP spid="347140" grpId="0" animBg="1"/>
      <p:bldP spid="347141" grpId="0" animBg="1"/>
      <p:bldP spid="3471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/>
            <a:r>
              <a:rPr lang="ru-RU" altLang="ru-RU" b="1" dirty="0"/>
              <a:t>Классификация сетей по типу среды передачи</a:t>
            </a:r>
          </a:p>
        </p:txBody>
      </p:sp>
      <p:sp>
        <p:nvSpPr>
          <p:cNvPr id="354307" name="Text Box 3"/>
          <p:cNvSpPr txBox="1">
            <a:spLocks noChangeArrowheads="1"/>
          </p:cNvSpPr>
          <p:nvPr/>
        </p:nvSpPr>
        <p:spPr bwMode="auto">
          <a:xfrm>
            <a:off x="5016501" y="2133601"/>
            <a:ext cx="2016125" cy="58261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b="1">
                <a:solidFill>
                  <a:srgbClr val="006699"/>
                </a:solidFill>
                <a:latin typeface="Arial" panose="020B0604020202020204" pitchFamily="34" charset="0"/>
              </a:rPr>
              <a:t>Сети</a:t>
            </a:r>
          </a:p>
        </p:txBody>
      </p:sp>
      <p:sp>
        <p:nvSpPr>
          <p:cNvPr id="354308" name="Text Box 4"/>
          <p:cNvSpPr txBox="1">
            <a:spLocks noChangeArrowheads="1"/>
          </p:cNvSpPr>
          <p:nvPr/>
        </p:nvSpPr>
        <p:spPr bwMode="auto">
          <a:xfrm>
            <a:off x="2063750" y="3789363"/>
            <a:ext cx="3600450" cy="14224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400" b="1">
                <a:solidFill>
                  <a:srgbClr val="0000FF"/>
                </a:solidFill>
                <a:latin typeface="Arial" panose="020B0604020202020204" pitchFamily="34" charset="0"/>
              </a:rPr>
              <a:t>Проводные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(с использованием медного коаксиального кабеля, витой пары, оптического волокна)</a:t>
            </a:r>
          </a:p>
        </p:txBody>
      </p:sp>
      <p:sp>
        <p:nvSpPr>
          <p:cNvPr id="354309" name="Text Box 5"/>
          <p:cNvSpPr txBox="1">
            <a:spLocks noChangeArrowheads="1"/>
          </p:cNvSpPr>
          <p:nvPr/>
        </p:nvSpPr>
        <p:spPr bwMode="auto">
          <a:xfrm>
            <a:off x="6240463" y="3789363"/>
            <a:ext cx="3600450" cy="14224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400" b="1">
                <a:solidFill>
                  <a:srgbClr val="0000FF"/>
                </a:solidFill>
                <a:latin typeface="Arial" panose="020B0604020202020204" pitchFamily="34" charset="0"/>
              </a:rPr>
              <a:t>Беспроводные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(с передачей информации по радиоканалам, в инфракрасном диапазоне)</a:t>
            </a:r>
          </a:p>
        </p:txBody>
      </p:sp>
      <p:sp>
        <p:nvSpPr>
          <p:cNvPr id="22534" name="AutoShape 9"/>
          <p:cNvSpPr>
            <a:spLocks noChangeArrowheads="1"/>
          </p:cNvSpPr>
          <p:nvPr/>
        </p:nvSpPr>
        <p:spPr bwMode="auto">
          <a:xfrm rot="1985366" flipH="1">
            <a:off x="5083176" y="2747964"/>
            <a:ext cx="161925" cy="936625"/>
          </a:xfrm>
          <a:prstGeom prst="downArrow">
            <a:avLst>
              <a:gd name="adj1" fmla="val 50000"/>
              <a:gd name="adj2" fmla="val 1446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22535" name="AutoShape 10"/>
          <p:cNvSpPr>
            <a:spLocks noChangeArrowheads="1"/>
          </p:cNvSpPr>
          <p:nvPr/>
        </p:nvSpPr>
        <p:spPr bwMode="auto">
          <a:xfrm rot="19867664" flipH="1">
            <a:off x="6738938" y="2762251"/>
            <a:ext cx="144462" cy="936625"/>
          </a:xfrm>
          <a:prstGeom prst="downArrow">
            <a:avLst>
              <a:gd name="adj1" fmla="val 50000"/>
              <a:gd name="adj2" fmla="val 1620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40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4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6" grpId="0"/>
      <p:bldP spid="354307" grpId="0" animBg="1"/>
      <p:bldP spid="354308" grpId="0" animBg="1"/>
      <p:bldP spid="35430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1919288" y="2997201"/>
            <a:ext cx="3816350" cy="1368425"/>
          </a:xfrm>
          <a:solidFill>
            <a:srgbClr val="FFFF99"/>
          </a:solidFill>
          <a:ln w="38100">
            <a:solidFill>
              <a:schemeClr val="tx1"/>
            </a:solidFill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ru-RU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Локальные</a:t>
            </a:r>
            <a:br>
              <a:rPr lang="ru-RU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ru-RU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Arial" charset="0"/>
              </a:rPr>
              <a:t>LAN</a:t>
            </a:r>
            <a:r>
              <a:rPr lang="ru-RU" dirty="0" smtClean="0"/>
              <a:t>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6240464" y="2997201"/>
            <a:ext cx="4427537" cy="13684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ru-RU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Региональные </a:t>
            </a:r>
            <a:endParaRPr lang="ru-RU" sz="4800" b="1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1919289" y="260351"/>
            <a:ext cx="8497887" cy="134937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4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КОМПЬЮТЕРНЫЕ СЕТИ</a:t>
            </a:r>
          </a:p>
          <a:p>
            <a:pPr algn="ctr" eaLnBrk="1" hangingPunct="1">
              <a:defRPr/>
            </a:pPr>
            <a:r>
              <a:rPr lang="ru-RU" sz="4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(по расстоянию между узлами)</a:t>
            </a:r>
          </a:p>
        </p:txBody>
      </p:sp>
      <p:sp>
        <p:nvSpPr>
          <p:cNvPr id="23557" name="AutoShape 7"/>
          <p:cNvSpPr>
            <a:spLocks noChangeArrowheads="1"/>
          </p:cNvSpPr>
          <p:nvPr/>
        </p:nvSpPr>
        <p:spPr bwMode="auto">
          <a:xfrm rot="3641916">
            <a:off x="7814470" y="2142332"/>
            <a:ext cx="1260475" cy="233363"/>
          </a:xfrm>
          <a:prstGeom prst="rightArrow">
            <a:avLst>
              <a:gd name="adj1" fmla="val 50000"/>
              <a:gd name="adj2" fmla="val 135034"/>
            </a:avLst>
          </a:prstGeom>
          <a:solidFill>
            <a:srgbClr val="0000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23558" name="AutoShape 8"/>
          <p:cNvSpPr>
            <a:spLocks noChangeArrowheads="1"/>
          </p:cNvSpPr>
          <p:nvPr/>
        </p:nvSpPr>
        <p:spPr bwMode="auto">
          <a:xfrm rot="7598634">
            <a:off x="3367882" y="2162969"/>
            <a:ext cx="1243012" cy="222250"/>
          </a:xfrm>
          <a:prstGeom prst="rightArrow">
            <a:avLst>
              <a:gd name="adj1" fmla="val 50000"/>
              <a:gd name="adj2" fmla="val 139821"/>
            </a:avLst>
          </a:prstGeom>
          <a:solidFill>
            <a:srgbClr val="0000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73745" name="Rectangle 17"/>
          <p:cNvSpPr>
            <a:spLocks noChangeArrowheads="1"/>
          </p:cNvSpPr>
          <p:nvPr/>
        </p:nvSpPr>
        <p:spPr bwMode="auto">
          <a:xfrm>
            <a:off x="3790951" y="5068888"/>
            <a:ext cx="4392612" cy="13684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ru-RU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Глобальные</a:t>
            </a:r>
          </a:p>
          <a:p>
            <a:pPr algn="ctr" eaLnBrk="1" hangingPunct="1">
              <a:defRPr/>
            </a:pPr>
            <a:r>
              <a:rPr lang="ru-RU" sz="6000" b="1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WAN</a:t>
            </a:r>
            <a:endParaRPr lang="ru-RU" sz="3200" b="1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</p:txBody>
      </p:sp>
      <p:sp>
        <p:nvSpPr>
          <p:cNvPr id="23560" name="AutoShape 18"/>
          <p:cNvSpPr>
            <a:spLocks noChangeArrowheads="1"/>
          </p:cNvSpPr>
          <p:nvPr/>
        </p:nvSpPr>
        <p:spPr bwMode="auto">
          <a:xfrm rot="5400000">
            <a:off x="4367214" y="3286126"/>
            <a:ext cx="3240087" cy="214313"/>
          </a:xfrm>
          <a:prstGeom prst="rightArrow">
            <a:avLst>
              <a:gd name="adj1" fmla="val 50000"/>
              <a:gd name="adj2" fmla="val 377962"/>
            </a:avLst>
          </a:prstGeom>
          <a:solidFill>
            <a:srgbClr val="0000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99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 descr="net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76" y="1700214"/>
            <a:ext cx="1152525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260350"/>
            <a:ext cx="7127875" cy="646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555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53979" y="1268414"/>
            <a:ext cx="5270585" cy="49688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3600" b="1" dirty="0">
                <a:solidFill>
                  <a:schemeClr val="accent3"/>
                </a:solidFill>
              </a:rPr>
              <a:t>Сеть, существующая в пределах определённого региона, называется</a:t>
            </a:r>
            <a:r>
              <a:rPr lang="ru-RU" sz="3600" b="1" dirty="0"/>
              <a:t> </a:t>
            </a:r>
            <a:r>
              <a:rPr lang="ru-RU" sz="4400" b="1" i="1" u="sng" dirty="0">
                <a:solidFill>
                  <a:srgbClr val="0000FF"/>
                </a:solidFill>
              </a:rPr>
              <a:t>  </a:t>
            </a:r>
            <a:r>
              <a:rPr lang="ru-RU" sz="44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региональной</a:t>
            </a:r>
            <a:r>
              <a:rPr lang="ru-RU" sz="36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ru-RU" sz="3600" b="1" i="1" u="sng" dirty="0"/>
              <a:t> </a:t>
            </a:r>
          </a:p>
          <a:p>
            <a:pPr marL="0" indent="0">
              <a:buNone/>
              <a:defRPr/>
            </a:pPr>
            <a:r>
              <a:rPr lang="ru-RU" sz="2800" b="1" dirty="0"/>
              <a:t> </a:t>
            </a:r>
          </a:p>
          <a:p>
            <a:pPr marL="0" indent="0">
              <a:buNone/>
              <a:defRPr/>
            </a:pPr>
            <a:endParaRPr lang="ru-RU" sz="2800" b="1" dirty="0"/>
          </a:p>
        </p:txBody>
      </p:sp>
      <p:pic>
        <p:nvPicPr>
          <p:cNvPr id="26627" name="Picture 3" descr="3"/>
          <p:cNvPicPr>
            <a:picLocks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08663" y="1125539"/>
            <a:ext cx="4464050" cy="5183187"/>
          </a:xfr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919289" y="333376"/>
            <a:ext cx="8353425" cy="790575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4400" b="1">
                <a:solidFill>
                  <a:srgbClr val="0000FF"/>
                </a:solidFill>
                <a:latin typeface="Arial" panose="020B0604020202020204" pitchFamily="34" charset="0"/>
              </a:rPr>
              <a:t>Региональные сети</a:t>
            </a:r>
          </a:p>
        </p:txBody>
      </p:sp>
    </p:spTree>
    <p:extLst>
      <p:ext uri="{BB962C8B-B14F-4D97-AF65-F5344CB8AC3E}">
        <p14:creationId xmlns:p14="http://schemas.microsoft.com/office/powerpoint/2010/main" val="1744784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333375"/>
            <a:ext cx="7772400" cy="1143000"/>
          </a:xfrm>
        </p:spPr>
        <p:txBody>
          <a:bodyPr/>
          <a:lstStyle/>
          <a:p>
            <a:pPr eaLnBrk="1" hangingPunct="1"/>
            <a:r>
              <a:rPr lang="ru-RU" altLang="ru-RU" b="1" dirty="0" smtClean="0">
                <a:solidFill>
                  <a:schemeClr val="accent3"/>
                </a:solidFill>
              </a:rPr>
              <a:t>Виртуальная частная сеть</a:t>
            </a:r>
          </a:p>
        </p:txBody>
      </p:sp>
      <p:pic>
        <p:nvPicPr>
          <p:cNvPr id="3532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74800"/>
            <a:ext cx="9144000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971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774825" y="333376"/>
            <a:ext cx="8642350" cy="12985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ru-RU" sz="32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ЛОКАЛЬНЫЕ СЕТИ</a:t>
            </a:r>
            <a:r>
              <a:rPr lang="ru-RU" sz="2800" b="1">
                <a:latin typeface="Arial" charset="0"/>
              </a:rPr>
              <a:t> </a:t>
            </a:r>
            <a:r>
              <a:rPr lang="ru-RU" sz="2800" b="1">
                <a:solidFill>
                  <a:schemeClr val="accent2"/>
                </a:solidFill>
                <a:latin typeface="Arial" charset="0"/>
              </a:rPr>
              <a:t>– это небольшие 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b="1">
                <a:solidFill>
                  <a:schemeClr val="accent2"/>
                </a:solidFill>
                <a:latin typeface="Arial" charset="0"/>
              </a:rPr>
              <a:t> компьютерные сети,  работающие в пределах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800" b="1">
                <a:solidFill>
                  <a:schemeClr val="accent2"/>
                </a:solidFill>
                <a:latin typeface="Arial" charset="0"/>
              </a:rPr>
              <a:t> одного помещения, одного предприятия</a:t>
            </a:r>
            <a:r>
              <a:rPr lang="ru-RU">
                <a:solidFill>
                  <a:schemeClr val="accent2"/>
                </a:solidFill>
                <a:latin typeface="Arial" charset="0"/>
              </a:rPr>
              <a:t>.</a:t>
            </a:r>
            <a:endParaRPr lang="ru-RU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28675" name="Line 5"/>
          <p:cNvSpPr>
            <a:spLocks noChangeShapeType="1"/>
          </p:cNvSpPr>
          <p:nvPr/>
        </p:nvSpPr>
        <p:spPr bwMode="auto">
          <a:xfrm>
            <a:off x="3359150" y="1536700"/>
            <a:ext cx="0" cy="10175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76" name="Line 6"/>
          <p:cNvSpPr>
            <a:spLocks noChangeShapeType="1"/>
          </p:cNvSpPr>
          <p:nvPr/>
        </p:nvSpPr>
        <p:spPr bwMode="auto">
          <a:xfrm>
            <a:off x="7859713" y="1536701"/>
            <a:ext cx="0" cy="10572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28677" name="Picture 59" descr="Картинка 10 из 17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1590676"/>
            <a:ext cx="5472113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7577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260350"/>
            <a:ext cx="7772400" cy="1143000"/>
          </a:xfrm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/>
            <a:r>
              <a:rPr lang="ru-RU" altLang="ru-RU" b="1" dirty="0" smtClean="0">
                <a:solidFill>
                  <a:schemeClr val="accent3"/>
                </a:solidFill>
              </a:rPr>
              <a:t>Пример объединения сетей</a:t>
            </a:r>
          </a:p>
        </p:txBody>
      </p:sp>
      <p:sp>
        <p:nvSpPr>
          <p:cNvPr id="342019" name="Oval 3"/>
          <p:cNvSpPr>
            <a:spLocks noChangeArrowheads="1"/>
          </p:cNvSpPr>
          <p:nvPr/>
        </p:nvSpPr>
        <p:spPr bwMode="auto">
          <a:xfrm>
            <a:off x="4656139" y="1557339"/>
            <a:ext cx="3095625" cy="15128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5016501" y="1916114"/>
            <a:ext cx="24479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2400" b="1">
                <a:latin typeface="Arial" panose="020B0604020202020204" pitchFamily="34" charset="0"/>
              </a:rPr>
              <a:t>Глобальная сеть</a:t>
            </a:r>
          </a:p>
        </p:txBody>
      </p:sp>
      <p:sp>
        <p:nvSpPr>
          <p:cNvPr id="342021" name="Oval 5"/>
          <p:cNvSpPr>
            <a:spLocks noChangeArrowheads="1"/>
          </p:cNvSpPr>
          <p:nvPr/>
        </p:nvSpPr>
        <p:spPr bwMode="auto">
          <a:xfrm>
            <a:off x="2208213" y="3357563"/>
            <a:ext cx="3600450" cy="10080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2" name="Text Box 6"/>
          <p:cNvSpPr txBox="1">
            <a:spLocks noChangeArrowheads="1"/>
          </p:cNvSpPr>
          <p:nvPr/>
        </p:nvSpPr>
        <p:spPr bwMode="auto">
          <a:xfrm>
            <a:off x="2495550" y="3644901"/>
            <a:ext cx="3024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Региональная сеть 1</a:t>
            </a:r>
          </a:p>
        </p:txBody>
      </p:sp>
      <p:sp>
        <p:nvSpPr>
          <p:cNvPr id="342023" name="Oval 7"/>
          <p:cNvSpPr>
            <a:spLocks noChangeArrowheads="1"/>
          </p:cNvSpPr>
          <p:nvPr/>
        </p:nvSpPr>
        <p:spPr bwMode="auto">
          <a:xfrm>
            <a:off x="6527800" y="3429001"/>
            <a:ext cx="3600450" cy="1008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4" name="Text Box 8"/>
          <p:cNvSpPr txBox="1">
            <a:spLocks noChangeArrowheads="1"/>
          </p:cNvSpPr>
          <p:nvPr/>
        </p:nvSpPr>
        <p:spPr bwMode="auto">
          <a:xfrm>
            <a:off x="6816725" y="3716338"/>
            <a:ext cx="302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Региональная сеть 2</a:t>
            </a:r>
          </a:p>
        </p:txBody>
      </p:sp>
      <p:sp>
        <p:nvSpPr>
          <p:cNvPr id="342025" name="Oval 9"/>
          <p:cNvSpPr>
            <a:spLocks noChangeArrowheads="1"/>
          </p:cNvSpPr>
          <p:nvPr/>
        </p:nvSpPr>
        <p:spPr bwMode="auto">
          <a:xfrm>
            <a:off x="1847851" y="5157789"/>
            <a:ext cx="1584325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6" name="Text Box 10"/>
          <p:cNvSpPr txBox="1">
            <a:spLocks noChangeArrowheads="1"/>
          </p:cNvSpPr>
          <p:nvPr/>
        </p:nvSpPr>
        <p:spPr bwMode="auto">
          <a:xfrm>
            <a:off x="2135188" y="5300663"/>
            <a:ext cx="1008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ЛВС</a:t>
            </a:r>
          </a:p>
        </p:txBody>
      </p:sp>
      <p:sp>
        <p:nvSpPr>
          <p:cNvPr id="342027" name="Oval 11"/>
          <p:cNvSpPr>
            <a:spLocks noChangeArrowheads="1"/>
          </p:cNvSpPr>
          <p:nvPr/>
        </p:nvSpPr>
        <p:spPr bwMode="auto">
          <a:xfrm>
            <a:off x="3719514" y="4797426"/>
            <a:ext cx="1584325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8" name="Oval 12"/>
          <p:cNvSpPr>
            <a:spLocks noChangeArrowheads="1"/>
          </p:cNvSpPr>
          <p:nvPr/>
        </p:nvSpPr>
        <p:spPr bwMode="auto">
          <a:xfrm>
            <a:off x="6240464" y="4868864"/>
            <a:ext cx="1584325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29" name="Oval 13"/>
          <p:cNvSpPr>
            <a:spLocks noChangeArrowheads="1"/>
          </p:cNvSpPr>
          <p:nvPr/>
        </p:nvSpPr>
        <p:spPr bwMode="auto">
          <a:xfrm>
            <a:off x="7751764" y="5734051"/>
            <a:ext cx="1584325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30" name="Oval 14"/>
          <p:cNvSpPr>
            <a:spLocks noChangeArrowheads="1"/>
          </p:cNvSpPr>
          <p:nvPr/>
        </p:nvSpPr>
        <p:spPr bwMode="auto">
          <a:xfrm>
            <a:off x="8904289" y="4797426"/>
            <a:ext cx="1584325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4400">
              <a:latin typeface="Arial" panose="020B0604020202020204" pitchFamily="34" charset="0"/>
            </a:endParaRPr>
          </a:p>
        </p:txBody>
      </p:sp>
      <p:sp>
        <p:nvSpPr>
          <p:cNvPr id="342031" name="Text Box 15"/>
          <p:cNvSpPr txBox="1">
            <a:spLocks noChangeArrowheads="1"/>
          </p:cNvSpPr>
          <p:nvPr/>
        </p:nvSpPr>
        <p:spPr bwMode="auto">
          <a:xfrm>
            <a:off x="4008438" y="4941888"/>
            <a:ext cx="10080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ЛВС</a:t>
            </a:r>
          </a:p>
        </p:txBody>
      </p:sp>
      <p:sp>
        <p:nvSpPr>
          <p:cNvPr id="342032" name="Text Box 16"/>
          <p:cNvSpPr txBox="1">
            <a:spLocks noChangeArrowheads="1"/>
          </p:cNvSpPr>
          <p:nvPr/>
        </p:nvSpPr>
        <p:spPr bwMode="auto">
          <a:xfrm>
            <a:off x="6527801" y="5013326"/>
            <a:ext cx="1008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ЛВС</a:t>
            </a:r>
          </a:p>
        </p:txBody>
      </p:sp>
      <p:sp>
        <p:nvSpPr>
          <p:cNvPr id="342033" name="Text Box 17"/>
          <p:cNvSpPr txBox="1">
            <a:spLocks noChangeArrowheads="1"/>
          </p:cNvSpPr>
          <p:nvPr/>
        </p:nvSpPr>
        <p:spPr bwMode="auto">
          <a:xfrm>
            <a:off x="8040688" y="5876926"/>
            <a:ext cx="1008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ЛВС</a:t>
            </a:r>
          </a:p>
        </p:txBody>
      </p:sp>
      <p:sp>
        <p:nvSpPr>
          <p:cNvPr id="342034" name="Text Box 18"/>
          <p:cNvSpPr txBox="1">
            <a:spLocks noChangeArrowheads="1"/>
          </p:cNvSpPr>
          <p:nvPr/>
        </p:nvSpPr>
        <p:spPr bwMode="auto">
          <a:xfrm>
            <a:off x="9191626" y="5013326"/>
            <a:ext cx="1008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ЛВС</a:t>
            </a:r>
          </a:p>
        </p:txBody>
      </p:sp>
      <p:sp>
        <p:nvSpPr>
          <p:cNvPr id="342035" name="Line 19"/>
          <p:cNvSpPr>
            <a:spLocks noChangeShapeType="1"/>
          </p:cNvSpPr>
          <p:nvPr/>
        </p:nvSpPr>
        <p:spPr bwMode="auto">
          <a:xfrm flipH="1">
            <a:off x="4583114" y="2852739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36" name="Line 20"/>
          <p:cNvSpPr>
            <a:spLocks noChangeShapeType="1"/>
          </p:cNvSpPr>
          <p:nvPr/>
        </p:nvSpPr>
        <p:spPr bwMode="auto">
          <a:xfrm>
            <a:off x="7391401" y="2781300"/>
            <a:ext cx="504825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37" name="Line 21"/>
          <p:cNvSpPr>
            <a:spLocks noChangeShapeType="1"/>
          </p:cNvSpPr>
          <p:nvPr/>
        </p:nvSpPr>
        <p:spPr bwMode="auto">
          <a:xfrm flipH="1">
            <a:off x="2782888" y="4292600"/>
            <a:ext cx="360362" cy="8651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38" name="Line 22"/>
          <p:cNvSpPr>
            <a:spLocks noChangeShapeType="1"/>
          </p:cNvSpPr>
          <p:nvPr/>
        </p:nvSpPr>
        <p:spPr bwMode="auto">
          <a:xfrm>
            <a:off x="4511675" y="4365625"/>
            <a:ext cx="71438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39" name="Line 23"/>
          <p:cNvSpPr>
            <a:spLocks noChangeShapeType="1"/>
          </p:cNvSpPr>
          <p:nvPr/>
        </p:nvSpPr>
        <p:spPr bwMode="auto">
          <a:xfrm flipH="1">
            <a:off x="7248525" y="4365625"/>
            <a:ext cx="287338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40" name="Line 24"/>
          <p:cNvSpPr>
            <a:spLocks noChangeShapeType="1"/>
          </p:cNvSpPr>
          <p:nvPr/>
        </p:nvSpPr>
        <p:spPr bwMode="auto">
          <a:xfrm>
            <a:off x="8401050" y="4437064"/>
            <a:ext cx="71438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42041" name="Line 25"/>
          <p:cNvSpPr>
            <a:spLocks noChangeShapeType="1"/>
          </p:cNvSpPr>
          <p:nvPr/>
        </p:nvSpPr>
        <p:spPr bwMode="auto">
          <a:xfrm>
            <a:off x="9409114" y="4365625"/>
            <a:ext cx="287337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55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3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3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3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3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4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3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3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3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3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8" grpId="0"/>
      <p:bldP spid="342019" grpId="0" animBg="1"/>
      <p:bldP spid="342020" grpId="0"/>
      <p:bldP spid="342021" grpId="0" animBg="1"/>
      <p:bldP spid="342022" grpId="0"/>
      <p:bldP spid="342023" grpId="0" animBg="1"/>
      <p:bldP spid="342024" grpId="0"/>
      <p:bldP spid="342025" grpId="0" animBg="1"/>
      <p:bldP spid="342026" grpId="0"/>
      <p:bldP spid="342027" grpId="0" animBg="1"/>
      <p:bldP spid="342028" grpId="0" animBg="1"/>
      <p:bldP spid="342029" grpId="0" animBg="1"/>
      <p:bldP spid="342030" grpId="0" animBg="1"/>
      <p:bldP spid="342031" grpId="0"/>
      <p:bldP spid="342032" grpId="0"/>
      <p:bldP spid="342033" grpId="0"/>
      <p:bldP spid="342034" grpId="0"/>
      <p:bldP spid="342035" grpId="0" animBg="1"/>
      <p:bldP spid="342036" grpId="0" animBg="1"/>
      <p:bldP spid="342037" grpId="0" animBg="1"/>
      <p:bldP spid="342038" grpId="0" animBg="1"/>
      <p:bldP spid="342039" grpId="0" animBg="1"/>
      <p:bldP spid="342040" grpId="0" animBg="1"/>
      <p:bldP spid="3420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496300" cy="1871662"/>
          </a:xfrm>
        </p:spPr>
        <p:txBody>
          <a:bodyPr/>
          <a:lstStyle/>
          <a:p>
            <a:pPr eaLnBrk="1" hangingPunct="1">
              <a:defRPr/>
            </a:pPr>
            <a:r>
              <a:rPr lang="ru-RU" b="1" i="1" dirty="0">
                <a:solidFill>
                  <a:schemeClr val="accent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Топология сети</a:t>
            </a:r>
            <a:r>
              <a:rPr lang="ru-RU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– это логическая схема соединения компьютеров каналами связи.</a:t>
            </a:r>
          </a:p>
        </p:txBody>
      </p:sp>
      <p:pic>
        <p:nvPicPr>
          <p:cNvPr id="30723" name="Picture 10" descr="img2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4825" y="2205038"/>
            <a:ext cx="8675688" cy="4392612"/>
          </a:xfrm>
          <a:noFill/>
        </p:spPr>
      </p:pic>
    </p:spTree>
    <p:extLst>
      <p:ext uri="{BB962C8B-B14F-4D97-AF65-F5344CB8AC3E}">
        <p14:creationId xmlns:p14="http://schemas.microsoft.com/office/powerpoint/2010/main" val="1394561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SzTx/>
              <a:buFont typeface="Wingdings" pitchFamily="2" charset="2"/>
              <a:buChar char="§"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Под ЛВС</a:t>
            </a:r>
            <a:r>
              <a:rPr lang="en-US" sz="24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(англ. LAN - 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Lokal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Area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Network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)  понимают совместное подключение нескольких отдельных компьютерных рабочих мест (рабочих станций) к единому каналу передачи данных.</a:t>
            </a:r>
            <a:endParaRPr lang="en-US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>
              <a:buSzTx/>
              <a:buNone/>
            </a:pPr>
            <a:endParaRPr lang="en-US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>
              <a:buSzTx/>
              <a:buFont typeface="Wingdings" pitchFamily="2" charset="2"/>
              <a:buChar char="§"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ЛВС – аппаратно-программное решение в котором несколько компьютерных систем связаны друг с другом с помощью соответствующих средств коммуникаций. </a:t>
            </a:r>
            <a:endParaRPr lang="en-US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>
              <a:buSzTx/>
              <a:buNone/>
            </a:pP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>
              <a:buSzTx/>
              <a:buFont typeface="Wingdings" pitchFamily="2" charset="2"/>
              <a:buChar char="§"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Благодаря такому соединению пользователь может взаимодействовать с другими рабочими станциями, подключенными к этой ЛВС.</a:t>
            </a:r>
          </a:p>
          <a:p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2596" y="214291"/>
            <a:ext cx="8229600" cy="783519"/>
          </a:xfrm>
        </p:spPr>
        <p:txBody>
          <a:bodyPr>
            <a:normAutofit/>
          </a:bodyPr>
          <a:lstStyle/>
          <a:p>
            <a:pPr rtl="0"/>
            <a:r>
              <a:rPr lang="ru-RU" sz="2800" b="1" dirty="0">
                <a:ln w="0"/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Понятие ЛВС </a:t>
            </a:r>
            <a:endParaRPr lang="ru-RU" sz="2800" b="1" dirty="0">
              <a:ln w="0"/>
              <a:effectLst>
                <a:reflection blurRad="12700" stA="50000" endPos="50000" dist="5000" dir="5400000" sy="-100000" rotWithShape="0"/>
              </a:effectLst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17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6239947" y="1577327"/>
            <a:ext cx="5616545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В </a:t>
            </a:r>
            <a:r>
              <a:rPr lang="ru-RU" sz="2000" dirty="0" err="1">
                <a:solidFill>
                  <a:schemeClr val="accent3"/>
                </a:solidFill>
                <a:cs typeface="Times New Roman" pitchFamily="18" charset="0"/>
              </a:rPr>
              <a:t>одноранговой</a:t>
            </a:r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 сети  все компьютеры равноправны.   </a:t>
            </a:r>
          </a:p>
          <a:p>
            <a:r>
              <a:rPr lang="ru-RU" sz="2000" dirty="0" err="1">
                <a:solidFill>
                  <a:schemeClr val="accent3"/>
                </a:solidFill>
                <a:cs typeface="Times New Roman" pitchFamily="18" charset="0"/>
              </a:rPr>
              <a:t>Одноранговые</a:t>
            </a:r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 сети называют также рабочими группами. </a:t>
            </a:r>
          </a:p>
          <a:p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Рабочая группа — это небольшой коллектив, поэтому в </a:t>
            </a:r>
            <a:r>
              <a:rPr lang="ru-RU" sz="2000" dirty="0" err="1">
                <a:solidFill>
                  <a:schemeClr val="accent3"/>
                </a:solidFill>
                <a:cs typeface="Times New Roman" pitchFamily="18" charset="0"/>
              </a:rPr>
              <a:t>одноранговых</a:t>
            </a:r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 сетях чаще всего не более 10 компьютеров</a:t>
            </a:r>
            <a:r>
              <a:rPr lang="ru-RU" sz="2000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583879" y="206169"/>
            <a:ext cx="5903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800" b="1" cap="all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cs typeface="Times New Roman" pitchFamily="18" charset="0"/>
              </a:rPr>
              <a:t>Типы локальных сетей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6456364" y="4991448"/>
            <a:ext cx="540012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3"/>
                </a:solidFill>
                <a:cs typeface="Times New Roman" pitchFamily="18" charset="0"/>
              </a:rPr>
              <a:t>Выделенным называется такой сервер, который функционирует только как сервер (исключая функции клиента или рабочей станции).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1738282" y="793953"/>
            <a:ext cx="8713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b="1" i="1" dirty="0" err="1">
                <a:solidFill>
                  <a:schemeClr val="accent3"/>
                </a:solidFill>
                <a:cs typeface="Times New Roman" pitchFamily="18" charset="0"/>
              </a:rPr>
              <a:t>Одноранговая</a:t>
            </a:r>
            <a:r>
              <a:rPr lang="ru-RU" sz="2400" b="1" i="1" dirty="0">
                <a:solidFill>
                  <a:schemeClr val="accent3"/>
                </a:solidFill>
              </a:rPr>
              <a:t> 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сеть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5967661" y="4314500"/>
            <a:ext cx="59224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Сеть</a:t>
            </a:r>
            <a:r>
              <a:rPr lang="ru-RU" sz="2400" b="1" i="1" dirty="0">
                <a:solidFill>
                  <a:schemeClr val="accent3"/>
                </a:solidFill>
              </a:rPr>
              <a:t> 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с</a:t>
            </a:r>
            <a:r>
              <a:rPr lang="ru-RU" sz="2400" b="1" i="1" dirty="0">
                <a:solidFill>
                  <a:schemeClr val="accent3"/>
                </a:solidFill>
              </a:rPr>
              <a:t> 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выделенным</a:t>
            </a:r>
            <a:r>
              <a:rPr lang="ru-RU" sz="2400" b="1" i="1" dirty="0">
                <a:solidFill>
                  <a:schemeClr val="accent3"/>
                </a:solidFill>
              </a:rPr>
              <a:t> 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сервером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55575" y="1438275"/>
            <a:ext cx="5812087" cy="2600326"/>
            <a:chOff x="113" y="935"/>
            <a:chExt cx="2903" cy="1303"/>
          </a:xfrm>
        </p:grpSpPr>
        <p:pic>
          <p:nvPicPr>
            <p:cNvPr id="30731" name="Picture 11" descr="256s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3" y="935"/>
              <a:ext cx="2903" cy="1303"/>
            </a:xfrm>
            <a:prstGeom prst="rect">
              <a:avLst/>
            </a:prstGeom>
            <a:noFill/>
          </p:spPr>
        </p:pic>
        <p:pic>
          <p:nvPicPr>
            <p:cNvPr id="30735" name="Picture 15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4" y="1706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36" name="Picture 16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8" y="1706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37" name="Picture 17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47" y="1706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38" name="Picture 18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82" y="1706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39" name="Picture 19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336" y="1706"/>
              <a:ext cx="408" cy="318"/>
            </a:xfrm>
            <a:prstGeom prst="rect">
              <a:avLst/>
            </a:prstGeom>
            <a:noFill/>
          </p:spPr>
        </p:pic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55574" y="4322934"/>
            <a:ext cx="5812087" cy="2535066"/>
            <a:chOff x="113" y="2750"/>
            <a:chExt cx="2903" cy="1386"/>
          </a:xfrm>
        </p:grpSpPr>
        <p:pic>
          <p:nvPicPr>
            <p:cNvPr id="30732" name="Picture 12" descr="260s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2750"/>
              <a:ext cx="2903" cy="1386"/>
            </a:xfrm>
            <a:prstGeom prst="rect">
              <a:avLst/>
            </a:prstGeom>
            <a:noFill/>
          </p:spPr>
        </p:pic>
        <p:pic>
          <p:nvPicPr>
            <p:cNvPr id="30740" name="Picture 20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9" y="3612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41" name="Picture 21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8" y="3612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42" name="Picture 22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47" y="3612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43" name="Picture 23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3612"/>
              <a:ext cx="408" cy="318"/>
            </a:xfrm>
            <a:prstGeom prst="rect">
              <a:avLst/>
            </a:prstGeom>
            <a:noFill/>
          </p:spPr>
        </p:pic>
        <p:pic>
          <p:nvPicPr>
            <p:cNvPr id="30744" name="Picture 24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90" y="3612"/>
              <a:ext cx="408" cy="31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470511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5122835" y="764024"/>
            <a:ext cx="657186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1.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Шинная топология</a:t>
            </a:r>
          </a:p>
          <a:p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Все компьютеры подключаются к одному кабелю (шине). На  концах кабеля устанавливаются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терминаторы. 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В качестве кабеля используется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коаксиальный кабель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. Отключение любого из подключенных устройств на работу сети никакого влияния не оказывает. По шинной топологии строятся 10 </a:t>
            </a:r>
            <a:r>
              <a:rPr lang="ru-RU" dirty="0" err="1">
                <a:solidFill>
                  <a:schemeClr val="accent3"/>
                </a:solidFill>
                <a:cs typeface="Times New Roman" pitchFamily="18" charset="0"/>
              </a:rPr>
              <a:t>Мбитные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 сети</a:t>
            </a:r>
            <a:r>
              <a:rPr lang="ru-RU" dirty="0">
                <a:solidFill>
                  <a:schemeClr val="accent3"/>
                </a:solidFill>
              </a:rPr>
              <a:t>. </a:t>
            </a:r>
          </a:p>
          <a:p>
            <a:endParaRPr lang="ru-RU" sz="1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2.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Звездообразная топология </a:t>
            </a:r>
          </a:p>
          <a:p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Каждый компьютер подключен отдельным проводом к отдельному порту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концентратора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 (</a:t>
            </a:r>
            <a:r>
              <a:rPr lang="en-US" dirty="0">
                <a:solidFill>
                  <a:schemeClr val="accent3"/>
                </a:solidFill>
                <a:cs typeface="Times New Roman" pitchFamily="18" charset="0"/>
              </a:rPr>
              <a:t>Hub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) или </a:t>
            </a:r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коммутатора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 (</a:t>
            </a:r>
            <a:r>
              <a:rPr lang="ru-RU" dirty="0" err="1">
                <a:solidFill>
                  <a:schemeClr val="accent3"/>
                </a:solidFill>
                <a:cs typeface="Times New Roman" pitchFamily="18" charset="0"/>
              </a:rPr>
              <a:t>Switches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).</a:t>
            </a:r>
            <a:r>
              <a:rPr lang="en-US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Топология «Звезда» используется в 100 </a:t>
            </a:r>
            <a:r>
              <a:rPr lang="ru-RU" dirty="0" err="1">
                <a:solidFill>
                  <a:schemeClr val="accent3"/>
                </a:solidFill>
                <a:cs typeface="Times New Roman" pitchFamily="18" charset="0"/>
              </a:rPr>
              <a:t>Мбитных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 сетях.</a:t>
            </a:r>
          </a:p>
          <a:p>
            <a:endParaRPr lang="ru-RU" sz="1400" dirty="0">
              <a:solidFill>
                <a:schemeClr val="accent3"/>
              </a:solidFill>
              <a:cs typeface="Times New Roman" pitchFamily="18" charset="0"/>
            </a:endParaRPr>
          </a:p>
          <a:p>
            <a:r>
              <a:rPr lang="ru-RU" b="1" i="1" dirty="0">
                <a:solidFill>
                  <a:schemeClr val="accent3"/>
                </a:solidFill>
                <a:cs typeface="Times New Roman" pitchFamily="18" charset="0"/>
              </a:rPr>
              <a:t>3. Кольцевая топология</a:t>
            </a:r>
          </a:p>
          <a:p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При топологии «кольцо» компьютеры подключаются к кабелю, замкнутому в кольцо.</a:t>
            </a:r>
            <a:r>
              <a:rPr lang="en-US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accent3"/>
                </a:solidFill>
                <a:cs typeface="Times New Roman" pitchFamily="18" charset="0"/>
              </a:rPr>
              <a:t>Каждый компьютер усиливает сигналы и передает их следующему компьютеру. Поэтому, если выйдет из строя один компьютер, функционирование сети может нарушиться. 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6467697" y="48260"/>
            <a:ext cx="5903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800" b="1" cap="all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cs typeface="Times New Roman" pitchFamily="18" charset="0"/>
              </a:rPr>
              <a:t>Сетевые топологии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703389" y="765175"/>
            <a:ext cx="3240087" cy="1187450"/>
            <a:chOff x="113" y="482"/>
            <a:chExt cx="2041" cy="748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113" y="482"/>
              <a:ext cx="2041" cy="748"/>
              <a:chOff x="113" y="482"/>
              <a:chExt cx="2041" cy="748"/>
            </a:xfrm>
          </p:grpSpPr>
          <p:pic>
            <p:nvPicPr>
              <p:cNvPr id="43021" name="Picture 13" descr="10-02"/>
              <p:cNvPicPr>
                <a:picLocks noChangeAspect="1" noChangeArrowheads="1"/>
              </p:cNvPicPr>
              <p:nvPr/>
            </p:nvPicPr>
            <p:blipFill>
              <a:blip r:embed="rId2"/>
              <a:srcRect r="52826" b="60207"/>
              <a:stretch>
                <a:fillRect/>
              </a:stretch>
            </p:blipFill>
            <p:spPr bwMode="auto">
              <a:xfrm>
                <a:off x="113" y="482"/>
                <a:ext cx="2041" cy="748"/>
              </a:xfrm>
              <a:prstGeom prst="rect">
                <a:avLst/>
              </a:prstGeom>
              <a:noFill/>
            </p:spPr>
          </p:pic>
          <p:sp>
            <p:nvSpPr>
              <p:cNvPr id="43024" name="Rectangle 16"/>
              <p:cNvSpPr>
                <a:spLocks noChangeArrowheads="1"/>
              </p:cNvSpPr>
              <p:nvPr/>
            </p:nvSpPr>
            <p:spPr bwMode="auto">
              <a:xfrm>
                <a:off x="1949" y="1047"/>
                <a:ext cx="91" cy="45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43027" name="Rectangle 19"/>
              <p:cNvSpPr>
                <a:spLocks noChangeArrowheads="1"/>
              </p:cNvSpPr>
              <p:nvPr/>
            </p:nvSpPr>
            <p:spPr bwMode="auto">
              <a:xfrm>
                <a:off x="136" y="1047"/>
                <a:ext cx="91" cy="45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pic>
          <p:nvPicPr>
            <p:cNvPr id="43029" name="Picture 21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47" y="572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0" name="Picture 22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610" y="572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1" name="Picture 23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6" y="572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2" name="Picture 24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3" y="572"/>
              <a:ext cx="363" cy="262"/>
            </a:xfrm>
            <a:prstGeom prst="rect">
              <a:avLst/>
            </a:prstGeom>
            <a:noFill/>
          </p:spPr>
        </p:pic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703389" y="2349501"/>
            <a:ext cx="3240087" cy="2087563"/>
            <a:chOff x="0" y="1389"/>
            <a:chExt cx="2200" cy="1498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0" y="1389"/>
              <a:ext cx="2200" cy="1498"/>
              <a:chOff x="113" y="1389"/>
              <a:chExt cx="2132" cy="1498"/>
            </a:xfrm>
          </p:grpSpPr>
          <p:pic>
            <p:nvPicPr>
              <p:cNvPr id="43019" name="Picture 11" descr="10-02"/>
              <p:cNvPicPr>
                <a:picLocks noChangeAspect="1" noChangeArrowheads="1"/>
              </p:cNvPicPr>
              <p:nvPr/>
            </p:nvPicPr>
            <p:blipFill>
              <a:blip r:embed="rId2"/>
              <a:srcRect l="48636" b="13237"/>
              <a:stretch>
                <a:fillRect/>
              </a:stretch>
            </p:blipFill>
            <p:spPr bwMode="auto">
              <a:xfrm>
                <a:off x="113" y="1389"/>
                <a:ext cx="2132" cy="1498"/>
              </a:xfrm>
              <a:prstGeom prst="rect">
                <a:avLst/>
              </a:prstGeom>
              <a:noFill/>
            </p:spPr>
          </p:pic>
          <p:pic>
            <p:nvPicPr>
              <p:cNvPr id="43022" name="Picture 14" descr="WGS3-2620_300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748" y="2001"/>
                <a:ext cx="907" cy="249"/>
              </a:xfrm>
              <a:prstGeom prst="rect">
                <a:avLst/>
              </a:prstGeom>
              <a:noFill/>
            </p:spPr>
          </p:pic>
        </p:grpSp>
        <p:pic>
          <p:nvPicPr>
            <p:cNvPr id="43033" name="Picture 25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75" y="1480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4" name="Picture 26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75" y="2523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5" name="Picture 27" descr="CAMDQHWR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" y="1979"/>
              <a:ext cx="324" cy="262"/>
            </a:xfrm>
            <a:prstGeom prst="rect">
              <a:avLst/>
            </a:prstGeom>
            <a:noFill/>
          </p:spPr>
        </p:pic>
        <p:pic>
          <p:nvPicPr>
            <p:cNvPr id="43036" name="Picture 28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82" y="2006"/>
              <a:ext cx="317" cy="262"/>
            </a:xfrm>
            <a:prstGeom prst="rect">
              <a:avLst/>
            </a:prstGeom>
            <a:noFill/>
          </p:spPr>
        </p:pic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703389" y="4797426"/>
            <a:ext cx="3240087" cy="1704975"/>
            <a:chOff x="113" y="3022"/>
            <a:chExt cx="2041" cy="1074"/>
          </a:xfrm>
        </p:grpSpPr>
        <p:pic>
          <p:nvPicPr>
            <p:cNvPr id="43020" name="Picture 12" descr="10-02"/>
            <p:cNvPicPr>
              <a:picLocks noChangeAspect="1" noChangeArrowheads="1"/>
            </p:cNvPicPr>
            <p:nvPr/>
          </p:nvPicPr>
          <p:blipFill>
            <a:blip r:embed="rId2"/>
            <a:srcRect t="39793" r="51364"/>
            <a:stretch>
              <a:fillRect/>
            </a:stretch>
          </p:blipFill>
          <p:spPr bwMode="auto">
            <a:xfrm>
              <a:off x="113" y="3022"/>
              <a:ext cx="2041" cy="1074"/>
            </a:xfrm>
            <a:prstGeom prst="rect">
              <a:avLst/>
            </a:prstGeom>
            <a:noFill/>
          </p:spPr>
        </p:pic>
        <p:pic>
          <p:nvPicPr>
            <p:cNvPr id="43037" name="Picture 29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30" y="3793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8" name="Picture 30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46" y="3612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39" name="Picture 31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1" y="3113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40" name="Picture 32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" y="3105"/>
              <a:ext cx="363" cy="262"/>
            </a:xfrm>
            <a:prstGeom prst="rect">
              <a:avLst/>
            </a:prstGeom>
            <a:noFill/>
          </p:spPr>
        </p:pic>
        <p:pic>
          <p:nvPicPr>
            <p:cNvPr id="43041" name="Picture 33" descr="CAMDQHW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8" y="3566"/>
              <a:ext cx="363" cy="26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698039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86196" y="310543"/>
            <a:ext cx="6419056" cy="840244"/>
          </a:xfrm>
        </p:spPr>
        <p:txBody>
          <a:bodyPr>
            <a:normAutofit/>
          </a:bodyPr>
          <a:lstStyle/>
          <a:p>
            <a:pPr rtl="0">
              <a:spcBef>
                <a:spcPct val="50000"/>
              </a:spcBef>
            </a:pPr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Аппаратура  локальной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52596" y="1357298"/>
            <a:ext cx="7632848" cy="61504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компьютеры (серверы и рабочие станции);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кабели для передачи информации;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разъемы для присоединения кабелей;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согласующие терминаторы;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сетевые адаптеры;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репитеры;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концентраторы;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мосты;</a:t>
            </a:r>
          </a:p>
          <a:p>
            <a:pPr>
              <a:lnSpc>
                <a:spcPct val="150000"/>
              </a:lnSpc>
            </a:pPr>
            <a:r>
              <a:rPr lang="ru-RU" sz="1800" dirty="0" err="1">
                <a:solidFill>
                  <a:schemeClr val="accent3"/>
                </a:solidFill>
                <a:cs typeface="Times New Roman" pitchFamily="18" charset="0"/>
              </a:rPr>
              <a:t>маршрутизаторы</a:t>
            </a: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accent3"/>
                </a:solidFill>
                <a:cs typeface="Times New Roman" pitchFamily="18" charset="0"/>
              </a:rPr>
              <a:t>шлюзы</a:t>
            </a:r>
            <a:r>
              <a:rPr lang="ru-RU" sz="1600" dirty="0">
                <a:solidFill>
                  <a:schemeClr val="accent3"/>
                </a:solidFill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1600" dirty="0">
              <a:solidFill>
                <a:schemeClr val="accent3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35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6357" y="1600200"/>
            <a:ext cx="11847095" cy="5114948"/>
          </a:xfrm>
        </p:spPr>
        <p:txBody>
          <a:bodyPr>
            <a:noAutofit/>
          </a:bodyPr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None/>
              <a:defRPr/>
            </a:pPr>
            <a:r>
              <a:rPr lang="ru-RU" sz="1200" kern="0" dirty="0">
                <a:solidFill>
                  <a:schemeClr val="accent3"/>
                </a:solidFill>
              </a:rPr>
              <a:t>		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None/>
              <a:defRPr/>
            </a:pPr>
            <a:endParaRPr lang="ru-RU" sz="800" b="1" kern="0" dirty="0">
              <a:solidFill>
                <a:schemeClr val="accent3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None/>
              <a:defRPr/>
            </a:pPr>
            <a:endParaRPr lang="ru-RU" sz="800" b="1" kern="0" dirty="0">
              <a:solidFill>
                <a:schemeClr val="accent3"/>
              </a:solidFill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endParaRPr lang="ru-RU" sz="800" b="1" kern="0" dirty="0">
              <a:solidFill>
                <a:schemeClr val="accent3"/>
              </a:solidFill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Витое двухжильное проводное соединение часто называемое "витой парой" (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twisted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pair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) Восемь изолированных </a:t>
            </a:r>
            <a:r>
              <a:rPr lang="ru-RU" sz="2400" dirty="0" err="1">
                <a:solidFill>
                  <a:schemeClr val="accent3"/>
                </a:solidFill>
                <a:cs typeface="Times New Roman" pitchFamily="18" charset="0"/>
              </a:rPr>
              <a:t>проводников,используются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, как правило, только четыре, из которых одна пара используется для передачи сигнала, а вторая для приема</a:t>
            </a:r>
            <a:r>
              <a:rPr lang="ru-RU" sz="2400" dirty="0" smtClean="0">
                <a:solidFill>
                  <a:schemeClr val="accent3"/>
                </a:solidFill>
                <a:cs typeface="Times New Roman" pitchFamily="18" charset="0"/>
              </a:rPr>
              <a:t>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Позволяет передавать информацию со скоростью до 10 Мбит/с</a:t>
            </a:r>
            <a:r>
              <a:rPr lang="ru-RU" sz="2400" dirty="0" smtClean="0">
                <a:solidFill>
                  <a:schemeClr val="accent3"/>
                </a:solidFill>
                <a:cs typeface="Times New Roman" pitchFamily="18" charset="0"/>
              </a:rPr>
              <a:t>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Легко наращивается, однако не защищена от помех</a:t>
            </a:r>
            <a:r>
              <a:rPr lang="ru-RU" sz="2400" dirty="0" smtClean="0">
                <a:solidFill>
                  <a:schemeClr val="accent3"/>
                </a:solidFill>
                <a:cs typeface="Times New Roman" pitchFamily="18" charset="0"/>
              </a:rPr>
              <a:t>. 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Длина кабеля не может превышать 1000 м при скорости передачи 1 Мбит/с</a:t>
            </a:r>
            <a:r>
              <a:rPr lang="ru-RU" sz="2400" dirty="0" smtClean="0">
                <a:solidFill>
                  <a:schemeClr val="accent3"/>
                </a:solidFill>
                <a:cs typeface="Times New Roman" pitchFamily="18" charset="0"/>
              </a:rPr>
              <a:t>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Для повышения помехозащищенности используют экранированную витую пару, т.е. витую пару, помещенную в экранирующую оболочку. Это увеличивает стоимость витой пары и приближает ее цену к цене коаксиального кабеля.</a:t>
            </a:r>
          </a:p>
          <a:p>
            <a:endParaRPr lang="ru-RU" sz="2000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720" y="285728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Витая пара </a:t>
            </a:r>
            <a:r>
              <a:rPr lang="ru-RU" dirty="0" smtClean="0">
                <a:solidFill>
                  <a:schemeClr val="hlink"/>
                </a:solidFill>
              </a:rPr>
              <a:t/>
            </a:r>
            <a:br>
              <a:rPr lang="ru-RU" dirty="0" smtClean="0">
                <a:solidFill>
                  <a:schemeClr val="hlink"/>
                </a:solidFill>
              </a:rPr>
            </a:br>
            <a:endParaRPr lang="ru-RU" dirty="0"/>
          </a:p>
        </p:txBody>
      </p:sp>
      <p:pic>
        <p:nvPicPr>
          <p:cNvPr id="4" name="Picture 10" descr="dummi0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56"/>
            <a:ext cx="5535016" cy="131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5812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SzTx/>
              <a:buFont typeface="Wingdings" pitchFamily="2" charset="2"/>
              <a:buNone/>
            </a:pPr>
            <a:r>
              <a:rPr lang="ru-RU" sz="2800" dirty="0">
                <a:solidFill>
                  <a:schemeClr val="accent3"/>
                </a:solidFill>
              </a:rPr>
              <a:t>		</a:t>
            </a:r>
            <a:endParaRPr lang="ru-RU" sz="2400" dirty="0" smtClean="0">
              <a:solidFill>
                <a:schemeClr val="accent3"/>
              </a:solidFill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Коаксиальный </a:t>
            </a: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кабель имеет среднюю цену.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Хорошо помехозащитен и применяется для связи на большие расстояния (несколько километров).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Скорость передачи информации от 1 до 10 Мбит/с, а в некоторых случаях может достигать 50 Мбит/с.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Используется для основной и широкополосной передачи информации.</a:t>
            </a:r>
          </a:p>
          <a:p>
            <a:endParaRPr lang="ru-RU" sz="2400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720" y="357166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Коаксиальный кабель </a:t>
            </a:r>
            <a: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1" descr="nutra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916" y="357166"/>
            <a:ext cx="5094353" cy="2017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9245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1158" y="1885928"/>
            <a:ext cx="11253537" cy="497207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SzTx/>
              <a:buFont typeface="Wingdings" pitchFamily="2" charset="2"/>
              <a:buNone/>
            </a:pPr>
            <a:r>
              <a:rPr lang="ru-RU" sz="2400" dirty="0">
                <a:solidFill>
                  <a:schemeClr val="accent3"/>
                </a:solidFill>
              </a:rPr>
              <a:t>		</a:t>
            </a:r>
            <a:endParaRPr lang="ru-RU" sz="1600" b="1" dirty="0">
              <a:solidFill>
                <a:schemeClr val="accent3"/>
              </a:solidFill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1800" b="1" dirty="0">
              <a:solidFill>
                <a:schemeClr val="accent3"/>
              </a:solidFill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Широкополосный коаксиальный кабель невосприимчив к помехам, легко наращивается, но</a:t>
            </a:r>
            <a:r>
              <a:rPr lang="en-US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 </a:t>
            </a: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имеет высокую цену.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Скорость передачи информации равна 500 Мбит/с.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При передачи информации в базисной полосе частот на расстояние более 1,5 км требуется усилитель, или так называемый репитер (повторитель). Поэтому суммарное расстояние при передаче информации увеличивается до 10 км. 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endParaRPr lang="ru-RU" sz="2400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400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Для вычислительных сетей с топологией шина или дерево коаксиальный кабель должен иметь на конце согласующий резистор (терминатор).</a:t>
            </a:r>
          </a:p>
          <a:p>
            <a:endParaRPr lang="ru-RU" sz="2400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400" y="76915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Широкополосный</a:t>
            </a:r>
            <a: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1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коаксиальный</a:t>
            </a:r>
            <a: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31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кабель</a:t>
            </a:r>
            <a:r>
              <a:rPr lang="ru-RU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0" descr="nutra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158" y="467503"/>
            <a:ext cx="4410520" cy="17463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789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-208546" y="1649062"/>
            <a:ext cx="12400546" cy="47998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SzTx/>
              <a:buFont typeface="Wingdings" pitchFamily="2" charset="2"/>
              <a:buNone/>
            </a:pPr>
            <a:r>
              <a:rPr lang="ru-RU" sz="2400" dirty="0">
                <a:solidFill>
                  <a:schemeClr val="accent3"/>
                </a:solidFill>
              </a:rPr>
              <a:t>	</a:t>
            </a:r>
            <a:r>
              <a:rPr lang="ru-RU" sz="2000" dirty="0">
                <a:solidFill>
                  <a:schemeClr val="accent3"/>
                </a:solidFill>
              </a:rPr>
              <a:t>	</a:t>
            </a:r>
            <a:endParaRPr lang="ru-RU" sz="1600" b="1" dirty="0">
              <a:solidFill>
                <a:schemeClr val="accent3"/>
              </a:solidFill>
            </a:endParaRP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800" dirty="0" err="1" smtClean="0">
                <a:solidFill>
                  <a:schemeClr val="accent3"/>
                </a:solidFill>
                <a:cs typeface="Times New Roman" pitchFamily="18" charset="0"/>
              </a:rPr>
              <a:t>Ethernet</a:t>
            </a:r>
            <a:r>
              <a:rPr lang="ru-RU" sz="2800" dirty="0" smtClean="0">
                <a:solidFill>
                  <a:schemeClr val="accent3"/>
                </a:solidFill>
                <a:cs typeface="Times New Roman" pitchFamily="18" charset="0"/>
              </a:rPr>
              <a:t>-кабель 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является коаксиальным кабелем с волновым сопротив­лением 50 Ом. 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Его называют толстый </a:t>
            </a: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Ethernet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 (</a:t>
            </a: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thick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), желтый кабель (</a:t>
            </a: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yellow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cable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) или 10</a:t>
            </a:r>
            <a:r>
              <a:rPr lang="en-US" sz="2800" dirty="0" err="1">
                <a:solidFill>
                  <a:schemeClr val="accent3"/>
                </a:solidFill>
                <a:cs typeface="Times New Roman" pitchFamily="18" charset="0"/>
              </a:rPr>
              <a:t>BaseT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5 .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800" dirty="0" smtClean="0">
                <a:solidFill>
                  <a:schemeClr val="accent3"/>
                </a:solidFill>
                <a:cs typeface="Times New Roman" pitchFamily="18" charset="0"/>
              </a:rPr>
              <a:t>Использует 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15-контактное стандартное </a:t>
            </a:r>
            <a:r>
              <a:rPr lang="ru-RU" sz="2800" dirty="0" smtClean="0">
                <a:solidFill>
                  <a:schemeClr val="accent3"/>
                </a:solidFill>
                <a:cs typeface="Times New Roman" pitchFamily="18" charset="0"/>
              </a:rPr>
              <a:t>включение.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800" dirty="0" smtClean="0">
                <a:solidFill>
                  <a:schemeClr val="accent3"/>
                </a:solidFill>
                <a:cs typeface="Times New Roman" pitchFamily="18" charset="0"/>
              </a:rPr>
              <a:t>Вследствие 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помехозащищенности является дорогой альтернативой обычным коаксиальным кабелям.</a:t>
            </a:r>
          </a:p>
          <a:p>
            <a:pPr lvl="1">
              <a:lnSpc>
                <a:spcPct val="80000"/>
              </a:lnSpc>
              <a:buSzTx/>
              <a:buFont typeface="Wingdings" pitchFamily="2" charset="2"/>
              <a:buChar char="§"/>
            </a:pPr>
            <a:r>
              <a:rPr lang="ru-RU" sz="2800" dirty="0" smtClean="0">
                <a:solidFill>
                  <a:schemeClr val="accent3"/>
                </a:solidFill>
                <a:cs typeface="Times New Roman" pitchFamily="18" charset="0"/>
              </a:rPr>
              <a:t>Максимально 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доступное расстояние без репитера не превышает 500 м, а общее расстояние сети </a:t>
            </a: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Ethernet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 - около 3000  м. Ethernet-кабель, благодаря своей магистральной топологии, использует в конце лишь один нагрузочный резистор.</a:t>
            </a:r>
          </a:p>
          <a:p>
            <a:endParaRPr lang="ru-RU" sz="2400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2596" y="214291"/>
            <a:ext cx="8229600" cy="854957"/>
          </a:xfrm>
        </p:spPr>
        <p:txBody>
          <a:bodyPr>
            <a:normAutofit/>
          </a:bodyPr>
          <a:lstStyle/>
          <a:p>
            <a:r>
              <a:rPr lang="ru-RU" sz="2800" b="1" dirty="0" err="1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Еthernet-кабель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1" descr="dummi0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2924" y="263154"/>
            <a:ext cx="5673979" cy="133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2364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 err="1" smtClean="0">
                <a:solidFill>
                  <a:schemeClr val="accent3"/>
                </a:solidFill>
                <a:cs typeface="Times New Roman" pitchFamily="18" charset="0"/>
              </a:rPr>
              <a:t>Cheaper­net-кабель</a:t>
            </a:r>
            <a:r>
              <a:rPr lang="ru-RU" sz="2600" dirty="0" smtClean="0">
                <a:solidFill>
                  <a:schemeClr val="accent3"/>
                </a:solidFill>
                <a:cs typeface="Times New Roman" pitchFamily="18" charset="0"/>
              </a:rPr>
              <a:t> </a:t>
            </a: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или, как его часто называют, тонкий (</a:t>
            </a:r>
            <a:r>
              <a:rPr lang="ru-RU" sz="2600" dirty="0" err="1">
                <a:solidFill>
                  <a:schemeClr val="accent3"/>
                </a:solidFill>
                <a:cs typeface="Times New Roman" pitchFamily="18" charset="0"/>
              </a:rPr>
              <a:t>thin</a:t>
            </a: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) </a:t>
            </a:r>
            <a:r>
              <a:rPr lang="ru-RU" sz="2600" dirty="0" err="1">
                <a:solidFill>
                  <a:schemeClr val="accent3"/>
                </a:solidFill>
                <a:cs typeface="Times New Roman" pitchFamily="18" charset="0"/>
              </a:rPr>
              <a:t>Ethernet</a:t>
            </a: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 или 10</a:t>
            </a:r>
            <a:r>
              <a:rPr lang="en-US" sz="2600" dirty="0" err="1">
                <a:solidFill>
                  <a:schemeClr val="accent3"/>
                </a:solidFill>
                <a:cs typeface="Times New Roman" pitchFamily="18" charset="0"/>
              </a:rPr>
              <a:t>BaseT</a:t>
            </a: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2 - это также 50-омный коаксиальный кабель со скоростью передачи информации в десять миллионов бит в секунду.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При соединении сегментов </a:t>
            </a:r>
            <a:r>
              <a:rPr lang="ru-RU" sz="2600" dirty="0" err="1">
                <a:solidFill>
                  <a:schemeClr val="accent3"/>
                </a:solidFill>
                <a:cs typeface="Times New Roman" pitchFamily="18" charset="0"/>
              </a:rPr>
              <a:t>Сhеарегnеt-кабеля</a:t>
            </a: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 требуются репитеры. Вычислительные сети с Cheapernet-кабелем имеют небольшую стоимость и минимальные затраты при наращивании. 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Расстояние между двумя рабочими станциями без повторителей может составлять максимум 300 м, а общее расстояние - около 1000 м. </a:t>
            </a:r>
          </a:p>
          <a:p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100" b="1" dirty="0" err="1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Сheapernеt-кабель</a:t>
            </a:r>
            <a: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11" descr="111"/>
          <p:cNvPicPr>
            <a:picLocks noChangeAspect="1" noChangeArrowheads="1"/>
          </p:cNvPicPr>
          <p:nvPr/>
        </p:nvPicPr>
        <p:blipFill>
          <a:blip r:embed="rId2"/>
          <a:srcRect t="21941" b="26270"/>
          <a:stretch>
            <a:fillRect/>
          </a:stretch>
        </p:blipFill>
        <p:spPr bwMode="auto">
          <a:xfrm>
            <a:off x="459177" y="300026"/>
            <a:ext cx="5961115" cy="1544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0829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Скорость распространения информации по ним достигает нескольких миллиардов бит в секунду. 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Допустимое удаление более 50 км. 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Внешнее воздействие помех практически отсутствует. 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На данный момент  наиболее дорогостоящее соединение для ЛВС.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800" dirty="0" err="1">
                <a:solidFill>
                  <a:schemeClr val="accent3"/>
                </a:solidFill>
                <a:cs typeface="Times New Roman" pitchFamily="18" charset="0"/>
              </a:rPr>
              <a:t>Оптопроводники</a:t>
            </a:r>
            <a:r>
              <a:rPr lang="ru-RU" sz="2800" dirty="0">
                <a:solidFill>
                  <a:schemeClr val="accent3"/>
                </a:solidFill>
                <a:cs typeface="Times New Roman" pitchFamily="18" charset="0"/>
              </a:rPr>
              <a:t> объединяются в ЛBC с помощью звездообразного соединения</a:t>
            </a:r>
            <a:endParaRPr lang="ru-RU" sz="2800" dirty="0">
              <a:solidFill>
                <a:schemeClr val="accent3"/>
              </a:solidFill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Оптоволоконный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кабель</a:t>
            </a:r>
            <a: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11" descr="1090_p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573" y="286987"/>
            <a:ext cx="3014690" cy="20750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9226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33010" y="1732034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lvl="1" indent="-22225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Платы сетевого адаптера выступают </a:t>
            </a:r>
          </a:p>
          <a:p>
            <a:pPr lvl="1" indent="-22225">
              <a:lnSpc>
                <a:spcPct val="80000"/>
              </a:lnSpc>
              <a:buNone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в качестве физического интерфейса, </a:t>
            </a:r>
          </a:p>
          <a:p>
            <a:pPr lvl="1" indent="-22225">
              <a:lnSpc>
                <a:spcPct val="80000"/>
              </a:lnSpc>
              <a:buNone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или соединения между компьютером и сетевым кабелем. </a:t>
            </a:r>
          </a:p>
          <a:p>
            <a:pPr lvl="1">
              <a:lnSpc>
                <a:spcPct val="80000"/>
              </a:lnSpc>
              <a:buNone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ru-RU" sz="2600" b="1" i="1" dirty="0">
                <a:solidFill>
                  <a:schemeClr val="accent3"/>
                </a:solidFill>
                <a:cs typeface="Times New Roman" pitchFamily="18" charset="0"/>
              </a:rPr>
              <a:t>Назначение платы сетевого адаптера: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Подготовка данных, поступающих от компьютера, </a:t>
            </a:r>
          </a:p>
          <a:p>
            <a:pPr lvl="1" indent="-22225">
              <a:lnSpc>
                <a:spcPct val="80000"/>
              </a:lnSpc>
              <a:buNone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к передаче по сетевому кабелю.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Передача данных другому компьютеру.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Управление потоком данных между компьютером и кабельной системой.</a:t>
            </a: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ru-RU" sz="2600" dirty="0">
              <a:solidFill>
                <a:schemeClr val="accent3"/>
              </a:solidFill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ru-RU" sz="2600" dirty="0">
                <a:solidFill>
                  <a:schemeClr val="accent3"/>
                </a:solidFill>
                <a:cs typeface="Times New Roman" pitchFamily="18" charset="0"/>
              </a:rPr>
              <a:t>Плата сетевого адаптера принимает данные из сетевого кабеля и переводит в форму, понятную центральному процессору компьютера.</a:t>
            </a:r>
          </a:p>
          <a:p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Сетевая плата</a:t>
            </a:r>
            <a:r>
              <a:rPr lang="ru-RU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087" y="16013"/>
            <a:ext cx="3375923" cy="253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96279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SzTx/>
              <a:buFont typeface="Wingdings" pitchFamily="2" charset="2"/>
              <a:buChar char="§"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При передаче по сетевому кабелю электрический </a:t>
            </a:r>
          </a:p>
          <a:p>
            <a:pPr lvl="1">
              <a:buSzTx/>
              <a:buFont typeface="Wingdings" pitchFamily="2" charset="2"/>
              <a:buNone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	сигнал постепенно ослабевает (затухает)</a:t>
            </a:r>
            <a:r>
              <a:rPr lang="en-US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 </a:t>
            </a:r>
            <a:r>
              <a:rPr lang="uk-UA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и</a:t>
            </a: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 </a:t>
            </a:r>
          </a:p>
          <a:p>
            <a:pPr lvl="1">
              <a:buSzTx/>
              <a:buFont typeface="Wingdings" pitchFamily="2" charset="2"/>
              <a:buNone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	искажается до такой степени, что компьютер перестает его воспринимать. </a:t>
            </a:r>
          </a:p>
          <a:p>
            <a:pPr lvl="1">
              <a:buSzTx/>
              <a:buFont typeface="Wingdings" pitchFamily="2" charset="2"/>
              <a:buNone/>
            </a:pPr>
            <a:endParaRPr lang="ru-RU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buSzTx/>
              <a:buFont typeface="Wingdings" pitchFamily="2" charset="2"/>
              <a:buChar char="§"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Репитер применяется для </a:t>
            </a:r>
          </a:p>
          <a:p>
            <a:pPr lvl="1">
              <a:buSzTx/>
              <a:buNone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предотвращения искажения сигнала</a:t>
            </a:r>
          </a:p>
          <a:p>
            <a:pPr lvl="1">
              <a:buSzTx/>
              <a:buFont typeface="Wingdings" pitchFamily="2" charset="2"/>
              <a:buChar char="§"/>
            </a:pPr>
            <a:endParaRPr lang="ru-RU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buSzTx/>
              <a:buFont typeface="Wingdings" pitchFamily="2" charset="2"/>
              <a:buChar char="§"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Репитер усиливает (восстанавливает) ослабленный сигнал и передает его  дальше по кабелю. </a:t>
            </a:r>
          </a:p>
          <a:p>
            <a:pPr lvl="1">
              <a:buSzTx/>
              <a:buFont typeface="Wingdings" pitchFamily="2" charset="2"/>
              <a:buChar char="§"/>
            </a:pPr>
            <a:endParaRPr lang="ru-RU" kern="1200" dirty="0" smtClean="0">
              <a:solidFill>
                <a:schemeClr val="accent3"/>
              </a:solidFill>
              <a:ea typeface="+mn-ea"/>
              <a:cs typeface="Times New Roman" pitchFamily="18" charset="0"/>
            </a:endParaRPr>
          </a:p>
          <a:p>
            <a:pPr lvl="1">
              <a:buSzTx/>
              <a:buFont typeface="Wingdings" pitchFamily="2" charset="2"/>
              <a:buChar char="§"/>
            </a:pPr>
            <a:r>
              <a:rPr lang="ru-RU" kern="1200" dirty="0" smtClean="0">
                <a:solidFill>
                  <a:schemeClr val="accent3"/>
                </a:solidFill>
                <a:ea typeface="+mn-ea"/>
                <a:cs typeface="Times New Roman" pitchFamily="18" charset="0"/>
              </a:rPr>
              <a:t>Применяются репитеры в сетях с топологией «шина».</a:t>
            </a:r>
            <a:endParaRPr lang="ru-RU" kern="1200" dirty="0">
              <a:solidFill>
                <a:schemeClr val="accent3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ea typeface="+mn-ea"/>
                <a:cs typeface="Times New Roman" pitchFamily="18" charset="0"/>
              </a:rPr>
              <a:t>Repeater</a:t>
            </a:r>
            <a:r>
              <a:rPr lang="ru-RU" sz="2400" b="1" dirty="0">
                <a:solidFill>
                  <a:schemeClr val="hlink"/>
                </a:solidFill>
              </a:rPr>
              <a:t/>
            </a:r>
            <a:br>
              <a:rPr lang="ru-RU" sz="2400" b="1" dirty="0">
                <a:solidFill>
                  <a:schemeClr val="hlink"/>
                </a:solidFill>
              </a:rPr>
            </a:br>
            <a:endParaRPr lang="ru-RU" dirty="0"/>
          </a:p>
        </p:txBody>
      </p:sp>
      <p:pic>
        <p:nvPicPr>
          <p:cNvPr id="4" name="Picture 11" descr="4428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88" y="0"/>
            <a:ext cx="2405066" cy="180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3014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001888" y="500042"/>
            <a:ext cx="715452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all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cs typeface="Times New Roman" pitchFamily="18" charset="0"/>
              </a:rPr>
              <a:t>В сетях соединение обеспечивают </a:t>
            </a:r>
            <a:endParaRPr lang="ru-RU" sz="2800" b="1" cap="all" dirty="0">
              <a:ln w="0"/>
              <a:gradFill flip="none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49000">
                    <a:schemeClr val="accent5">
                      <a:lumMod val="75000"/>
                    </a:schemeClr>
                  </a:gs>
                  <a:gs pos="50000">
                    <a:schemeClr val="accent5">
                      <a:lumMod val="75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j-lt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423592" y="1556793"/>
            <a:ext cx="7488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Хабы (концентраторы)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– дублируют полученные данные на все порты.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423592" y="3717032"/>
            <a:ext cx="7560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Свитчи (коммутирующие хабы, коммутаторы)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– передают полученные данные только адресату.</a:t>
            </a:r>
          </a:p>
          <a:p>
            <a:endParaRPr lang="ru-RU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0" name="Рисунок 99" descr="коммутатор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79777" y="2420889"/>
            <a:ext cx="4080511" cy="715879"/>
          </a:xfrm>
          <a:prstGeom prst="rect">
            <a:avLst/>
          </a:prstGeom>
        </p:spPr>
      </p:pic>
      <p:pic>
        <p:nvPicPr>
          <p:cNvPr id="7" name="Рисунок 6" descr="GKS63294634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0183" y="4143380"/>
            <a:ext cx="3078427" cy="23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22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465730" y="306426"/>
            <a:ext cx="447750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all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cs typeface="Times New Roman" pitchFamily="18" charset="0"/>
              </a:rPr>
              <a:t>Связи  между  сетями</a:t>
            </a:r>
            <a:endParaRPr lang="ru-RU" sz="2800" b="1" cap="all" dirty="0">
              <a:ln w="0"/>
              <a:gradFill flip="none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49000">
                    <a:schemeClr val="accent5">
                      <a:lumMod val="75000"/>
                    </a:schemeClr>
                  </a:gs>
                  <a:gs pos="50000">
                    <a:schemeClr val="accent5">
                      <a:lumMod val="75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j-lt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419691" y="1148549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Мост (</a:t>
            </a:r>
            <a:r>
              <a:rPr lang="en-US" sz="2400" b="1" i="1" dirty="0">
                <a:solidFill>
                  <a:schemeClr val="accent3"/>
                </a:solidFill>
                <a:cs typeface="Times New Roman" pitchFamily="18" charset="0"/>
              </a:rPr>
              <a:t>bridge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)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соединяет две локальные сети. Работает как свитч, но имеет свой процессор.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1991545" y="2276873"/>
            <a:ext cx="3627437" cy="1224135"/>
            <a:chOff x="880" y="883"/>
            <a:chExt cx="2285" cy="846"/>
          </a:xfrm>
        </p:grpSpPr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956" y="1517"/>
              <a:ext cx="21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1640" y="1302"/>
              <a:ext cx="98" cy="236"/>
              <a:chOff x="2372" y="1448"/>
              <a:chExt cx="135" cy="339"/>
            </a:xfrm>
          </p:grpSpPr>
          <p:sp>
            <p:nvSpPr>
              <p:cNvPr id="55" name="Rectangle 8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6" name="Rectangle 9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7" name="Line 10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2139" y="1302"/>
              <a:ext cx="97" cy="236"/>
              <a:chOff x="2372" y="1448"/>
              <a:chExt cx="135" cy="339"/>
            </a:xfrm>
          </p:grpSpPr>
          <p:sp>
            <p:nvSpPr>
              <p:cNvPr id="52" name="Rectangle 12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3" name="Rectangle 13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4" name="Line 14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" name="Group 15"/>
            <p:cNvGrpSpPr>
              <a:grpSpLocks/>
            </p:cNvGrpSpPr>
            <p:nvPr/>
          </p:nvGrpSpPr>
          <p:grpSpPr bwMode="auto">
            <a:xfrm>
              <a:off x="2608" y="1302"/>
              <a:ext cx="97" cy="236"/>
              <a:chOff x="2372" y="1448"/>
              <a:chExt cx="135" cy="339"/>
            </a:xfrm>
          </p:grpSpPr>
          <p:sp>
            <p:nvSpPr>
              <p:cNvPr id="49" name="Rectangle 16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0" name="Rectangle 17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51" name="Line 18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 flipV="1">
              <a:off x="2918" y="1493"/>
              <a:ext cx="98" cy="236"/>
              <a:chOff x="2372" y="1448"/>
              <a:chExt cx="135" cy="339"/>
            </a:xfrm>
          </p:grpSpPr>
          <p:sp>
            <p:nvSpPr>
              <p:cNvPr id="46" name="Rectangle 20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47" name="Rectangle 21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48" name="Line 22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1176" y="1300"/>
              <a:ext cx="98" cy="236"/>
              <a:chOff x="2372" y="1448"/>
              <a:chExt cx="135" cy="339"/>
            </a:xfrm>
          </p:grpSpPr>
          <p:sp>
            <p:nvSpPr>
              <p:cNvPr id="43" name="Rectangle 24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44" name="Rectangle 25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45" name="Line 26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41" name="Rectangle 29"/>
            <p:cNvSpPr>
              <a:spLocks noChangeArrowheads="1"/>
            </p:cNvSpPr>
            <p:nvPr/>
          </p:nvSpPr>
          <p:spPr bwMode="auto">
            <a:xfrm>
              <a:off x="1147" y="883"/>
              <a:ext cx="116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1618" y="883"/>
              <a:ext cx="116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2086" y="883"/>
              <a:ext cx="116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2549" y="883"/>
              <a:ext cx="116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880" y="1488"/>
              <a:ext cx="77" cy="59"/>
              <a:chOff x="1320" y="1716"/>
              <a:chExt cx="106" cy="84"/>
            </a:xfrm>
          </p:grpSpPr>
          <p:sp>
            <p:nvSpPr>
              <p:cNvPr id="33" name="AutoShape 41"/>
              <p:cNvSpPr>
                <a:spLocks noChangeArrowheads="1"/>
              </p:cNvSpPr>
              <p:nvPr/>
            </p:nvSpPr>
            <p:spPr bwMode="auto">
              <a:xfrm>
                <a:off x="1320" y="1730"/>
                <a:ext cx="89" cy="56"/>
              </a:xfrm>
              <a:prstGeom prst="roundRect">
                <a:avLst>
                  <a:gd name="adj" fmla="val 16667"/>
                </a:avLst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34" name="Rectangle 42"/>
              <p:cNvSpPr>
                <a:spLocks noChangeArrowheads="1"/>
              </p:cNvSpPr>
              <p:nvPr/>
            </p:nvSpPr>
            <p:spPr bwMode="auto">
              <a:xfrm>
                <a:off x="1370" y="1716"/>
                <a:ext cx="56" cy="8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</p:grpSp>
        <p:grpSp>
          <p:nvGrpSpPr>
            <p:cNvPr id="11" name="Group 43"/>
            <p:cNvGrpSpPr>
              <a:grpSpLocks/>
            </p:cNvGrpSpPr>
            <p:nvPr/>
          </p:nvGrpSpPr>
          <p:grpSpPr bwMode="auto">
            <a:xfrm flipH="1">
              <a:off x="3088" y="1488"/>
              <a:ext cx="77" cy="59"/>
              <a:chOff x="1320" y="1716"/>
              <a:chExt cx="106" cy="84"/>
            </a:xfrm>
          </p:grpSpPr>
          <p:sp>
            <p:nvSpPr>
              <p:cNvPr id="31" name="AutoShape 44"/>
              <p:cNvSpPr>
                <a:spLocks noChangeArrowheads="1"/>
              </p:cNvSpPr>
              <p:nvPr/>
            </p:nvSpPr>
            <p:spPr bwMode="auto">
              <a:xfrm>
                <a:off x="1320" y="1730"/>
                <a:ext cx="89" cy="56"/>
              </a:xfrm>
              <a:prstGeom prst="roundRect">
                <a:avLst>
                  <a:gd name="adj" fmla="val 16667"/>
                </a:avLst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32" name="Rectangle 45"/>
              <p:cNvSpPr>
                <a:spLocks noChangeArrowheads="1"/>
              </p:cNvSpPr>
              <p:nvPr/>
            </p:nvSpPr>
            <p:spPr bwMode="auto">
              <a:xfrm>
                <a:off x="1370" y="1716"/>
                <a:ext cx="56" cy="8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</p:grpSp>
      </p:grpSp>
      <p:grpSp>
        <p:nvGrpSpPr>
          <p:cNvPr id="12" name="Group 49"/>
          <p:cNvGrpSpPr>
            <a:grpSpLocks/>
          </p:cNvGrpSpPr>
          <p:nvPr/>
        </p:nvGrpSpPr>
        <p:grpSpPr bwMode="auto">
          <a:xfrm flipH="1">
            <a:off x="6528046" y="2348880"/>
            <a:ext cx="3627437" cy="1152129"/>
            <a:chOff x="880" y="883"/>
            <a:chExt cx="2285" cy="846"/>
          </a:xfrm>
        </p:grpSpPr>
        <p:sp>
          <p:nvSpPr>
            <p:cNvPr id="59" name="Line 50"/>
            <p:cNvSpPr>
              <a:spLocks noChangeShapeType="1"/>
            </p:cNvSpPr>
            <p:nvPr/>
          </p:nvSpPr>
          <p:spPr bwMode="auto">
            <a:xfrm>
              <a:off x="956" y="1517"/>
              <a:ext cx="21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1640" y="1302"/>
              <a:ext cx="98" cy="236"/>
              <a:chOff x="2372" y="1448"/>
              <a:chExt cx="135" cy="339"/>
            </a:xfrm>
          </p:grpSpPr>
          <p:sp>
            <p:nvSpPr>
              <p:cNvPr id="95" name="Rectangle 52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6" name="Rectangle 53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7" name="Line 54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2139" y="1302"/>
              <a:ext cx="97" cy="236"/>
              <a:chOff x="2372" y="1448"/>
              <a:chExt cx="135" cy="339"/>
            </a:xfrm>
          </p:grpSpPr>
          <p:sp>
            <p:nvSpPr>
              <p:cNvPr id="92" name="Rectangle 56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3" name="Rectangle 57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4" name="Line 58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5" name="Group 59"/>
            <p:cNvGrpSpPr>
              <a:grpSpLocks/>
            </p:cNvGrpSpPr>
            <p:nvPr/>
          </p:nvGrpSpPr>
          <p:grpSpPr bwMode="auto">
            <a:xfrm>
              <a:off x="2608" y="1302"/>
              <a:ext cx="97" cy="236"/>
              <a:chOff x="2372" y="1448"/>
              <a:chExt cx="135" cy="339"/>
            </a:xfrm>
          </p:grpSpPr>
          <p:sp>
            <p:nvSpPr>
              <p:cNvPr id="89" name="Rectangle 60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0" name="Rectangle 61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91" name="Line 62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6" name="Group 63"/>
            <p:cNvGrpSpPr>
              <a:grpSpLocks/>
            </p:cNvGrpSpPr>
            <p:nvPr/>
          </p:nvGrpSpPr>
          <p:grpSpPr bwMode="auto">
            <a:xfrm flipV="1">
              <a:off x="2918" y="1493"/>
              <a:ext cx="98" cy="236"/>
              <a:chOff x="2372" y="1448"/>
              <a:chExt cx="135" cy="339"/>
            </a:xfrm>
          </p:grpSpPr>
          <p:sp>
            <p:nvSpPr>
              <p:cNvPr id="86" name="Rectangle 64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87" name="Rectangle 65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88" name="Line 66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" name="Group 67"/>
            <p:cNvGrpSpPr>
              <a:grpSpLocks/>
            </p:cNvGrpSpPr>
            <p:nvPr/>
          </p:nvGrpSpPr>
          <p:grpSpPr bwMode="auto">
            <a:xfrm>
              <a:off x="1176" y="1300"/>
              <a:ext cx="98" cy="236"/>
              <a:chOff x="2372" y="1448"/>
              <a:chExt cx="135" cy="339"/>
            </a:xfrm>
          </p:grpSpPr>
          <p:sp>
            <p:nvSpPr>
              <p:cNvPr id="83" name="Rectangle 68"/>
              <p:cNvSpPr>
                <a:spLocks noChangeArrowheads="1"/>
              </p:cNvSpPr>
              <p:nvPr/>
            </p:nvSpPr>
            <p:spPr bwMode="auto">
              <a:xfrm>
                <a:off x="2372" y="1731"/>
                <a:ext cx="135" cy="5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84" name="Rectangle 69"/>
              <p:cNvSpPr>
                <a:spLocks noChangeArrowheads="1"/>
              </p:cNvSpPr>
              <p:nvPr/>
            </p:nvSpPr>
            <p:spPr bwMode="auto">
              <a:xfrm>
                <a:off x="2412" y="1689"/>
                <a:ext cx="56" cy="9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85" name="Line 70"/>
              <p:cNvSpPr>
                <a:spLocks noChangeShapeType="1"/>
              </p:cNvSpPr>
              <p:nvPr/>
            </p:nvSpPr>
            <p:spPr bwMode="auto">
              <a:xfrm flipV="1">
                <a:off x="2440" y="1448"/>
                <a:ext cx="0" cy="2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81" name="Rectangle 72"/>
            <p:cNvSpPr>
              <a:spLocks noChangeArrowheads="1"/>
            </p:cNvSpPr>
            <p:nvPr/>
          </p:nvSpPr>
          <p:spPr bwMode="auto">
            <a:xfrm>
              <a:off x="1147" y="883"/>
              <a:ext cx="116" cy="2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1618" y="883"/>
              <a:ext cx="116" cy="2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2086" y="883"/>
              <a:ext cx="116" cy="2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sp>
          <p:nvSpPr>
            <p:cNvPr id="75" name="Rectangle 81"/>
            <p:cNvSpPr>
              <a:spLocks noChangeArrowheads="1"/>
            </p:cNvSpPr>
            <p:nvPr/>
          </p:nvSpPr>
          <p:spPr bwMode="auto">
            <a:xfrm>
              <a:off x="2549" y="883"/>
              <a:ext cx="116" cy="2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endParaRPr lang="ru-RU" sz="1600" b="1">
                <a:latin typeface="Arial" charset="0"/>
              </a:endParaRPr>
            </a:p>
          </p:txBody>
        </p: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880" y="1488"/>
              <a:ext cx="77" cy="59"/>
              <a:chOff x="1320" y="1716"/>
              <a:chExt cx="106" cy="84"/>
            </a:xfrm>
          </p:grpSpPr>
          <p:sp>
            <p:nvSpPr>
              <p:cNvPr id="73" name="AutoShape 84"/>
              <p:cNvSpPr>
                <a:spLocks noChangeArrowheads="1"/>
              </p:cNvSpPr>
              <p:nvPr/>
            </p:nvSpPr>
            <p:spPr bwMode="auto">
              <a:xfrm>
                <a:off x="1320" y="1730"/>
                <a:ext cx="89" cy="56"/>
              </a:xfrm>
              <a:prstGeom prst="roundRect">
                <a:avLst>
                  <a:gd name="adj" fmla="val 16667"/>
                </a:avLst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74" name="Rectangle 85"/>
              <p:cNvSpPr>
                <a:spLocks noChangeArrowheads="1"/>
              </p:cNvSpPr>
              <p:nvPr/>
            </p:nvSpPr>
            <p:spPr bwMode="auto">
              <a:xfrm>
                <a:off x="1370" y="1716"/>
                <a:ext cx="56" cy="8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</p:grpSp>
        <p:grpSp>
          <p:nvGrpSpPr>
            <p:cNvPr id="21" name="Group 86"/>
            <p:cNvGrpSpPr>
              <a:grpSpLocks/>
            </p:cNvGrpSpPr>
            <p:nvPr/>
          </p:nvGrpSpPr>
          <p:grpSpPr bwMode="auto">
            <a:xfrm flipH="1">
              <a:off x="3088" y="1488"/>
              <a:ext cx="77" cy="59"/>
              <a:chOff x="1320" y="1716"/>
              <a:chExt cx="106" cy="84"/>
            </a:xfrm>
          </p:grpSpPr>
          <p:sp>
            <p:nvSpPr>
              <p:cNvPr id="71" name="AutoShape 87"/>
              <p:cNvSpPr>
                <a:spLocks noChangeArrowheads="1"/>
              </p:cNvSpPr>
              <p:nvPr/>
            </p:nvSpPr>
            <p:spPr bwMode="auto">
              <a:xfrm>
                <a:off x="1320" y="1730"/>
                <a:ext cx="89" cy="56"/>
              </a:xfrm>
              <a:prstGeom prst="roundRect">
                <a:avLst>
                  <a:gd name="adj" fmla="val 16667"/>
                </a:avLst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  <p:sp>
            <p:nvSpPr>
              <p:cNvPr id="72" name="Rectangle 88"/>
              <p:cNvSpPr>
                <a:spLocks noChangeArrowheads="1"/>
              </p:cNvSpPr>
              <p:nvPr/>
            </p:nvSpPr>
            <p:spPr bwMode="auto">
              <a:xfrm>
                <a:off x="1370" y="1716"/>
                <a:ext cx="56" cy="8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808080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ru-RU" baseline="-25000">
                  <a:latin typeface="Arial" charset="0"/>
                </a:endParaRPr>
              </a:p>
            </p:txBody>
          </p:sp>
        </p:grpSp>
      </p:grpSp>
      <p:sp>
        <p:nvSpPr>
          <p:cNvPr id="99" name="Line 89"/>
          <p:cNvSpPr>
            <a:spLocks noChangeShapeType="1"/>
          </p:cNvSpPr>
          <p:nvPr/>
        </p:nvSpPr>
        <p:spPr bwMode="auto">
          <a:xfrm>
            <a:off x="5303913" y="3501008"/>
            <a:ext cx="1546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98" name="Rectangle 46"/>
          <p:cNvSpPr>
            <a:spLocks noChangeArrowheads="1"/>
          </p:cNvSpPr>
          <p:nvPr/>
        </p:nvSpPr>
        <p:spPr bwMode="auto">
          <a:xfrm>
            <a:off x="5807969" y="3356992"/>
            <a:ext cx="585787" cy="288032"/>
          </a:xfrm>
          <a:prstGeom prst="rect">
            <a:avLst/>
          </a:prstGeom>
          <a:solidFill>
            <a:srgbClr val="248FAC"/>
          </a:solidFill>
          <a:ln>
            <a:headEnd/>
            <a:tailEnd type="none" w="lg" len="lg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540000">
              <a:spcAft>
                <a:spcPts val="200"/>
              </a:spcAft>
            </a:pPr>
            <a:r>
              <a:rPr lang="ru-RU" sz="1600" dirty="0">
                <a:solidFill>
                  <a:schemeClr val="bg1"/>
                </a:solidFill>
                <a:latin typeface="Arial" charset="0"/>
              </a:rPr>
              <a:t>мост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76584" y="3873510"/>
            <a:ext cx="74168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Маршрутизатор (</a:t>
            </a:r>
            <a:r>
              <a:rPr lang="en-US" sz="2400" b="1" i="1" dirty="0">
                <a:solidFill>
                  <a:schemeClr val="accent3"/>
                </a:solidFill>
                <a:cs typeface="Times New Roman" pitchFamily="18" charset="0"/>
              </a:rPr>
              <a:t>router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)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пересылает пакеты по специальным правилам – </a:t>
            </a:r>
            <a:r>
              <a:rPr lang="ru-RU" sz="2400" i="1" dirty="0">
                <a:solidFill>
                  <a:schemeClr val="accent3"/>
                </a:solidFill>
                <a:cs typeface="Times New Roman" pitchFamily="18" charset="0"/>
              </a:rPr>
              <a:t>таблицам маршрутизации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(из локальной сети в Интернет). Определение кратчайшего пути, обход поврежденных участков. </a:t>
            </a:r>
          </a:p>
          <a:p>
            <a:endParaRPr lang="ru-RU" dirty="0">
              <a:solidFill>
                <a:schemeClr val="accent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0" name="Рисунок 99" descr="маршрутизатор 2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1686" y="4857760"/>
            <a:ext cx="4667256" cy="2333628"/>
          </a:xfrm>
          <a:prstGeom prst="rect">
            <a:avLst/>
          </a:prstGeom>
        </p:spPr>
      </p:pic>
      <p:pic>
        <p:nvPicPr>
          <p:cNvPr id="102" name="Рисунок 10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451" y="2348879"/>
            <a:ext cx="672041" cy="638718"/>
          </a:xfrm>
          <a:prstGeom prst="rect">
            <a:avLst/>
          </a:prstGeom>
        </p:spPr>
      </p:pic>
      <p:pic>
        <p:nvPicPr>
          <p:cNvPr id="103" name="Рисунок 10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120" y="2348879"/>
            <a:ext cx="672041" cy="638718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812" y="2348879"/>
            <a:ext cx="672041" cy="638718"/>
          </a:xfrm>
          <a:prstGeom prst="rect">
            <a:avLst/>
          </a:prstGeom>
        </p:spPr>
      </p:pic>
      <p:pic>
        <p:nvPicPr>
          <p:cNvPr id="105" name="Рисунок 10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349" y="2365813"/>
            <a:ext cx="672041" cy="638718"/>
          </a:xfrm>
          <a:prstGeom prst="rect">
            <a:avLst/>
          </a:prstGeom>
        </p:spPr>
      </p:pic>
      <p:pic>
        <p:nvPicPr>
          <p:cNvPr id="106" name="Рисунок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760" y="2364980"/>
            <a:ext cx="672041" cy="638718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969" y="2364980"/>
            <a:ext cx="672041" cy="638718"/>
          </a:xfrm>
          <a:prstGeom prst="rect">
            <a:avLst/>
          </a:prstGeom>
        </p:spPr>
      </p:pic>
      <p:pic>
        <p:nvPicPr>
          <p:cNvPr id="108" name="Рисунок 10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31" y="2368167"/>
            <a:ext cx="672041" cy="638718"/>
          </a:xfrm>
          <a:prstGeom prst="rect">
            <a:avLst/>
          </a:prstGeom>
        </p:spPr>
      </p:pic>
      <p:pic>
        <p:nvPicPr>
          <p:cNvPr id="109" name="Рисунок 10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198" y="2364980"/>
            <a:ext cx="672041" cy="63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19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023993" y="422443"/>
            <a:ext cx="447750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all" dirty="0">
                <a:ln w="0"/>
                <a:gradFill flip="none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49000">
                      <a:schemeClr val="accent5">
                        <a:lumMod val="75000"/>
                      </a:schemeClr>
                    </a:gs>
                    <a:gs pos="50000">
                      <a:schemeClr val="accent5">
                        <a:lumMod val="75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j-lt"/>
                <a:cs typeface="Times New Roman" pitchFamily="18" charset="0"/>
              </a:rPr>
              <a:t>Связи  между  сетями</a:t>
            </a:r>
            <a:endParaRPr lang="ru-RU" sz="2800" b="1" cap="all" dirty="0">
              <a:ln w="0"/>
              <a:gradFill flip="none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49000">
                    <a:schemeClr val="accent5">
                      <a:lumMod val="75000"/>
                    </a:schemeClr>
                  </a:gs>
                  <a:gs pos="50000">
                    <a:schemeClr val="accent5">
                      <a:lumMod val="75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j-lt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309786" y="1142985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Шлюз (</a:t>
            </a:r>
            <a:r>
              <a:rPr lang="en-US" sz="2400" b="1" i="1" dirty="0">
                <a:solidFill>
                  <a:schemeClr val="accent3"/>
                </a:solidFill>
                <a:cs typeface="Times New Roman" pitchFamily="18" charset="0"/>
              </a:rPr>
              <a:t>gateway</a:t>
            </a:r>
            <a:r>
              <a:rPr lang="ru-RU" sz="2400" b="1" i="1" dirty="0">
                <a:solidFill>
                  <a:schemeClr val="accent3"/>
                </a:solidFill>
                <a:cs typeface="Times New Roman" pitchFamily="18" charset="0"/>
              </a:rPr>
              <a:t>) </a:t>
            </a:r>
            <a:r>
              <a:rPr lang="ru-RU" sz="2400" dirty="0">
                <a:solidFill>
                  <a:schemeClr val="accent3"/>
                </a:solidFill>
                <a:cs typeface="Times New Roman" pitchFamily="18" charset="0"/>
              </a:rPr>
              <a:t>– служит для соединения сетей с разными протоколами (сеть персональных компьютеров и аппаратура).</a:t>
            </a:r>
            <a:endParaRPr lang="ru-RU" sz="2400" dirty="0">
              <a:solidFill>
                <a:schemeClr val="accent3"/>
              </a:solidFill>
              <a:cs typeface="Times New Roman" pitchFamily="18" charset="0"/>
            </a:endParaRPr>
          </a:p>
        </p:txBody>
      </p:sp>
      <p:grpSp>
        <p:nvGrpSpPr>
          <p:cNvPr id="2" name="Группа 100"/>
          <p:cNvGrpSpPr>
            <a:grpSpLocks/>
          </p:cNvGrpSpPr>
          <p:nvPr/>
        </p:nvGrpSpPr>
        <p:grpSpPr bwMode="auto">
          <a:xfrm>
            <a:off x="7767374" y="2358733"/>
            <a:ext cx="2193078" cy="4173711"/>
            <a:chOff x="5642551" y="1607446"/>
            <a:chExt cx="2440278" cy="4759488"/>
          </a:xfrm>
        </p:grpSpPr>
        <p:sp>
          <p:nvSpPr>
            <p:cNvPr id="102" name="Прямоугольник 101"/>
            <p:cNvSpPr/>
            <p:nvPr/>
          </p:nvSpPr>
          <p:spPr bwMode="auto">
            <a:xfrm>
              <a:off x="5712410" y="2088475"/>
              <a:ext cx="2370419" cy="4278459"/>
            </a:xfrm>
            <a:prstGeom prst="rect">
              <a:avLst/>
            </a:prstGeom>
            <a:solidFill>
              <a:srgbClr val="E6E6E6"/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ru-RU" baseline="-25000">
                <a:latin typeface="Arial" charset="0"/>
              </a:endParaRPr>
            </a:p>
          </p:txBody>
        </p:sp>
        <p:pic>
          <p:nvPicPr>
            <p:cNvPr id="10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695018" y="2395762"/>
              <a:ext cx="992011" cy="9739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</p:pic>
        <p:pic>
          <p:nvPicPr>
            <p:cNvPr id="104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03673" y="3645961"/>
              <a:ext cx="774700" cy="901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</p:pic>
        <p:pic>
          <p:nvPicPr>
            <p:cNvPr id="105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38573" y="4823885"/>
              <a:ext cx="1104900" cy="1409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</p:pic>
        <p:sp>
          <p:nvSpPr>
            <p:cNvPr id="106" name="Полилиния 95"/>
            <p:cNvSpPr>
              <a:spLocks noChangeArrowheads="1"/>
            </p:cNvSpPr>
            <p:nvPr/>
          </p:nvSpPr>
          <p:spPr bwMode="auto">
            <a:xfrm>
              <a:off x="6050844" y="2867380"/>
              <a:ext cx="643467" cy="2799645"/>
            </a:xfrm>
            <a:custGeom>
              <a:avLst/>
              <a:gdLst>
                <a:gd name="T0" fmla="*/ 643467 w 643467"/>
                <a:gd name="T1" fmla="*/ 0 h 2799645"/>
                <a:gd name="T2" fmla="*/ 11289 w 643467"/>
                <a:gd name="T3" fmla="*/ 0 h 2799645"/>
                <a:gd name="T4" fmla="*/ 0 w 643467"/>
                <a:gd name="T5" fmla="*/ 2799645 h 2799645"/>
                <a:gd name="T6" fmla="*/ 598312 w 643467"/>
                <a:gd name="T7" fmla="*/ 2799645 h 27996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3467"/>
                <a:gd name="T13" fmla="*/ 0 h 2799645"/>
                <a:gd name="T14" fmla="*/ 643467 w 643467"/>
                <a:gd name="T15" fmla="*/ 2799645 h 27996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3467" h="2799645">
                  <a:moveTo>
                    <a:pt x="643467" y="0"/>
                  </a:moveTo>
                  <a:lnTo>
                    <a:pt x="11289" y="0"/>
                  </a:lnTo>
                  <a:lnTo>
                    <a:pt x="0" y="2799645"/>
                  </a:lnTo>
                  <a:lnTo>
                    <a:pt x="598312" y="2799645"/>
                  </a:lnTo>
                </a:path>
              </a:pathLst>
            </a:custGeom>
            <a:noFill/>
            <a:ln w="25400" algn="ctr">
              <a:solidFill>
                <a:srgbClr val="FF0000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ru-RU"/>
            </a:p>
          </p:txBody>
        </p:sp>
        <p:cxnSp>
          <p:nvCxnSpPr>
            <p:cNvPr id="107" name="Прямая соединительная линия 97"/>
            <p:cNvCxnSpPr>
              <a:cxnSpLocks noChangeShapeType="1"/>
            </p:cNvCxnSpPr>
            <p:nvPr/>
          </p:nvCxnSpPr>
          <p:spPr bwMode="auto">
            <a:xfrm>
              <a:off x="6062133" y="4222047"/>
              <a:ext cx="73377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08" name="Прямоугольник 99"/>
            <p:cNvSpPr>
              <a:spLocks noChangeArrowheads="1"/>
            </p:cNvSpPr>
            <p:nvPr/>
          </p:nvSpPr>
          <p:spPr bwMode="auto">
            <a:xfrm>
              <a:off x="5642551" y="1607446"/>
              <a:ext cx="2374450" cy="3860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2400" baseline="-250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промышленная сеть</a:t>
              </a:r>
            </a:p>
          </p:txBody>
        </p:sp>
      </p:grpSp>
      <p:grpSp>
        <p:nvGrpSpPr>
          <p:cNvPr id="5" name="Группа 124"/>
          <p:cNvGrpSpPr>
            <a:grpSpLocks/>
          </p:cNvGrpSpPr>
          <p:nvPr/>
        </p:nvGrpSpPr>
        <p:grpSpPr bwMode="auto">
          <a:xfrm>
            <a:off x="3143607" y="3473844"/>
            <a:ext cx="1768475" cy="2595041"/>
            <a:chOff x="1719792" y="2625242"/>
            <a:chExt cx="1768474" cy="2594992"/>
          </a:xfrm>
        </p:grpSpPr>
        <p:pic>
          <p:nvPicPr>
            <p:cNvPr id="110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2269066" y="2625242"/>
              <a:ext cx="1219200" cy="4679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</p:pic>
        <p:cxnSp>
          <p:nvCxnSpPr>
            <p:cNvPr id="114" name="Прямая соединительная линия 115"/>
            <p:cNvCxnSpPr>
              <a:cxnSpLocks noChangeShapeType="1"/>
            </p:cNvCxnSpPr>
            <p:nvPr/>
          </p:nvCxnSpPr>
          <p:spPr bwMode="auto">
            <a:xfrm>
              <a:off x="1749954" y="2912052"/>
              <a:ext cx="744537" cy="1588"/>
            </a:xfrm>
            <a:prstGeom prst="line">
              <a:avLst/>
            </a:prstGeom>
            <a:noFill/>
            <a:ln w="28575" algn="ctr">
              <a:solidFill>
                <a:srgbClr val="D09240"/>
              </a:solidFill>
              <a:round/>
              <a:headEnd/>
              <a:tailEnd type="none" w="lg" len="lg"/>
            </a:ln>
          </p:spPr>
        </p:cxnSp>
        <p:sp>
          <p:nvSpPr>
            <p:cNvPr id="115" name="Freeform 9"/>
            <p:cNvSpPr>
              <a:spLocks/>
            </p:cNvSpPr>
            <p:nvPr/>
          </p:nvSpPr>
          <p:spPr bwMode="auto">
            <a:xfrm>
              <a:off x="1719792" y="2900940"/>
              <a:ext cx="876299" cy="1179490"/>
            </a:xfrm>
            <a:custGeom>
              <a:avLst/>
              <a:gdLst>
                <a:gd name="T0" fmla="*/ 0 w 1318"/>
                <a:gd name="T1" fmla="*/ 1179490 h 984"/>
                <a:gd name="T2" fmla="*/ 876299 w 1318"/>
                <a:gd name="T3" fmla="*/ 1179490 h 984"/>
                <a:gd name="T4" fmla="*/ 876299 w 1318"/>
                <a:gd name="T5" fmla="*/ 0 h 984"/>
                <a:gd name="T6" fmla="*/ 0 60000 65536"/>
                <a:gd name="T7" fmla="*/ 0 60000 65536"/>
                <a:gd name="T8" fmla="*/ 0 60000 65536"/>
                <a:gd name="T9" fmla="*/ 0 w 1318"/>
                <a:gd name="T10" fmla="*/ 0 h 984"/>
                <a:gd name="T11" fmla="*/ 1318 w 1318"/>
                <a:gd name="T12" fmla="*/ 984 h 9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984">
                  <a:moveTo>
                    <a:pt x="0" y="984"/>
                  </a:moveTo>
                  <a:lnTo>
                    <a:pt x="1318" y="984"/>
                  </a:lnTo>
                  <a:lnTo>
                    <a:pt x="1318" y="0"/>
                  </a:lnTo>
                </a:path>
              </a:pathLst>
            </a:custGeom>
            <a:noFill/>
            <a:ln w="28575" cap="flat" cmpd="sng" algn="ctr">
              <a:solidFill>
                <a:srgbClr val="D092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6" name="Freeform 9"/>
            <p:cNvSpPr>
              <a:spLocks/>
            </p:cNvSpPr>
            <p:nvPr/>
          </p:nvSpPr>
          <p:spPr bwMode="auto">
            <a:xfrm>
              <a:off x="1719792" y="2969201"/>
              <a:ext cx="1012824" cy="2251033"/>
            </a:xfrm>
            <a:custGeom>
              <a:avLst/>
              <a:gdLst>
                <a:gd name="T0" fmla="*/ 0 w 1318"/>
                <a:gd name="T1" fmla="*/ 2251033 h 984"/>
                <a:gd name="T2" fmla="*/ 1012824 w 1318"/>
                <a:gd name="T3" fmla="*/ 2251033 h 984"/>
                <a:gd name="T4" fmla="*/ 1012824 w 1318"/>
                <a:gd name="T5" fmla="*/ 0 h 984"/>
                <a:gd name="T6" fmla="*/ 0 60000 65536"/>
                <a:gd name="T7" fmla="*/ 0 60000 65536"/>
                <a:gd name="T8" fmla="*/ 0 60000 65536"/>
                <a:gd name="T9" fmla="*/ 0 w 1318"/>
                <a:gd name="T10" fmla="*/ 0 h 984"/>
                <a:gd name="T11" fmla="*/ 1318 w 1318"/>
                <a:gd name="T12" fmla="*/ 984 h 9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984">
                  <a:moveTo>
                    <a:pt x="0" y="984"/>
                  </a:moveTo>
                  <a:lnTo>
                    <a:pt x="1318" y="984"/>
                  </a:lnTo>
                  <a:lnTo>
                    <a:pt x="1318" y="0"/>
                  </a:lnTo>
                </a:path>
              </a:pathLst>
            </a:custGeom>
            <a:noFill/>
            <a:ln w="28575" cap="flat" cmpd="sng" algn="ctr">
              <a:solidFill>
                <a:srgbClr val="D092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11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01602" y="3615427"/>
            <a:ext cx="1917700" cy="2017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</p:pic>
      <p:cxnSp>
        <p:nvCxnSpPr>
          <p:cNvPr id="119" name="Прямая соединительная линия 118"/>
          <p:cNvCxnSpPr/>
          <p:nvPr/>
        </p:nvCxnSpPr>
        <p:spPr>
          <a:xfrm>
            <a:off x="7119302" y="4734106"/>
            <a:ext cx="10081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1" name="Freeform 9"/>
          <p:cNvSpPr>
            <a:spLocks/>
          </p:cNvSpPr>
          <p:nvPr/>
        </p:nvSpPr>
        <p:spPr bwMode="auto">
          <a:xfrm flipH="1">
            <a:off x="4553530" y="3831451"/>
            <a:ext cx="876300" cy="864096"/>
          </a:xfrm>
          <a:custGeom>
            <a:avLst/>
            <a:gdLst>
              <a:gd name="T0" fmla="*/ 0 w 1318"/>
              <a:gd name="T1" fmla="*/ 1179490 h 984"/>
              <a:gd name="T2" fmla="*/ 876299 w 1318"/>
              <a:gd name="T3" fmla="*/ 1179490 h 984"/>
              <a:gd name="T4" fmla="*/ 876299 w 1318"/>
              <a:gd name="T5" fmla="*/ 0 h 984"/>
              <a:gd name="T6" fmla="*/ 0 60000 65536"/>
              <a:gd name="T7" fmla="*/ 0 60000 65536"/>
              <a:gd name="T8" fmla="*/ 0 60000 65536"/>
              <a:gd name="T9" fmla="*/ 0 w 1318"/>
              <a:gd name="T10" fmla="*/ 0 h 984"/>
              <a:gd name="T11" fmla="*/ 1318 w 1318"/>
              <a:gd name="T12" fmla="*/ 984 h 9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8" h="984">
                <a:moveTo>
                  <a:pt x="0" y="984"/>
                </a:moveTo>
                <a:lnTo>
                  <a:pt x="1318" y="984"/>
                </a:lnTo>
                <a:lnTo>
                  <a:pt x="1318" y="0"/>
                </a:lnTo>
              </a:path>
            </a:pathLst>
          </a:custGeom>
          <a:noFill/>
          <a:ln w="28575" cap="flat" cmpd="sng" algn="ctr">
            <a:solidFill>
              <a:srgbClr val="D0924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2" name="Прямоугольник 121"/>
          <p:cNvSpPr>
            <a:spLocks noChangeArrowheads="1"/>
          </p:cNvSpPr>
          <p:nvPr/>
        </p:nvSpPr>
        <p:spPr bwMode="auto">
          <a:xfrm>
            <a:off x="5921683" y="3399403"/>
            <a:ext cx="7777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шлюз</a:t>
            </a:r>
            <a:endParaRPr lang="ru-RU" baseline="-250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770" y="2928317"/>
            <a:ext cx="1035601" cy="98425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769" y="4058030"/>
            <a:ext cx="1035601" cy="98425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68" y="5187745"/>
            <a:ext cx="1035601" cy="98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52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57" name="Rectangle 1037"/>
          <p:cNvSpPr>
            <a:spLocks noChangeArrowheads="1"/>
          </p:cNvSpPr>
          <p:nvPr/>
        </p:nvSpPr>
        <p:spPr bwMode="auto">
          <a:xfrm>
            <a:off x="6533148" y="228601"/>
            <a:ext cx="31470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Типы адресов</a:t>
            </a:r>
          </a:p>
        </p:txBody>
      </p:sp>
      <p:sp>
        <p:nvSpPr>
          <p:cNvPr id="671758" name="Rectangle 1038"/>
          <p:cNvSpPr>
            <a:spLocks noChangeArrowheads="1"/>
          </p:cNvSpPr>
          <p:nvPr/>
        </p:nvSpPr>
        <p:spPr bwMode="auto">
          <a:xfrm>
            <a:off x="433136" y="813376"/>
            <a:ext cx="1138989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buClr>
                <a:srgbClr val="99CCFF"/>
              </a:buClr>
              <a:buFont typeface="Wingdings" panose="05000000000000000000" pitchFamily="2" charset="2"/>
              <a:buChar char="ü"/>
            </a:pPr>
            <a:r>
              <a:rPr lang="ru-RU" altLang="ru-RU" dirty="0" smtClean="0"/>
              <a:t>физический </a:t>
            </a:r>
            <a:r>
              <a:rPr lang="ru-RU" altLang="ru-RU" dirty="0"/>
              <a:t>(например, MAC-адрес</a:t>
            </a:r>
            <a:r>
              <a:rPr lang="en-US" altLang="ru-RU" dirty="0"/>
              <a:t> 00-0b-6a-85-b6-41</a:t>
            </a:r>
            <a:r>
              <a:rPr lang="ru-RU" altLang="ru-RU" dirty="0"/>
              <a:t>, АТМ адрес </a:t>
            </a:r>
            <a:r>
              <a:rPr lang="en-US" altLang="ru-RU" dirty="0"/>
              <a:t>NSAP, </a:t>
            </a:r>
            <a:r>
              <a:rPr lang="ru-RU" altLang="ru-RU" dirty="0"/>
              <a:t>глобальный адрес X.25, логический адрес канального уровня)</a:t>
            </a:r>
          </a:p>
          <a:p>
            <a:pPr lvl="1">
              <a:buClr>
                <a:srgbClr val="99CCFF"/>
              </a:buClr>
              <a:buFont typeface="Wingdings" panose="05000000000000000000" pitchFamily="2" charset="2"/>
              <a:buChar char="ü"/>
            </a:pPr>
            <a:r>
              <a:rPr lang="ru-RU" altLang="ru-RU" dirty="0"/>
              <a:t>сетевой (например, IP-адрес, две части: номер сети и номер интерфейса в этой сети). Узел может иметь несколько IP адресов по количеству сетей, к которым подключен. Одному физическому интерфейсу может быть приписано несколько </a:t>
            </a:r>
            <a:r>
              <a:rPr lang="en-US" altLang="ru-RU" dirty="0"/>
              <a:t>IP </a:t>
            </a:r>
            <a:r>
              <a:rPr lang="ru-RU" altLang="ru-RU" dirty="0"/>
              <a:t>адресов, или, наоборот, одному адресу сетевого уровня соответствует несколько адресов канального уровня, но чаще всего бывает соответствие </a:t>
            </a:r>
            <a:r>
              <a:rPr lang="en-US" altLang="ru-RU" dirty="0"/>
              <a:t>MAC </a:t>
            </a:r>
            <a:r>
              <a:rPr lang="ru-RU" altLang="ru-RU" dirty="0"/>
              <a:t>адрес - </a:t>
            </a:r>
            <a:r>
              <a:rPr lang="en-US" altLang="ru-RU" dirty="0"/>
              <a:t>IP </a:t>
            </a:r>
            <a:r>
              <a:rPr lang="ru-RU" altLang="ru-RU" dirty="0"/>
              <a:t>адрес (службы </a:t>
            </a:r>
            <a:r>
              <a:rPr lang="en-US" altLang="ru-RU" dirty="0"/>
              <a:t>ARP </a:t>
            </a:r>
            <a:r>
              <a:rPr lang="ru-RU" altLang="ru-RU" dirty="0"/>
              <a:t>и </a:t>
            </a:r>
            <a:r>
              <a:rPr lang="en-US" altLang="ru-RU" dirty="0"/>
              <a:t>RARP</a:t>
            </a:r>
            <a:r>
              <a:rPr lang="ru-RU" altLang="ru-RU" dirty="0"/>
              <a:t>), например, маршрутизатор обычно имеет несколько сетевых интерфейсов с парами МАС-адрес - </a:t>
            </a:r>
            <a:r>
              <a:rPr lang="en-US" altLang="ru-RU" dirty="0"/>
              <a:t>IP </a:t>
            </a:r>
            <a:r>
              <a:rPr lang="ru-RU" altLang="ru-RU" dirty="0"/>
              <a:t>адрес.</a:t>
            </a:r>
          </a:p>
          <a:p>
            <a:pPr lvl="1">
              <a:buClr>
                <a:srgbClr val="99CCFF"/>
              </a:buClr>
              <a:buFont typeface="Wingdings" panose="05000000000000000000" pitchFamily="2" charset="2"/>
              <a:buChar char="ü"/>
            </a:pPr>
            <a:r>
              <a:rPr lang="ru-RU" altLang="ru-RU" dirty="0"/>
              <a:t>логический символьный (например, DNS-имя). Данная адресация соответствует прикладному уровню модели </a:t>
            </a:r>
            <a:r>
              <a:rPr lang="en-US" altLang="ru-RU" dirty="0"/>
              <a:t>OSI/RM</a:t>
            </a:r>
            <a:r>
              <a:rPr lang="ru-RU" altLang="ru-RU" dirty="0"/>
              <a:t>. Символьные логические адреса введены для удобства пользования глобальными адресами. Одному символьному имени может соответствовать несколько адресов сетевого уровня (например, распределенная структура серверов </a:t>
            </a:r>
            <a:r>
              <a:rPr lang="en-US" altLang="ru-RU" dirty="0"/>
              <a:t>altavista.com</a:t>
            </a:r>
            <a:r>
              <a:rPr lang="ru-RU" altLang="ru-RU" dirty="0"/>
              <a:t>)</a:t>
            </a:r>
            <a:r>
              <a:rPr lang="en-US" altLang="ru-RU" dirty="0"/>
              <a:t> </a:t>
            </a:r>
            <a:r>
              <a:rPr lang="ru-RU" altLang="ru-RU" dirty="0"/>
              <a:t>или одному </a:t>
            </a:r>
            <a:r>
              <a:rPr lang="en-US" altLang="ru-RU" dirty="0"/>
              <a:t>IP </a:t>
            </a:r>
            <a:r>
              <a:rPr lang="ru-RU" altLang="ru-RU" dirty="0"/>
              <a:t>адресу может соответствовать несколько символьных (для создания виртуальных серверов, названий веб-сайтов). </a:t>
            </a:r>
          </a:p>
        </p:txBody>
      </p:sp>
    </p:spTree>
    <p:extLst>
      <p:ext uri="{BB962C8B-B14F-4D97-AF65-F5344CB8AC3E}">
        <p14:creationId xmlns:p14="http://schemas.microsoft.com/office/powerpoint/2010/main" val="2969785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6" name="Rectangle 10"/>
          <p:cNvSpPr>
            <a:spLocks noChangeArrowheads="1"/>
          </p:cNvSpPr>
          <p:nvPr/>
        </p:nvSpPr>
        <p:spPr bwMode="auto">
          <a:xfrm>
            <a:off x="5410200" y="164432"/>
            <a:ext cx="498245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Мультиплексирование</a:t>
            </a:r>
          </a:p>
        </p:txBody>
      </p:sp>
      <p:pic>
        <p:nvPicPr>
          <p:cNvPr id="72602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12651"/>
            <a:ext cx="6137775" cy="5620759"/>
          </a:xfrm>
          <a:prstGeom prst="rect">
            <a:avLst/>
          </a:prstGeom>
          <a:noFill/>
          <a:ln>
            <a:noFill/>
          </a:ln>
          <a:effectLst>
            <a:glow rad="127000">
              <a:schemeClr val="tx1"/>
            </a:glow>
            <a:outerShdw blurRad="63500" sx="102000" sy="102000" algn="ctr" rotWithShape="0">
              <a:schemeClr val="tx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296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805" name="Rectangle 13"/>
          <p:cNvSpPr>
            <a:spLocks noChangeArrowheads="1"/>
          </p:cNvSpPr>
          <p:nvPr/>
        </p:nvSpPr>
        <p:spPr bwMode="auto">
          <a:xfrm>
            <a:off x="5747489" y="208181"/>
            <a:ext cx="41585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Классы </a:t>
            </a:r>
            <a:r>
              <a:rPr lang="en-US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IP </a:t>
            </a:r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адресов</a:t>
            </a:r>
          </a:p>
        </p:txBody>
      </p:sp>
      <p:sp>
        <p:nvSpPr>
          <p:cNvPr id="673806" name="Rectangle 14"/>
          <p:cNvSpPr>
            <a:spLocks noChangeArrowheads="1"/>
          </p:cNvSpPr>
          <p:nvPr/>
        </p:nvSpPr>
        <p:spPr bwMode="auto">
          <a:xfrm>
            <a:off x="1287378" y="3506037"/>
            <a:ext cx="97175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ru-RU" dirty="0"/>
              <a:t>IP </a:t>
            </a:r>
            <a:r>
              <a:rPr lang="ru-RU" altLang="ru-RU" dirty="0"/>
              <a:t>адреса записываются в десятично-точечной нотации, каждый байт (значения в диапазоне 0-255) отделяется от соседнего точкой. Всего в Интернете возможно существование менее 2</a:t>
            </a:r>
            <a:r>
              <a:rPr lang="ru-RU" altLang="ru-RU" baseline="30000" dirty="0"/>
              <a:t>32</a:t>
            </a:r>
            <a:r>
              <a:rPr lang="ru-RU" altLang="ru-RU" dirty="0"/>
              <a:t> хостов (сетевых интерфейсов). Выделение хоста в сети позволяет придерживаться четкой двухуровневой иерархической структуры.</a:t>
            </a:r>
          </a:p>
          <a:p>
            <a:pPr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ru-RU" altLang="ru-RU" dirty="0"/>
              <a:t>На данный момент существует бесклассовая система адресации (</a:t>
            </a:r>
            <a:r>
              <a:rPr lang="en-US" altLang="ru-RU" dirty="0"/>
              <a:t>Classless Internet Domain Routing)</a:t>
            </a:r>
            <a:r>
              <a:rPr lang="ru-RU" altLang="ru-RU" dirty="0"/>
              <a:t>, характеризуемая любой длиной номера сети и хоста в пределах 32 бит.</a:t>
            </a:r>
          </a:p>
        </p:txBody>
      </p:sp>
      <p:graphicFrame>
        <p:nvGraphicFramePr>
          <p:cNvPr id="673937" name="Group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698014"/>
              </p:ext>
            </p:extLst>
          </p:nvPr>
        </p:nvGraphicFramePr>
        <p:xfrm>
          <a:off x="1167467" y="960776"/>
          <a:ext cx="10250907" cy="2377440"/>
        </p:xfrm>
        <a:graphic>
          <a:graphicData uri="http://schemas.openxmlformats.org/drawingml/2006/table">
            <a:tbl>
              <a:tblPr/>
              <a:tblGrid>
                <a:gridCol w="1211471"/>
                <a:gridCol w="1304661"/>
                <a:gridCol w="1397851"/>
                <a:gridCol w="1304661"/>
                <a:gridCol w="1397851"/>
                <a:gridCol w="1397851"/>
                <a:gridCol w="2236561"/>
              </a:tblGrid>
              <a:tr h="198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Структура 32-битного 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IP </a:t>
                      </a: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адреса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Диапазон сетей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 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126.0.0.0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 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128.0.0.0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191.255.0.0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 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192.0.0.0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223.255.255.0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 </a:t>
                      </a: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endParaRPr kumimoji="0" lang="ru-RU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1110 групповой 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224.0.0.0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239.255.255.255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Класс 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11110 зарезервирован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240.0.0.0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247.255.255.255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480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61"/>
          <p:cNvSpPr>
            <a:spLocks noChangeArrowheads="1"/>
          </p:cNvSpPr>
          <p:nvPr/>
        </p:nvSpPr>
        <p:spPr bwMode="auto">
          <a:xfrm>
            <a:off x="8214625" y="546079"/>
            <a:ext cx="142699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4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DNS</a:t>
            </a:r>
            <a:endParaRPr lang="ru-RU" altLang="ru-RU" sz="4400" dirty="0">
              <a:solidFill>
                <a:schemeClr val="accent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" name="Rectangle 2062"/>
          <p:cNvSpPr>
            <a:spLocks noChangeArrowheads="1"/>
          </p:cNvSpPr>
          <p:nvPr/>
        </p:nvSpPr>
        <p:spPr bwMode="auto">
          <a:xfrm>
            <a:off x="417094" y="2069431"/>
            <a:ext cx="114701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b="0" dirty="0">
                <a:effectLst/>
              </a:rPr>
              <a:t>Распределенная база данных</a:t>
            </a:r>
            <a:r>
              <a:rPr lang="en-US" altLang="ru-RU" b="0" dirty="0">
                <a:effectLst/>
              </a:rPr>
              <a:t> </a:t>
            </a:r>
            <a:r>
              <a:rPr lang="ru-RU" altLang="ru-RU" b="0" dirty="0">
                <a:effectLst/>
              </a:rPr>
              <a:t>доменных имен поддерживается службой</a:t>
            </a:r>
            <a:r>
              <a:rPr lang="en-US" altLang="ru-RU" b="0" dirty="0">
                <a:effectLst/>
              </a:rPr>
              <a:t> </a:t>
            </a:r>
            <a:r>
              <a:rPr lang="en-US" altLang="ru-RU" dirty="0">
                <a:solidFill>
                  <a:schemeClr val="accent2"/>
                </a:solidFill>
                <a:effectLst/>
              </a:rPr>
              <a:t>Domain Name Service</a:t>
            </a:r>
            <a:r>
              <a:rPr lang="en-US" altLang="ru-RU" b="0" dirty="0">
                <a:effectLst/>
              </a:rPr>
              <a:t>.</a:t>
            </a:r>
            <a:r>
              <a:rPr lang="ru-RU" altLang="ru-RU" b="0" dirty="0">
                <a:effectLst/>
              </a:rPr>
              <a:t> </a:t>
            </a:r>
            <a:r>
              <a:rPr lang="en-US" altLang="ru-RU" b="0" dirty="0">
                <a:effectLst/>
              </a:rPr>
              <a:t>DNS </a:t>
            </a:r>
            <a:r>
              <a:rPr lang="ru-RU" altLang="ru-RU" b="0" dirty="0">
                <a:effectLst/>
              </a:rPr>
              <a:t>обеспечивает иерархическую систему имен для идентификации узлов в сети </a:t>
            </a:r>
            <a:r>
              <a:rPr lang="ru-RU" altLang="ru-RU" b="0" dirty="0" err="1">
                <a:effectLst/>
              </a:rPr>
              <a:t>Internet</a:t>
            </a:r>
            <a:r>
              <a:rPr lang="ru-RU" altLang="ru-RU" b="0" dirty="0">
                <a:effectLst/>
              </a:rPr>
              <a:t>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b="0" dirty="0">
                <a:effectLst/>
              </a:rPr>
              <a:t>Два вида запросов в </a:t>
            </a:r>
            <a:r>
              <a:rPr lang="en-US" altLang="ru-RU" b="0" dirty="0">
                <a:effectLst/>
              </a:rPr>
              <a:t>DNS </a:t>
            </a:r>
            <a:r>
              <a:rPr lang="ru-RU" altLang="ru-RU" b="0" dirty="0">
                <a:effectLst/>
              </a:rPr>
              <a:t>сервера: прямой (по доменному имени</a:t>
            </a:r>
            <a:r>
              <a:rPr lang="en-US" altLang="ru-RU" b="0" dirty="0">
                <a:effectLst/>
              </a:rPr>
              <a:t> </a:t>
            </a:r>
            <a:r>
              <a:rPr lang="ru-RU" altLang="ru-RU" b="0" dirty="0">
                <a:effectLst/>
              </a:rPr>
              <a:t>ищется </a:t>
            </a:r>
            <a:r>
              <a:rPr lang="en-US" altLang="ru-RU" b="0" dirty="0">
                <a:effectLst/>
              </a:rPr>
              <a:t>IP</a:t>
            </a:r>
            <a:r>
              <a:rPr lang="ru-RU" altLang="ru-RU" b="0" dirty="0">
                <a:effectLst/>
              </a:rPr>
              <a:t> адрес) и обратный (доменное имя по </a:t>
            </a:r>
            <a:r>
              <a:rPr lang="en-US" altLang="ru-RU" b="0" dirty="0">
                <a:effectLst/>
              </a:rPr>
              <a:t>IP </a:t>
            </a:r>
            <a:r>
              <a:rPr lang="ru-RU" altLang="ru-RU" b="0" dirty="0">
                <a:effectLst/>
              </a:rPr>
              <a:t>адресу). Прямой поиск необходим при обычном Интернет-серфинге, когда браузер должен организовывать </a:t>
            </a:r>
            <a:r>
              <a:rPr lang="en-US" altLang="ru-RU" b="0" dirty="0">
                <a:effectLst/>
              </a:rPr>
              <a:t>http </a:t>
            </a:r>
            <a:r>
              <a:rPr lang="ru-RU" altLang="ru-RU" b="0" dirty="0">
                <a:effectLst/>
              </a:rPr>
              <a:t>сеансы связи с веб-серверами, </a:t>
            </a:r>
            <a:r>
              <a:rPr lang="en-US" altLang="ru-RU" b="0" dirty="0">
                <a:effectLst/>
              </a:rPr>
              <a:t>IP </a:t>
            </a:r>
            <a:r>
              <a:rPr lang="ru-RU" altLang="ru-RU" b="0" dirty="0">
                <a:effectLst/>
              </a:rPr>
              <a:t>адреса которых изначально неизвестны. Поиск в обратной зоне востребован некоторыми службами, например</a:t>
            </a:r>
            <a:r>
              <a:rPr lang="en-US" altLang="ru-RU" b="0" dirty="0">
                <a:effectLst/>
              </a:rPr>
              <a:t> </a:t>
            </a:r>
            <a:r>
              <a:rPr lang="ru-RU" altLang="ru-RU" b="0" dirty="0">
                <a:effectLst/>
              </a:rPr>
              <a:t>в ходе </a:t>
            </a:r>
            <a:r>
              <a:rPr lang="en-US" altLang="ru-RU" b="0" dirty="0" err="1">
                <a:effectLst/>
              </a:rPr>
              <a:t>smtp</a:t>
            </a:r>
            <a:r>
              <a:rPr lang="en-US" altLang="ru-RU" b="0" dirty="0">
                <a:effectLst/>
              </a:rPr>
              <a:t> </a:t>
            </a:r>
            <a:r>
              <a:rPr lang="ru-RU" altLang="ru-RU" b="0" dirty="0">
                <a:effectLst/>
              </a:rPr>
              <a:t>связи (чаще всего с целью идентификации и примитивной защиты от взлома</a:t>
            </a:r>
            <a:r>
              <a:rPr lang="ru-RU" altLang="ru-RU" b="0" dirty="0" smtClean="0">
                <a:effectLst/>
              </a:rPr>
              <a:t>).</a:t>
            </a:r>
            <a:endParaRPr lang="ru-RU" alt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90230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8150456" y="445850"/>
            <a:ext cx="16321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40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DHCP</a:t>
            </a:r>
            <a:endParaRPr lang="ru-RU" altLang="ru-RU" sz="4000" dirty="0">
              <a:solidFill>
                <a:schemeClr val="accent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935413" y="1748828"/>
            <a:ext cx="105988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b="0" dirty="0">
                <a:effectLst/>
              </a:rPr>
              <a:t>С помощью протокола </a:t>
            </a:r>
            <a:r>
              <a:rPr lang="ru-RU" altLang="ru-RU" dirty="0">
                <a:solidFill>
                  <a:schemeClr val="accent2"/>
                </a:solidFill>
                <a:effectLst/>
              </a:rPr>
              <a:t>DHCP</a:t>
            </a:r>
            <a:r>
              <a:rPr lang="ru-RU" altLang="ru-RU" b="0" dirty="0">
                <a:effectLst/>
              </a:rPr>
              <a:t> (</a:t>
            </a:r>
            <a:r>
              <a:rPr lang="ru-RU" altLang="ru-RU" b="0" dirty="0" err="1">
                <a:effectLst/>
              </a:rPr>
              <a:t>Dynamic</a:t>
            </a:r>
            <a:r>
              <a:rPr lang="ru-RU" altLang="ru-RU" b="0" dirty="0">
                <a:effectLst/>
              </a:rPr>
              <a:t> </a:t>
            </a:r>
            <a:r>
              <a:rPr lang="ru-RU" altLang="ru-RU" b="0" dirty="0" err="1">
                <a:effectLst/>
              </a:rPr>
              <a:t>Host</a:t>
            </a:r>
            <a:r>
              <a:rPr lang="ru-RU" altLang="ru-RU" b="0" dirty="0">
                <a:effectLst/>
              </a:rPr>
              <a:t> </a:t>
            </a:r>
            <a:r>
              <a:rPr lang="ru-RU" altLang="ru-RU" b="0" dirty="0" err="1">
                <a:effectLst/>
              </a:rPr>
              <a:t>Configuration</a:t>
            </a:r>
            <a:r>
              <a:rPr lang="ru-RU" altLang="ru-RU" b="0" dirty="0">
                <a:effectLst/>
              </a:rPr>
              <a:t> </a:t>
            </a:r>
            <a:r>
              <a:rPr lang="ru-RU" altLang="ru-RU" b="0" dirty="0" err="1">
                <a:effectLst/>
              </a:rPr>
              <a:t>Protocol</a:t>
            </a:r>
            <a:r>
              <a:rPr lang="ru-RU" altLang="ru-RU" b="0" dirty="0">
                <a:effectLst/>
              </a:rPr>
              <a:t>) автоматизирован процесс назначения IP-адресов узлам сети.</a:t>
            </a:r>
            <a:endParaRPr lang="en-US" altLang="ru-RU" b="0" dirty="0">
              <a:effectLst/>
            </a:endParaRP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b="0" dirty="0">
                <a:effectLst/>
              </a:rPr>
              <a:t>Различают статические (заранее выделенные) и динамические IP адреса. В ходе </a:t>
            </a:r>
            <a:r>
              <a:rPr lang="en-US" altLang="ru-RU" b="0" dirty="0">
                <a:effectLst/>
              </a:rPr>
              <a:t>DHCP </a:t>
            </a:r>
            <a:r>
              <a:rPr lang="ru-RU" altLang="ru-RU" b="0" dirty="0">
                <a:effectLst/>
              </a:rPr>
              <a:t>сеанса связи проходит договор не только о присвоении IP адреса данному сетевому интерфейсу, но и посылка дополнительной информации о конфигурации сети (например, адреса шлюза, маски сети, адресов прокси-серверов).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b="0" dirty="0" smtClean="0">
                <a:effectLst/>
              </a:rPr>
              <a:t>Существует </a:t>
            </a:r>
            <a:r>
              <a:rPr lang="ru-RU" altLang="ru-RU" b="0" dirty="0">
                <a:effectLst/>
              </a:rPr>
              <a:t>проблема в сотрудничестве DNS и DHCP в случае динамической раздачи "реальных" IP адресов - надо постоянно обновлять DNS таблицы. Поэтому на статические сервисы, видимые из Интернет, стараются назначать "реальные" </a:t>
            </a:r>
            <a:r>
              <a:rPr lang="en-US" altLang="ru-RU" b="0" dirty="0">
                <a:effectLst/>
              </a:rPr>
              <a:t>IP </a:t>
            </a:r>
            <a:r>
              <a:rPr lang="ru-RU" altLang="ru-RU" b="0" dirty="0">
                <a:effectLst/>
              </a:rPr>
              <a:t>адреса. </a:t>
            </a:r>
          </a:p>
        </p:txBody>
      </p:sp>
    </p:spTree>
    <p:extLst>
      <p:ext uri="{BB962C8B-B14F-4D97-AF65-F5344CB8AC3E}">
        <p14:creationId xmlns:p14="http://schemas.microsoft.com/office/powerpoint/2010/main" val="1306983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22" name="Rectangle 10"/>
          <p:cNvSpPr>
            <a:spLocks noChangeArrowheads="1"/>
          </p:cNvSpPr>
          <p:nvPr/>
        </p:nvSpPr>
        <p:spPr bwMode="auto">
          <a:xfrm>
            <a:off x="6024396" y="180687"/>
            <a:ext cx="41264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Перехват трафика</a:t>
            </a:r>
          </a:p>
        </p:txBody>
      </p:sp>
      <p:sp>
        <p:nvSpPr>
          <p:cNvPr id="730123" name="Rectangle 11"/>
          <p:cNvSpPr>
            <a:spLocks noChangeArrowheads="1"/>
          </p:cNvSpPr>
          <p:nvPr/>
        </p:nvSpPr>
        <p:spPr bwMode="auto">
          <a:xfrm>
            <a:off x="2424113" y="4868863"/>
            <a:ext cx="7543800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1968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8863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1800"/>
              <a:t>Для того, чтобы иметь возможность перехватить сетевой трафик, необходимо иметь устройство, функционирующее на физическом уровне. Благодаря переключению сетевого  адаптера в режим </a:t>
            </a:r>
            <a:r>
              <a:rPr lang="en-US" altLang="ru-RU" sz="1800"/>
              <a:t>promiscuous </a:t>
            </a:r>
            <a:r>
              <a:rPr lang="ru-RU" altLang="ru-RU" sz="1800"/>
              <a:t>возможно создать программный анализатор трафика (или, например, программу перехвата паролей).</a:t>
            </a:r>
          </a:p>
        </p:txBody>
      </p:sp>
      <p:sp>
        <p:nvSpPr>
          <p:cNvPr id="730124" name="Rectangle 12"/>
          <p:cNvSpPr>
            <a:spLocks noChangeArrowheads="1"/>
          </p:cNvSpPr>
          <p:nvPr/>
        </p:nvSpPr>
        <p:spPr bwMode="auto">
          <a:xfrm>
            <a:off x="2711450" y="4365625"/>
            <a:ext cx="215900" cy="215900"/>
          </a:xfrm>
          <a:prstGeom prst="rect">
            <a:avLst/>
          </a:prstGeom>
          <a:solidFill>
            <a:srgbClr val="800080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25" name="Rectangle 13"/>
          <p:cNvSpPr>
            <a:spLocks noChangeArrowheads="1"/>
          </p:cNvSpPr>
          <p:nvPr/>
        </p:nvSpPr>
        <p:spPr bwMode="auto">
          <a:xfrm>
            <a:off x="3000375" y="4365625"/>
            <a:ext cx="215900" cy="2159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26" name="Rectangle 14"/>
          <p:cNvSpPr>
            <a:spLocks noChangeArrowheads="1"/>
          </p:cNvSpPr>
          <p:nvPr/>
        </p:nvSpPr>
        <p:spPr bwMode="auto">
          <a:xfrm>
            <a:off x="3287713" y="4365625"/>
            <a:ext cx="215900" cy="2159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27" name="Rectangle 15"/>
          <p:cNvSpPr>
            <a:spLocks noChangeArrowheads="1"/>
          </p:cNvSpPr>
          <p:nvPr/>
        </p:nvSpPr>
        <p:spPr bwMode="auto">
          <a:xfrm>
            <a:off x="2711451" y="3860800"/>
            <a:ext cx="792163" cy="287338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28" name="Line 16"/>
          <p:cNvSpPr>
            <a:spLocks noChangeShapeType="1"/>
          </p:cNvSpPr>
          <p:nvPr/>
        </p:nvSpPr>
        <p:spPr bwMode="auto">
          <a:xfrm flipV="1">
            <a:off x="2784475" y="4149725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29" name="Line 17"/>
          <p:cNvSpPr>
            <a:spLocks noChangeShapeType="1"/>
          </p:cNvSpPr>
          <p:nvPr/>
        </p:nvSpPr>
        <p:spPr bwMode="auto">
          <a:xfrm flipV="1">
            <a:off x="3071813" y="4149725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30" name="Line 18"/>
          <p:cNvSpPr>
            <a:spLocks noChangeShapeType="1"/>
          </p:cNvSpPr>
          <p:nvPr/>
        </p:nvSpPr>
        <p:spPr bwMode="auto">
          <a:xfrm flipV="1">
            <a:off x="3360738" y="4149725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31" name="Rectangle 19"/>
          <p:cNvSpPr>
            <a:spLocks noChangeArrowheads="1"/>
          </p:cNvSpPr>
          <p:nvPr/>
        </p:nvSpPr>
        <p:spPr bwMode="auto">
          <a:xfrm>
            <a:off x="2711451" y="3813175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0132" name="Rectangle 20"/>
          <p:cNvSpPr>
            <a:spLocks noChangeArrowheads="1"/>
          </p:cNvSpPr>
          <p:nvPr/>
        </p:nvSpPr>
        <p:spPr bwMode="auto">
          <a:xfrm>
            <a:off x="3648075" y="4365625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33" name="Rectangle 21"/>
          <p:cNvSpPr>
            <a:spLocks noChangeArrowheads="1"/>
          </p:cNvSpPr>
          <p:nvPr/>
        </p:nvSpPr>
        <p:spPr bwMode="auto">
          <a:xfrm>
            <a:off x="3937000" y="4365625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34" name="Rectangle 22"/>
          <p:cNvSpPr>
            <a:spLocks noChangeArrowheads="1"/>
          </p:cNvSpPr>
          <p:nvPr/>
        </p:nvSpPr>
        <p:spPr bwMode="auto">
          <a:xfrm>
            <a:off x="4224338" y="4365625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35" name="Rectangle 23"/>
          <p:cNvSpPr>
            <a:spLocks noChangeArrowheads="1"/>
          </p:cNvSpPr>
          <p:nvPr/>
        </p:nvSpPr>
        <p:spPr bwMode="auto">
          <a:xfrm>
            <a:off x="3648076" y="3860800"/>
            <a:ext cx="792163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36" name="Line 24"/>
          <p:cNvSpPr>
            <a:spLocks noChangeShapeType="1"/>
          </p:cNvSpPr>
          <p:nvPr/>
        </p:nvSpPr>
        <p:spPr bwMode="auto">
          <a:xfrm flipV="1">
            <a:off x="3721100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37" name="Line 25"/>
          <p:cNvSpPr>
            <a:spLocks noChangeShapeType="1"/>
          </p:cNvSpPr>
          <p:nvPr/>
        </p:nvSpPr>
        <p:spPr bwMode="auto">
          <a:xfrm flipV="1">
            <a:off x="4008438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38" name="Line 26"/>
          <p:cNvSpPr>
            <a:spLocks noChangeShapeType="1"/>
          </p:cNvSpPr>
          <p:nvPr/>
        </p:nvSpPr>
        <p:spPr bwMode="auto">
          <a:xfrm flipV="1">
            <a:off x="4297363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39" name="Rectangle 27"/>
          <p:cNvSpPr>
            <a:spLocks noChangeArrowheads="1"/>
          </p:cNvSpPr>
          <p:nvPr/>
        </p:nvSpPr>
        <p:spPr bwMode="auto">
          <a:xfrm>
            <a:off x="3648076" y="3813175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0140" name="Rectangle 28"/>
          <p:cNvSpPr>
            <a:spLocks noChangeArrowheads="1"/>
          </p:cNvSpPr>
          <p:nvPr/>
        </p:nvSpPr>
        <p:spPr bwMode="auto">
          <a:xfrm>
            <a:off x="3576638" y="3333750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41" name="Rectangle 29"/>
          <p:cNvSpPr>
            <a:spLocks noChangeArrowheads="1"/>
          </p:cNvSpPr>
          <p:nvPr/>
        </p:nvSpPr>
        <p:spPr bwMode="auto">
          <a:xfrm>
            <a:off x="3287713" y="2828925"/>
            <a:ext cx="792162" cy="287338"/>
          </a:xfrm>
          <a:prstGeom prst="rect">
            <a:avLst/>
          </a:prstGeom>
          <a:solidFill>
            <a:srgbClr val="66CC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42" name="Line 30"/>
          <p:cNvSpPr>
            <a:spLocks noChangeShapeType="1"/>
          </p:cNvSpPr>
          <p:nvPr/>
        </p:nvSpPr>
        <p:spPr bwMode="auto">
          <a:xfrm flipV="1">
            <a:off x="3359150" y="3117850"/>
            <a:ext cx="1588" cy="7429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43" name="Line 31"/>
          <p:cNvSpPr>
            <a:spLocks noChangeShapeType="1"/>
          </p:cNvSpPr>
          <p:nvPr/>
        </p:nvSpPr>
        <p:spPr bwMode="auto">
          <a:xfrm flipV="1">
            <a:off x="3648075" y="311785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44" name="Line 32"/>
          <p:cNvSpPr>
            <a:spLocks noChangeShapeType="1"/>
          </p:cNvSpPr>
          <p:nvPr/>
        </p:nvSpPr>
        <p:spPr bwMode="auto">
          <a:xfrm flipV="1">
            <a:off x="3935414" y="3117850"/>
            <a:ext cx="1587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45" name="Rectangle 33"/>
          <p:cNvSpPr>
            <a:spLocks noChangeArrowheads="1"/>
          </p:cNvSpPr>
          <p:nvPr/>
        </p:nvSpPr>
        <p:spPr bwMode="auto">
          <a:xfrm>
            <a:off x="3287714" y="2781300"/>
            <a:ext cx="8258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Switch</a:t>
            </a:r>
            <a:endParaRPr lang="ru-RU" altLang="ru-RU" sz="1600"/>
          </a:p>
        </p:txBody>
      </p:sp>
      <p:sp>
        <p:nvSpPr>
          <p:cNvPr id="730146" name="Rectangle 34"/>
          <p:cNvSpPr>
            <a:spLocks noChangeArrowheads="1"/>
          </p:cNvSpPr>
          <p:nvPr/>
        </p:nvSpPr>
        <p:spPr bwMode="auto">
          <a:xfrm>
            <a:off x="5016500" y="2420938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47" name="Rectangle 35"/>
          <p:cNvSpPr>
            <a:spLocks noChangeArrowheads="1"/>
          </p:cNvSpPr>
          <p:nvPr/>
        </p:nvSpPr>
        <p:spPr bwMode="auto">
          <a:xfrm>
            <a:off x="5303838" y="2420938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48" name="Rectangle 36"/>
          <p:cNvSpPr>
            <a:spLocks noChangeArrowheads="1"/>
          </p:cNvSpPr>
          <p:nvPr/>
        </p:nvSpPr>
        <p:spPr bwMode="auto">
          <a:xfrm>
            <a:off x="4727575" y="1916114"/>
            <a:ext cx="1296988" cy="287337"/>
          </a:xfrm>
          <a:prstGeom prst="rect">
            <a:avLst/>
          </a:prstGeom>
          <a:solidFill>
            <a:srgbClr val="FF6699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49" name="Line 37"/>
          <p:cNvSpPr>
            <a:spLocks noChangeShapeType="1"/>
          </p:cNvSpPr>
          <p:nvPr/>
        </p:nvSpPr>
        <p:spPr bwMode="auto">
          <a:xfrm flipV="1">
            <a:off x="5087938" y="22050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50" name="Line 38"/>
          <p:cNvSpPr>
            <a:spLocks noChangeShapeType="1"/>
          </p:cNvSpPr>
          <p:nvPr/>
        </p:nvSpPr>
        <p:spPr bwMode="auto">
          <a:xfrm flipV="1">
            <a:off x="5376863" y="22050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51" name="Rectangle 39"/>
          <p:cNvSpPr>
            <a:spLocks noChangeArrowheads="1"/>
          </p:cNvSpPr>
          <p:nvPr/>
        </p:nvSpPr>
        <p:spPr bwMode="auto">
          <a:xfrm>
            <a:off x="4727576" y="1868488"/>
            <a:ext cx="83388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Router</a:t>
            </a:r>
            <a:endParaRPr lang="ru-RU" altLang="ru-RU" sz="1600"/>
          </a:p>
        </p:txBody>
      </p:sp>
      <p:sp>
        <p:nvSpPr>
          <p:cNvPr id="730152" name="Rectangle 40"/>
          <p:cNvSpPr>
            <a:spLocks noChangeArrowheads="1"/>
          </p:cNvSpPr>
          <p:nvPr/>
        </p:nvSpPr>
        <p:spPr bwMode="auto">
          <a:xfrm>
            <a:off x="7407276" y="3665538"/>
            <a:ext cx="30171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/>
              <a:t>Hub – </a:t>
            </a:r>
            <a:r>
              <a:rPr lang="ru-RU" altLang="ru-RU"/>
              <a:t>репитер</a:t>
            </a:r>
          </a:p>
          <a:p>
            <a:pPr algn="l"/>
            <a:r>
              <a:rPr lang="en-US" altLang="ru-RU"/>
              <a:t>Switch – </a:t>
            </a:r>
            <a:r>
              <a:rPr lang="ru-RU" altLang="ru-RU"/>
              <a:t>коммутатор</a:t>
            </a:r>
          </a:p>
          <a:p>
            <a:pPr algn="l"/>
            <a:r>
              <a:rPr lang="en-US" altLang="ru-RU"/>
              <a:t>Router - </a:t>
            </a:r>
            <a:r>
              <a:rPr lang="ru-RU" altLang="ru-RU"/>
              <a:t>маршрутизатор</a:t>
            </a:r>
          </a:p>
        </p:txBody>
      </p:sp>
      <p:sp>
        <p:nvSpPr>
          <p:cNvPr id="730153" name="Freeform 41"/>
          <p:cNvSpPr>
            <a:spLocks/>
          </p:cNvSpPr>
          <p:nvPr/>
        </p:nvSpPr>
        <p:spPr bwMode="auto">
          <a:xfrm>
            <a:off x="3648076" y="2205038"/>
            <a:ext cx="1152525" cy="647700"/>
          </a:xfrm>
          <a:custGeom>
            <a:avLst/>
            <a:gdLst>
              <a:gd name="T0" fmla="*/ 0 w 726"/>
              <a:gd name="T1" fmla="*/ 363 h 363"/>
              <a:gd name="T2" fmla="*/ 0 w 726"/>
              <a:gd name="T3" fmla="*/ 227 h 363"/>
              <a:gd name="T4" fmla="*/ 726 w 726"/>
              <a:gd name="T5" fmla="*/ 227 h 363"/>
              <a:gd name="T6" fmla="*/ 726 w 726"/>
              <a:gd name="T7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6" h="363">
                <a:moveTo>
                  <a:pt x="0" y="363"/>
                </a:moveTo>
                <a:lnTo>
                  <a:pt x="0" y="227"/>
                </a:lnTo>
                <a:lnTo>
                  <a:pt x="726" y="227"/>
                </a:lnTo>
                <a:lnTo>
                  <a:pt x="726" y="0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54" name="Rectangle 42"/>
          <p:cNvSpPr>
            <a:spLocks noChangeArrowheads="1"/>
          </p:cNvSpPr>
          <p:nvPr/>
        </p:nvSpPr>
        <p:spPr bwMode="auto">
          <a:xfrm>
            <a:off x="5592763" y="2420938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55" name="Line 43"/>
          <p:cNvSpPr>
            <a:spLocks noChangeShapeType="1"/>
          </p:cNvSpPr>
          <p:nvPr/>
        </p:nvSpPr>
        <p:spPr bwMode="auto">
          <a:xfrm flipV="1">
            <a:off x="5665788" y="22050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56" name="Rectangle 44"/>
          <p:cNvSpPr>
            <a:spLocks noChangeArrowheads="1"/>
          </p:cNvSpPr>
          <p:nvPr/>
        </p:nvSpPr>
        <p:spPr bwMode="auto">
          <a:xfrm>
            <a:off x="5664200" y="3213100"/>
            <a:ext cx="215900" cy="2159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57" name="Rectangle 45"/>
          <p:cNvSpPr>
            <a:spLocks noChangeArrowheads="1"/>
          </p:cNvSpPr>
          <p:nvPr/>
        </p:nvSpPr>
        <p:spPr bwMode="auto">
          <a:xfrm>
            <a:off x="5953125" y="3213100"/>
            <a:ext cx="215900" cy="2159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58" name="Rectangle 46"/>
          <p:cNvSpPr>
            <a:spLocks noChangeArrowheads="1"/>
          </p:cNvSpPr>
          <p:nvPr/>
        </p:nvSpPr>
        <p:spPr bwMode="auto">
          <a:xfrm>
            <a:off x="5664201" y="2708275"/>
            <a:ext cx="792163" cy="287338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59" name="Line 47"/>
          <p:cNvSpPr>
            <a:spLocks noChangeShapeType="1"/>
          </p:cNvSpPr>
          <p:nvPr/>
        </p:nvSpPr>
        <p:spPr bwMode="auto">
          <a:xfrm flipV="1">
            <a:off x="5737225" y="2997200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60" name="Line 48"/>
          <p:cNvSpPr>
            <a:spLocks noChangeShapeType="1"/>
          </p:cNvSpPr>
          <p:nvPr/>
        </p:nvSpPr>
        <p:spPr bwMode="auto">
          <a:xfrm flipV="1">
            <a:off x="6024563" y="2997200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61" name="Line 49"/>
          <p:cNvSpPr>
            <a:spLocks noChangeShapeType="1"/>
          </p:cNvSpPr>
          <p:nvPr/>
        </p:nvSpPr>
        <p:spPr bwMode="auto">
          <a:xfrm flipV="1">
            <a:off x="6311900" y="2997201"/>
            <a:ext cx="1588" cy="5762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62" name="Rectangle 50"/>
          <p:cNvSpPr>
            <a:spLocks noChangeArrowheads="1"/>
          </p:cNvSpPr>
          <p:nvPr/>
        </p:nvSpPr>
        <p:spPr bwMode="auto">
          <a:xfrm>
            <a:off x="5664201" y="2660650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0163" name="Line 51"/>
          <p:cNvSpPr>
            <a:spLocks noChangeShapeType="1"/>
          </p:cNvSpPr>
          <p:nvPr/>
        </p:nvSpPr>
        <p:spPr bwMode="auto">
          <a:xfrm flipV="1">
            <a:off x="5951539" y="2205039"/>
            <a:ext cx="1587" cy="503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64" name="Rectangle 52"/>
          <p:cNvSpPr>
            <a:spLocks noChangeArrowheads="1"/>
          </p:cNvSpPr>
          <p:nvPr/>
        </p:nvSpPr>
        <p:spPr bwMode="auto">
          <a:xfrm>
            <a:off x="6240463" y="4078288"/>
            <a:ext cx="215900" cy="215900"/>
          </a:xfrm>
          <a:prstGeom prst="rect">
            <a:avLst/>
          </a:prstGeom>
          <a:solidFill>
            <a:srgbClr val="800080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65" name="Rectangle 53"/>
          <p:cNvSpPr>
            <a:spLocks noChangeArrowheads="1"/>
          </p:cNvSpPr>
          <p:nvPr/>
        </p:nvSpPr>
        <p:spPr bwMode="auto">
          <a:xfrm>
            <a:off x="5951538" y="3573464"/>
            <a:ext cx="792162" cy="287337"/>
          </a:xfrm>
          <a:prstGeom prst="rect">
            <a:avLst/>
          </a:prstGeom>
          <a:solidFill>
            <a:srgbClr val="66CC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0166" name="Line 54"/>
          <p:cNvSpPr>
            <a:spLocks noChangeShapeType="1"/>
          </p:cNvSpPr>
          <p:nvPr/>
        </p:nvSpPr>
        <p:spPr bwMode="auto">
          <a:xfrm flipV="1">
            <a:off x="6311900" y="3862388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67" name="Rectangle 55"/>
          <p:cNvSpPr>
            <a:spLocks noChangeArrowheads="1"/>
          </p:cNvSpPr>
          <p:nvPr/>
        </p:nvSpPr>
        <p:spPr bwMode="auto">
          <a:xfrm>
            <a:off x="5951539" y="3525838"/>
            <a:ext cx="8258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Switch</a:t>
            </a:r>
            <a:endParaRPr lang="ru-RU" altLang="ru-RU" sz="1600"/>
          </a:p>
        </p:txBody>
      </p:sp>
      <p:sp>
        <p:nvSpPr>
          <p:cNvPr id="730168" name="Rectangle 56"/>
          <p:cNvSpPr>
            <a:spLocks noChangeArrowheads="1"/>
          </p:cNvSpPr>
          <p:nvPr/>
        </p:nvSpPr>
        <p:spPr bwMode="auto">
          <a:xfrm>
            <a:off x="6527800" y="4076700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69" name="Line 57"/>
          <p:cNvSpPr>
            <a:spLocks noChangeShapeType="1"/>
          </p:cNvSpPr>
          <p:nvPr/>
        </p:nvSpPr>
        <p:spPr bwMode="auto">
          <a:xfrm flipV="1">
            <a:off x="6599238" y="38608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70" name="Rectangle 58"/>
          <p:cNvSpPr>
            <a:spLocks noChangeArrowheads="1"/>
          </p:cNvSpPr>
          <p:nvPr/>
        </p:nvSpPr>
        <p:spPr bwMode="auto">
          <a:xfrm>
            <a:off x="5951538" y="4076700"/>
            <a:ext cx="215900" cy="2159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0171" name="Line 59"/>
          <p:cNvSpPr>
            <a:spLocks noChangeShapeType="1"/>
          </p:cNvSpPr>
          <p:nvPr/>
        </p:nvSpPr>
        <p:spPr bwMode="auto">
          <a:xfrm flipV="1">
            <a:off x="6022975" y="38608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72" name="Line 60"/>
          <p:cNvSpPr>
            <a:spLocks noChangeShapeType="1"/>
          </p:cNvSpPr>
          <p:nvPr/>
        </p:nvSpPr>
        <p:spPr bwMode="auto">
          <a:xfrm flipV="1">
            <a:off x="5808663" y="1557339"/>
            <a:ext cx="19431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73" name="Line 61"/>
          <p:cNvSpPr>
            <a:spLocks noChangeShapeType="1"/>
          </p:cNvSpPr>
          <p:nvPr/>
        </p:nvSpPr>
        <p:spPr bwMode="auto">
          <a:xfrm flipV="1">
            <a:off x="6096001" y="1557339"/>
            <a:ext cx="1655763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0174" name="Rectangle 62"/>
          <p:cNvSpPr>
            <a:spLocks noChangeArrowheads="1"/>
          </p:cNvSpPr>
          <p:nvPr/>
        </p:nvSpPr>
        <p:spPr bwMode="auto">
          <a:xfrm>
            <a:off x="7896225" y="1196976"/>
            <a:ext cx="23764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ru-RU" altLang="ru-RU"/>
              <a:t>Возможный</a:t>
            </a:r>
          </a:p>
          <a:p>
            <a:pPr algn="l"/>
            <a:r>
              <a:rPr lang="ru-RU" altLang="ru-RU"/>
              <a:t>контроль</a:t>
            </a:r>
          </a:p>
          <a:p>
            <a:pPr algn="l"/>
            <a:r>
              <a:rPr lang="ru-RU" altLang="ru-RU"/>
              <a:t>трафика при его передаче между двумя выделенными цветом станциями</a:t>
            </a:r>
          </a:p>
        </p:txBody>
      </p:sp>
    </p:spTree>
    <p:extLst>
      <p:ext uri="{BB962C8B-B14F-4D97-AF65-F5344CB8AC3E}">
        <p14:creationId xmlns:p14="http://schemas.microsoft.com/office/powerpoint/2010/main" val="1050274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70" name="Rectangle 10"/>
          <p:cNvSpPr>
            <a:spLocks noChangeArrowheads="1"/>
          </p:cNvSpPr>
          <p:nvPr/>
        </p:nvSpPr>
        <p:spPr bwMode="auto">
          <a:xfrm>
            <a:off x="5303838" y="245984"/>
            <a:ext cx="41248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Контроль трафика</a:t>
            </a:r>
          </a:p>
        </p:txBody>
      </p:sp>
      <p:sp>
        <p:nvSpPr>
          <p:cNvPr id="732171" name="Rectangle 11"/>
          <p:cNvSpPr>
            <a:spLocks noChangeArrowheads="1"/>
          </p:cNvSpPr>
          <p:nvPr/>
        </p:nvSpPr>
        <p:spPr bwMode="auto">
          <a:xfrm>
            <a:off x="2424113" y="5157788"/>
            <a:ext cx="7543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1968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58863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ru-RU" sz="1800" dirty="0"/>
              <a:t>Router / Firewall / Proxy / Logger</a:t>
            </a:r>
            <a:r>
              <a:rPr lang="ru-RU" altLang="ru-RU" sz="1800" dirty="0"/>
              <a:t> </a:t>
            </a:r>
            <a:r>
              <a:rPr lang="en-US" altLang="ru-RU" sz="1800" dirty="0"/>
              <a:t>– </a:t>
            </a:r>
            <a:r>
              <a:rPr lang="ru-RU" altLang="ru-RU" sz="1800" dirty="0"/>
              <a:t>устройство, отвечающее за безопасность внутренних сетей предприятия (</a:t>
            </a:r>
            <a:r>
              <a:rPr lang="en-US" altLang="ru-RU" sz="1800" dirty="0"/>
              <a:t>Intranet</a:t>
            </a:r>
            <a:r>
              <a:rPr lang="ru-RU" altLang="ru-RU" sz="1800" dirty="0"/>
              <a:t>).</a:t>
            </a:r>
          </a:p>
        </p:txBody>
      </p:sp>
      <p:sp>
        <p:nvSpPr>
          <p:cNvPr id="732172" name="Rectangle 12"/>
          <p:cNvSpPr>
            <a:spLocks noChangeArrowheads="1"/>
          </p:cNvSpPr>
          <p:nvPr/>
        </p:nvSpPr>
        <p:spPr bwMode="auto">
          <a:xfrm>
            <a:off x="2495550" y="4365625"/>
            <a:ext cx="215900" cy="215900"/>
          </a:xfrm>
          <a:prstGeom prst="rect">
            <a:avLst/>
          </a:pr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73" name="Rectangle 13"/>
          <p:cNvSpPr>
            <a:spLocks noChangeArrowheads="1"/>
          </p:cNvSpPr>
          <p:nvPr/>
        </p:nvSpPr>
        <p:spPr bwMode="auto">
          <a:xfrm>
            <a:off x="2784475" y="436562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74" name="Rectangle 14"/>
          <p:cNvSpPr>
            <a:spLocks noChangeArrowheads="1"/>
          </p:cNvSpPr>
          <p:nvPr/>
        </p:nvSpPr>
        <p:spPr bwMode="auto">
          <a:xfrm>
            <a:off x="3071813" y="436562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75" name="Rectangle 15"/>
          <p:cNvSpPr>
            <a:spLocks noChangeArrowheads="1"/>
          </p:cNvSpPr>
          <p:nvPr/>
        </p:nvSpPr>
        <p:spPr bwMode="auto">
          <a:xfrm>
            <a:off x="2495551" y="3860800"/>
            <a:ext cx="792163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176" name="Line 16"/>
          <p:cNvSpPr>
            <a:spLocks noChangeShapeType="1"/>
          </p:cNvSpPr>
          <p:nvPr/>
        </p:nvSpPr>
        <p:spPr bwMode="auto">
          <a:xfrm flipV="1">
            <a:off x="2568575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77" name="Line 17"/>
          <p:cNvSpPr>
            <a:spLocks noChangeShapeType="1"/>
          </p:cNvSpPr>
          <p:nvPr/>
        </p:nvSpPr>
        <p:spPr bwMode="auto">
          <a:xfrm flipV="1">
            <a:off x="2855913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78" name="Line 18"/>
          <p:cNvSpPr>
            <a:spLocks noChangeShapeType="1"/>
          </p:cNvSpPr>
          <p:nvPr/>
        </p:nvSpPr>
        <p:spPr bwMode="auto">
          <a:xfrm flipV="1">
            <a:off x="3144838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79" name="Rectangle 19"/>
          <p:cNvSpPr>
            <a:spLocks noChangeArrowheads="1"/>
          </p:cNvSpPr>
          <p:nvPr/>
        </p:nvSpPr>
        <p:spPr bwMode="auto">
          <a:xfrm>
            <a:off x="2516189" y="3813175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2180" name="Rectangle 20"/>
          <p:cNvSpPr>
            <a:spLocks noChangeArrowheads="1"/>
          </p:cNvSpPr>
          <p:nvPr/>
        </p:nvSpPr>
        <p:spPr bwMode="auto">
          <a:xfrm>
            <a:off x="3432175" y="436562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81" name="Rectangle 21"/>
          <p:cNvSpPr>
            <a:spLocks noChangeArrowheads="1"/>
          </p:cNvSpPr>
          <p:nvPr/>
        </p:nvSpPr>
        <p:spPr bwMode="auto">
          <a:xfrm>
            <a:off x="3721100" y="436562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82" name="Rectangle 22"/>
          <p:cNvSpPr>
            <a:spLocks noChangeArrowheads="1"/>
          </p:cNvSpPr>
          <p:nvPr/>
        </p:nvSpPr>
        <p:spPr bwMode="auto">
          <a:xfrm>
            <a:off x="4008438" y="436562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83" name="Rectangle 23"/>
          <p:cNvSpPr>
            <a:spLocks noChangeArrowheads="1"/>
          </p:cNvSpPr>
          <p:nvPr/>
        </p:nvSpPr>
        <p:spPr bwMode="auto">
          <a:xfrm>
            <a:off x="3432176" y="3860800"/>
            <a:ext cx="792163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184" name="Line 24"/>
          <p:cNvSpPr>
            <a:spLocks noChangeShapeType="1"/>
          </p:cNvSpPr>
          <p:nvPr/>
        </p:nvSpPr>
        <p:spPr bwMode="auto">
          <a:xfrm flipV="1">
            <a:off x="3505200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85" name="Line 25"/>
          <p:cNvSpPr>
            <a:spLocks noChangeShapeType="1"/>
          </p:cNvSpPr>
          <p:nvPr/>
        </p:nvSpPr>
        <p:spPr bwMode="auto">
          <a:xfrm flipV="1">
            <a:off x="3792538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86" name="Line 26"/>
          <p:cNvSpPr>
            <a:spLocks noChangeShapeType="1"/>
          </p:cNvSpPr>
          <p:nvPr/>
        </p:nvSpPr>
        <p:spPr bwMode="auto">
          <a:xfrm flipV="1">
            <a:off x="4081463" y="41497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87" name="Rectangle 27"/>
          <p:cNvSpPr>
            <a:spLocks noChangeArrowheads="1"/>
          </p:cNvSpPr>
          <p:nvPr/>
        </p:nvSpPr>
        <p:spPr bwMode="auto">
          <a:xfrm>
            <a:off x="3452814" y="3813175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2188" name="Rectangle 28"/>
          <p:cNvSpPr>
            <a:spLocks noChangeArrowheads="1"/>
          </p:cNvSpPr>
          <p:nvPr/>
        </p:nvSpPr>
        <p:spPr bwMode="auto">
          <a:xfrm>
            <a:off x="3360738" y="3333750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89" name="Rectangle 29"/>
          <p:cNvSpPr>
            <a:spLocks noChangeArrowheads="1"/>
          </p:cNvSpPr>
          <p:nvPr/>
        </p:nvSpPr>
        <p:spPr bwMode="auto">
          <a:xfrm>
            <a:off x="3071813" y="2828925"/>
            <a:ext cx="792162" cy="287338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190" name="Line 30"/>
          <p:cNvSpPr>
            <a:spLocks noChangeShapeType="1"/>
          </p:cNvSpPr>
          <p:nvPr/>
        </p:nvSpPr>
        <p:spPr bwMode="auto">
          <a:xfrm flipV="1">
            <a:off x="3143250" y="3117850"/>
            <a:ext cx="1588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91" name="Line 31"/>
          <p:cNvSpPr>
            <a:spLocks noChangeShapeType="1"/>
          </p:cNvSpPr>
          <p:nvPr/>
        </p:nvSpPr>
        <p:spPr bwMode="auto">
          <a:xfrm flipV="1">
            <a:off x="3432175" y="311785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92" name="Line 32"/>
          <p:cNvSpPr>
            <a:spLocks noChangeShapeType="1"/>
          </p:cNvSpPr>
          <p:nvPr/>
        </p:nvSpPr>
        <p:spPr bwMode="auto">
          <a:xfrm flipV="1">
            <a:off x="3719514" y="3117850"/>
            <a:ext cx="1587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93" name="Rectangle 33"/>
          <p:cNvSpPr>
            <a:spLocks noChangeArrowheads="1"/>
          </p:cNvSpPr>
          <p:nvPr/>
        </p:nvSpPr>
        <p:spPr bwMode="auto">
          <a:xfrm>
            <a:off x="3092451" y="2781300"/>
            <a:ext cx="8258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Switch</a:t>
            </a:r>
            <a:endParaRPr lang="ru-RU" altLang="ru-RU" sz="1600"/>
          </a:p>
        </p:txBody>
      </p:sp>
      <p:sp>
        <p:nvSpPr>
          <p:cNvPr id="732194" name="Rectangle 34"/>
          <p:cNvSpPr>
            <a:spLocks noChangeArrowheads="1"/>
          </p:cNvSpPr>
          <p:nvPr/>
        </p:nvSpPr>
        <p:spPr bwMode="auto">
          <a:xfrm>
            <a:off x="4008438" y="2779713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95" name="Rectangle 35"/>
          <p:cNvSpPr>
            <a:spLocks noChangeArrowheads="1"/>
          </p:cNvSpPr>
          <p:nvPr/>
        </p:nvSpPr>
        <p:spPr bwMode="auto">
          <a:xfrm>
            <a:off x="4295775" y="2779713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196" name="Rectangle 36"/>
          <p:cNvSpPr>
            <a:spLocks noChangeArrowheads="1"/>
          </p:cNvSpPr>
          <p:nvPr/>
        </p:nvSpPr>
        <p:spPr bwMode="auto">
          <a:xfrm>
            <a:off x="3719514" y="2274889"/>
            <a:ext cx="1296987" cy="287337"/>
          </a:xfrm>
          <a:prstGeom prst="rect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197" name="Line 37"/>
          <p:cNvSpPr>
            <a:spLocks noChangeShapeType="1"/>
          </p:cNvSpPr>
          <p:nvPr/>
        </p:nvSpPr>
        <p:spPr bwMode="auto">
          <a:xfrm flipV="1">
            <a:off x="4079875" y="25638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98" name="Line 38"/>
          <p:cNvSpPr>
            <a:spLocks noChangeShapeType="1"/>
          </p:cNvSpPr>
          <p:nvPr/>
        </p:nvSpPr>
        <p:spPr bwMode="auto">
          <a:xfrm flipV="1">
            <a:off x="4368800" y="25638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199" name="Rectangle 39"/>
          <p:cNvSpPr>
            <a:spLocks noChangeArrowheads="1"/>
          </p:cNvSpPr>
          <p:nvPr/>
        </p:nvSpPr>
        <p:spPr bwMode="auto">
          <a:xfrm>
            <a:off x="3740151" y="2227263"/>
            <a:ext cx="83388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Router</a:t>
            </a:r>
            <a:endParaRPr lang="ru-RU" altLang="ru-RU" sz="1600"/>
          </a:p>
        </p:txBody>
      </p:sp>
      <p:sp>
        <p:nvSpPr>
          <p:cNvPr id="732200" name="Rectangle 40"/>
          <p:cNvSpPr>
            <a:spLocks noChangeArrowheads="1"/>
          </p:cNvSpPr>
          <p:nvPr/>
        </p:nvSpPr>
        <p:spPr bwMode="auto">
          <a:xfrm>
            <a:off x="4584700" y="2779713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01" name="Line 41"/>
          <p:cNvSpPr>
            <a:spLocks noChangeShapeType="1"/>
          </p:cNvSpPr>
          <p:nvPr/>
        </p:nvSpPr>
        <p:spPr bwMode="auto">
          <a:xfrm flipV="1">
            <a:off x="4657725" y="25638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02" name="Rectangle 42"/>
          <p:cNvSpPr>
            <a:spLocks noChangeArrowheads="1"/>
          </p:cNvSpPr>
          <p:nvPr/>
        </p:nvSpPr>
        <p:spPr bwMode="auto">
          <a:xfrm>
            <a:off x="4656138" y="357187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03" name="Rectangle 43"/>
          <p:cNvSpPr>
            <a:spLocks noChangeArrowheads="1"/>
          </p:cNvSpPr>
          <p:nvPr/>
        </p:nvSpPr>
        <p:spPr bwMode="auto">
          <a:xfrm>
            <a:off x="4945063" y="357187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04" name="Rectangle 44"/>
          <p:cNvSpPr>
            <a:spLocks noChangeArrowheads="1"/>
          </p:cNvSpPr>
          <p:nvPr/>
        </p:nvSpPr>
        <p:spPr bwMode="auto">
          <a:xfrm>
            <a:off x="4656138" y="3067050"/>
            <a:ext cx="792162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205" name="Line 45"/>
          <p:cNvSpPr>
            <a:spLocks noChangeShapeType="1"/>
          </p:cNvSpPr>
          <p:nvPr/>
        </p:nvSpPr>
        <p:spPr bwMode="auto">
          <a:xfrm flipV="1">
            <a:off x="4729163" y="33559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06" name="Line 46"/>
          <p:cNvSpPr>
            <a:spLocks noChangeShapeType="1"/>
          </p:cNvSpPr>
          <p:nvPr/>
        </p:nvSpPr>
        <p:spPr bwMode="auto">
          <a:xfrm flipV="1">
            <a:off x="5016500" y="33559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07" name="Line 47"/>
          <p:cNvSpPr>
            <a:spLocks noChangeShapeType="1"/>
          </p:cNvSpPr>
          <p:nvPr/>
        </p:nvSpPr>
        <p:spPr bwMode="auto">
          <a:xfrm flipV="1">
            <a:off x="5303839" y="3355976"/>
            <a:ext cx="158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08" name="Rectangle 48"/>
          <p:cNvSpPr>
            <a:spLocks noChangeArrowheads="1"/>
          </p:cNvSpPr>
          <p:nvPr/>
        </p:nvSpPr>
        <p:spPr bwMode="auto">
          <a:xfrm>
            <a:off x="4676776" y="3019425"/>
            <a:ext cx="588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Hub</a:t>
            </a:r>
            <a:endParaRPr lang="ru-RU" altLang="ru-RU" sz="1600"/>
          </a:p>
        </p:txBody>
      </p:sp>
      <p:sp>
        <p:nvSpPr>
          <p:cNvPr id="732209" name="Line 49"/>
          <p:cNvSpPr>
            <a:spLocks noChangeShapeType="1"/>
          </p:cNvSpPr>
          <p:nvPr/>
        </p:nvSpPr>
        <p:spPr bwMode="auto">
          <a:xfrm flipV="1">
            <a:off x="4943475" y="2563814"/>
            <a:ext cx="158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10" name="Rectangle 50"/>
          <p:cNvSpPr>
            <a:spLocks noChangeArrowheads="1"/>
          </p:cNvSpPr>
          <p:nvPr/>
        </p:nvSpPr>
        <p:spPr bwMode="auto">
          <a:xfrm>
            <a:off x="5232400" y="4437063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11" name="Rectangle 51"/>
          <p:cNvSpPr>
            <a:spLocks noChangeArrowheads="1"/>
          </p:cNvSpPr>
          <p:nvPr/>
        </p:nvSpPr>
        <p:spPr bwMode="auto">
          <a:xfrm>
            <a:off x="4943476" y="3932239"/>
            <a:ext cx="792163" cy="287337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212" name="Line 52"/>
          <p:cNvSpPr>
            <a:spLocks noChangeShapeType="1"/>
          </p:cNvSpPr>
          <p:nvPr/>
        </p:nvSpPr>
        <p:spPr bwMode="auto">
          <a:xfrm flipV="1">
            <a:off x="5303838" y="42211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13" name="Rectangle 53"/>
          <p:cNvSpPr>
            <a:spLocks noChangeArrowheads="1"/>
          </p:cNvSpPr>
          <p:nvPr/>
        </p:nvSpPr>
        <p:spPr bwMode="auto">
          <a:xfrm>
            <a:off x="4964114" y="3884613"/>
            <a:ext cx="8258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Switch</a:t>
            </a:r>
            <a:endParaRPr lang="ru-RU" altLang="ru-RU" sz="1600"/>
          </a:p>
        </p:txBody>
      </p:sp>
      <p:sp>
        <p:nvSpPr>
          <p:cNvPr id="732214" name="Rectangle 54"/>
          <p:cNvSpPr>
            <a:spLocks noChangeArrowheads="1"/>
          </p:cNvSpPr>
          <p:nvPr/>
        </p:nvSpPr>
        <p:spPr bwMode="auto">
          <a:xfrm>
            <a:off x="5519738" y="443547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15" name="Line 55"/>
          <p:cNvSpPr>
            <a:spLocks noChangeShapeType="1"/>
          </p:cNvSpPr>
          <p:nvPr/>
        </p:nvSpPr>
        <p:spPr bwMode="auto">
          <a:xfrm flipV="1">
            <a:off x="5591175" y="42195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16" name="Rectangle 56"/>
          <p:cNvSpPr>
            <a:spLocks noChangeArrowheads="1"/>
          </p:cNvSpPr>
          <p:nvPr/>
        </p:nvSpPr>
        <p:spPr bwMode="auto">
          <a:xfrm>
            <a:off x="4943475" y="4435475"/>
            <a:ext cx="21590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17" name="Line 57"/>
          <p:cNvSpPr>
            <a:spLocks noChangeShapeType="1"/>
          </p:cNvSpPr>
          <p:nvPr/>
        </p:nvSpPr>
        <p:spPr bwMode="auto">
          <a:xfrm flipV="1">
            <a:off x="5014913" y="42195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18" name="Line 58"/>
          <p:cNvSpPr>
            <a:spLocks noChangeShapeType="1"/>
          </p:cNvSpPr>
          <p:nvPr/>
        </p:nvSpPr>
        <p:spPr bwMode="auto">
          <a:xfrm flipV="1">
            <a:off x="3792538" y="25654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19" name="Rectangle 59"/>
          <p:cNvSpPr>
            <a:spLocks noChangeArrowheads="1"/>
          </p:cNvSpPr>
          <p:nvPr/>
        </p:nvSpPr>
        <p:spPr bwMode="auto">
          <a:xfrm>
            <a:off x="5664201" y="1557338"/>
            <a:ext cx="936625" cy="1079500"/>
          </a:xfrm>
          <a:prstGeom prst="rect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32220" name="Rectangle 60"/>
          <p:cNvSpPr>
            <a:spLocks noChangeArrowheads="1"/>
          </p:cNvSpPr>
          <p:nvPr/>
        </p:nvSpPr>
        <p:spPr bwMode="auto">
          <a:xfrm>
            <a:off x="5664201" y="1566863"/>
            <a:ext cx="10038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ru-RU" sz="1600"/>
              <a:t>Router/</a:t>
            </a:r>
          </a:p>
          <a:p>
            <a:pPr algn="l"/>
            <a:r>
              <a:rPr lang="en-US" altLang="ru-RU" sz="1600"/>
              <a:t>Firewall/</a:t>
            </a:r>
          </a:p>
          <a:p>
            <a:pPr algn="l"/>
            <a:r>
              <a:rPr lang="en-US" altLang="ru-RU" sz="1600"/>
              <a:t>Proxy/</a:t>
            </a:r>
          </a:p>
          <a:p>
            <a:pPr algn="l"/>
            <a:r>
              <a:rPr lang="en-US" altLang="ru-RU" sz="1600"/>
              <a:t>Logger</a:t>
            </a:r>
            <a:endParaRPr lang="ru-RU" altLang="ru-RU" sz="1600"/>
          </a:p>
        </p:txBody>
      </p:sp>
      <p:sp>
        <p:nvSpPr>
          <p:cNvPr id="732221" name="Freeform 61"/>
          <p:cNvSpPr>
            <a:spLocks/>
          </p:cNvSpPr>
          <p:nvPr/>
        </p:nvSpPr>
        <p:spPr bwMode="auto">
          <a:xfrm>
            <a:off x="4367214" y="1989139"/>
            <a:ext cx="1296987" cy="287337"/>
          </a:xfrm>
          <a:custGeom>
            <a:avLst/>
            <a:gdLst>
              <a:gd name="T0" fmla="*/ 0 w 817"/>
              <a:gd name="T1" fmla="*/ 181 h 181"/>
              <a:gd name="T2" fmla="*/ 0 w 817"/>
              <a:gd name="T3" fmla="*/ 0 h 181"/>
              <a:gd name="T4" fmla="*/ 817 w 817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7" h="181">
                <a:moveTo>
                  <a:pt x="0" y="181"/>
                </a:moveTo>
                <a:lnTo>
                  <a:pt x="0" y="0"/>
                </a:lnTo>
                <a:lnTo>
                  <a:pt x="817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22" name="AutoShape 62"/>
          <p:cNvSpPr>
            <a:spLocks noChangeArrowheads="1"/>
          </p:cNvSpPr>
          <p:nvPr/>
        </p:nvSpPr>
        <p:spPr bwMode="auto">
          <a:xfrm>
            <a:off x="7248525" y="1412876"/>
            <a:ext cx="2160588" cy="1223963"/>
          </a:xfrm>
          <a:prstGeom prst="irregularSeal2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ru-RU" sz="1600"/>
              <a:t>Internet</a:t>
            </a:r>
            <a:endParaRPr lang="ru-RU" altLang="ru-RU" sz="1600"/>
          </a:p>
        </p:txBody>
      </p:sp>
      <p:sp>
        <p:nvSpPr>
          <p:cNvPr id="732223" name="Line 63"/>
          <p:cNvSpPr>
            <a:spLocks noChangeShapeType="1"/>
          </p:cNvSpPr>
          <p:nvPr/>
        </p:nvSpPr>
        <p:spPr bwMode="auto">
          <a:xfrm>
            <a:off x="6600825" y="1989138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32224" name="Rectangle 64"/>
          <p:cNvSpPr>
            <a:spLocks noChangeArrowheads="1"/>
          </p:cNvSpPr>
          <p:nvPr/>
        </p:nvSpPr>
        <p:spPr bwMode="auto">
          <a:xfrm>
            <a:off x="6743700" y="3573463"/>
            <a:ext cx="215900" cy="215900"/>
          </a:xfrm>
          <a:prstGeom prst="rect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25" name="Rectangle 65"/>
          <p:cNvSpPr>
            <a:spLocks noChangeArrowheads="1"/>
          </p:cNvSpPr>
          <p:nvPr/>
        </p:nvSpPr>
        <p:spPr bwMode="auto">
          <a:xfrm>
            <a:off x="6743700" y="3933825"/>
            <a:ext cx="215900" cy="2159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26" name="Rectangle 66"/>
          <p:cNvSpPr>
            <a:spLocks noChangeArrowheads="1"/>
          </p:cNvSpPr>
          <p:nvPr/>
        </p:nvSpPr>
        <p:spPr bwMode="auto">
          <a:xfrm>
            <a:off x="6743700" y="4292600"/>
            <a:ext cx="215900" cy="2159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2227" name="Rectangle 67"/>
          <p:cNvSpPr>
            <a:spLocks noChangeArrowheads="1"/>
          </p:cNvSpPr>
          <p:nvPr/>
        </p:nvSpPr>
        <p:spPr bwMode="auto">
          <a:xfrm>
            <a:off x="7032626" y="3494088"/>
            <a:ext cx="30476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/>
              <a:t>Сетевой уровень </a:t>
            </a:r>
            <a:r>
              <a:rPr lang="en-US" altLang="ru-RU"/>
              <a:t>OSI/RM</a:t>
            </a:r>
            <a:endParaRPr lang="ru-RU" altLang="ru-RU"/>
          </a:p>
        </p:txBody>
      </p:sp>
      <p:sp>
        <p:nvSpPr>
          <p:cNvPr id="732228" name="Rectangle 68"/>
          <p:cNvSpPr>
            <a:spLocks noChangeArrowheads="1"/>
          </p:cNvSpPr>
          <p:nvPr/>
        </p:nvSpPr>
        <p:spPr bwMode="auto">
          <a:xfrm>
            <a:off x="7032626" y="3860800"/>
            <a:ext cx="33313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/>
              <a:t>Канальный уровень </a:t>
            </a:r>
            <a:r>
              <a:rPr lang="en-US" altLang="ru-RU"/>
              <a:t>OSI/RM</a:t>
            </a:r>
            <a:endParaRPr lang="ru-RU" altLang="ru-RU"/>
          </a:p>
        </p:txBody>
      </p:sp>
      <p:sp>
        <p:nvSpPr>
          <p:cNvPr id="732229" name="Rectangle 69"/>
          <p:cNvSpPr>
            <a:spLocks noChangeArrowheads="1"/>
          </p:cNvSpPr>
          <p:nvPr/>
        </p:nvSpPr>
        <p:spPr bwMode="auto">
          <a:xfrm>
            <a:off x="7032626" y="4221163"/>
            <a:ext cx="34596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/>
              <a:t>Физический уровень </a:t>
            </a:r>
            <a:r>
              <a:rPr lang="en-US" altLang="ru-RU"/>
              <a:t>OSI/RM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0336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89" name="Rectangle 13"/>
          <p:cNvSpPr>
            <a:spLocks noChangeArrowheads="1"/>
          </p:cNvSpPr>
          <p:nvPr/>
        </p:nvSpPr>
        <p:spPr bwMode="auto">
          <a:xfrm>
            <a:off x="5265821" y="292769"/>
            <a:ext cx="59121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Популярно о протоколах 1</a:t>
            </a:r>
          </a:p>
        </p:txBody>
      </p:sp>
      <p:sp>
        <p:nvSpPr>
          <p:cNvPr id="715790" name="Rectangle 14"/>
          <p:cNvSpPr>
            <a:spLocks noChangeArrowheads="1"/>
          </p:cNvSpPr>
          <p:nvPr/>
        </p:nvSpPr>
        <p:spPr bwMode="auto">
          <a:xfrm>
            <a:off x="307139" y="877544"/>
            <a:ext cx="11483808" cy="5911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Сжатие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У тебя отрезают левую руку на входе, а на выходе - пришивают клонированную правую (и зеркально повернутую, разумеется). То же с ногами и вообще со всем, что имеет регулярную структуру.</a:t>
            </a:r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Коррекция ошибок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К спине пришивают твою же фотографию. Если на выходе ты не похож - корректируют лицо.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Время жизни пакета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Все перемещения по коридору - пока горит спичка. Не успел - умри героем.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DNS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Чтобы узнать, где колодец в деревне </a:t>
            </a:r>
            <a:r>
              <a:rPr lang="ru-RU" altLang="ru-RU" sz="2800" dirty="0" err="1"/>
              <a:t>Гадюкино</a:t>
            </a:r>
            <a:r>
              <a:rPr lang="ru-RU" altLang="ru-RU" sz="2800" dirty="0"/>
              <a:t>, ты сначала идешь к президенту, потом к губернатору и т. д.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Динамический IP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Каждое утро все меняются паспортами.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Текст-ориентированный протокол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Вместо тебя отправляют твой словесный портрет.</a:t>
            </a:r>
            <a:endParaRPr lang="ru-RU" alt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22366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37" name="Rectangle 13"/>
          <p:cNvSpPr>
            <a:spLocks noChangeArrowheads="1"/>
          </p:cNvSpPr>
          <p:nvPr/>
        </p:nvSpPr>
        <p:spPr bwMode="auto">
          <a:xfrm>
            <a:off x="5394158" y="533401"/>
            <a:ext cx="59121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Популярно о протоколах 2</a:t>
            </a:r>
          </a:p>
        </p:txBody>
      </p:sp>
      <p:sp>
        <p:nvSpPr>
          <p:cNvPr id="717838" name="Rectangle 14"/>
          <p:cNvSpPr>
            <a:spLocks noChangeArrowheads="1"/>
          </p:cNvSpPr>
          <p:nvPr/>
        </p:nvSpPr>
        <p:spPr bwMode="auto">
          <a:xfrm>
            <a:off x="497305" y="1343528"/>
            <a:ext cx="11694695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MIME-код</a:t>
            </a:r>
            <a:r>
              <a:rPr lang="ru-RU" altLang="ru-RU" sz="2800" dirty="0">
                <a:solidFill>
                  <a:schemeClr val="accent3"/>
                </a:solidFill>
              </a:rPr>
              <a:t>:</a:t>
            </a:r>
            <a:r>
              <a:rPr lang="ru-RU" altLang="ru-RU" sz="2800" dirty="0"/>
              <a:t> Справка, что ты не верблюд.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Уровни протоколов</a:t>
            </a:r>
            <a:r>
              <a:rPr lang="ru-RU" altLang="ru-RU" sz="2800" dirty="0">
                <a:solidFill>
                  <a:schemeClr val="accent3"/>
                </a:solidFill>
              </a:rPr>
              <a:t>:</a:t>
            </a:r>
            <a:r>
              <a:rPr lang="ru-RU" altLang="ru-RU" sz="2800" dirty="0"/>
              <a:t> Чистое поле. Нужно перейти от одного края к другому. Строится огромная арка, внутри арки мостовая, посреди мостовой кладут ж/д полотно, к рельсам приваривают сваи и на них ставят огромную гранитную глыбу с туннелем внутри, в туннеле прокладывают трубу диаметром полметра, по которой ты и ползешь пока горит спичка к президенту (сжатый и с коррекцией ошибок).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 err="1">
                <a:solidFill>
                  <a:schemeClr val="accent3"/>
                </a:solidFill>
              </a:rPr>
              <a:t>Пинги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Иди посмотри, Иван Петрович не ушел еще?.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 err="1">
                <a:solidFill>
                  <a:schemeClr val="accent3"/>
                </a:solidFill>
              </a:rPr>
              <a:t>Маскарадинг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Один паспорт на всю семью.</a:t>
            </a:r>
            <a:endParaRPr lang="ru-RU" altLang="ru-RU" sz="2800" i="1" dirty="0"/>
          </a:p>
          <a:p>
            <a:pPr>
              <a:spcAft>
                <a:spcPct val="30000"/>
              </a:spcAft>
            </a:pPr>
            <a:r>
              <a:rPr lang="ru-RU" altLang="ru-RU" sz="2800" i="1" dirty="0">
                <a:solidFill>
                  <a:schemeClr val="accent3"/>
                </a:solidFill>
              </a:rPr>
              <a:t>IPv6</a:t>
            </a:r>
            <a:r>
              <a:rPr lang="ru-RU" altLang="ru-RU" sz="2800" dirty="0">
                <a:solidFill>
                  <a:schemeClr val="accent3"/>
                </a:solidFill>
              </a:rPr>
              <a:t>: </a:t>
            </a:r>
            <a:r>
              <a:rPr lang="ru-RU" altLang="ru-RU" sz="2800" dirty="0"/>
              <a:t>Китайский паспорт.</a:t>
            </a:r>
            <a:r>
              <a:rPr lang="ru-RU" altLang="ru-RU" sz="28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5406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49" name="Rectangle 13"/>
          <p:cNvSpPr>
            <a:spLocks noChangeArrowheads="1"/>
          </p:cNvSpPr>
          <p:nvPr/>
        </p:nvSpPr>
        <p:spPr bwMode="auto">
          <a:xfrm>
            <a:off x="5153527" y="228601"/>
            <a:ext cx="48365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Использование маски</a:t>
            </a:r>
          </a:p>
        </p:txBody>
      </p:sp>
      <p:sp>
        <p:nvSpPr>
          <p:cNvPr id="679950" name="Rectangle 14"/>
          <p:cNvSpPr>
            <a:spLocks noChangeArrowheads="1"/>
          </p:cNvSpPr>
          <p:nvPr/>
        </p:nvSpPr>
        <p:spPr bwMode="auto">
          <a:xfrm>
            <a:off x="657727" y="813376"/>
            <a:ext cx="110690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>
                <a:solidFill>
                  <a:schemeClr val="accent3"/>
                </a:solidFill>
              </a:rPr>
              <a:t>Как определить номер узла в сети, номер сети, а также адрес ограниченного в пределах данной сети широковещания?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Для этого необходимо наложить побитно маску сети на заданный </a:t>
            </a:r>
            <a:r>
              <a:rPr lang="en-US" altLang="ru-RU" sz="2000" dirty="0"/>
              <a:t>IP</a:t>
            </a:r>
            <a:r>
              <a:rPr lang="ru-RU" altLang="ru-RU" sz="2000" dirty="0"/>
              <a:t> адрес и проделать некоторые арифметические действия.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endParaRPr lang="ru-RU" altLang="ru-RU" sz="2000" dirty="0"/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Пример 1.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u="sng" dirty="0"/>
              <a:t>Дано: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 </a:t>
            </a:r>
            <a:r>
              <a:rPr lang="en-US" altLang="ru-RU" sz="2000" dirty="0"/>
              <a:t>192.168.31.240</a:t>
            </a:r>
            <a:r>
              <a:rPr lang="ru-RU" altLang="ru-RU" sz="2000" dirty="0"/>
              <a:t>, сеть класса С (маска в 24 бита).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u="sng" dirty="0"/>
              <a:t>Найти: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сети, номер узла в сети, а также адрес ограниченного в пределах данной сети широковещания.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endParaRPr lang="ru-RU" altLang="ru-RU" sz="2000" dirty="0"/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		11000000 10101000 00011111 11110000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маска		11111111 11111111 11111111 00000000  (255.255.255.0)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---------------------------------------------------------------------------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сети	11000000 10101000 00011111 00000000  (192.168.31.0)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хоста	00000000 00000000 00000000 11110000  (0.0.0.240)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адрес </a:t>
            </a:r>
            <a:r>
              <a:rPr lang="ru-RU" altLang="ru-RU" sz="2000" dirty="0" err="1"/>
              <a:t>широковещ</a:t>
            </a:r>
            <a:r>
              <a:rPr lang="ru-RU" altLang="ru-RU" sz="2000" dirty="0"/>
              <a:t>.	11000000 10101000 00011111 11111111  (192.168.31.255)</a:t>
            </a:r>
          </a:p>
        </p:txBody>
      </p:sp>
    </p:spTree>
    <p:extLst>
      <p:ext uri="{BB962C8B-B14F-4D97-AF65-F5344CB8AC3E}">
        <p14:creationId xmlns:p14="http://schemas.microsoft.com/office/powerpoint/2010/main" val="1143820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97" name="Rectangle 13"/>
          <p:cNvSpPr>
            <a:spLocks noChangeArrowheads="1"/>
          </p:cNvSpPr>
          <p:nvPr/>
        </p:nvSpPr>
        <p:spPr bwMode="auto">
          <a:xfrm>
            <a:off x="5526620" y="193099"/>
            <a:ext cx="48365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400A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ru-RU" altLang="ru-RU" sz="32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Использование маски</a:t>
            </a:r>
          </a:p>
        </p:txBody>
      </p:sp>
      <p:sp>
        <p:nvSpPr>
          <p:cNvPr id="681998" name="Rectangle 14"/>
          <p:cNvSpPr>
            <a:spLocks noChangeArrowheads="1"/>
          </p:cNvSpPr>
          <p:nvPr/>
        </p:nvSpPr>
        <p:spPr bwMode="auto">
          <a:xfrm>
            <a:off x="998678" y="485486"/>
            <a:ext cx="13282863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7FFA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1905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Пример 2.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 </a:t>
            </a:r>
            <a:r>
              <a:rPr lang="en-US" altLang="ru-RU" sz="2000" dirty="0"/>
              <a:t>12.</a:t>
            </a:r>
            <a:r>
              <a:rPr lang="ru-RU" altLang="ru-RU" sz="2000" dirty="0"/>
              <a:t>200</a:t>
            </a:r>
            <a:r>
              <a:rPr lang="en-US" altLang="ru-RU" sz="2000" dirty="0"/>
              <a:t>.</a:t>
            </a:r>
            <a:r>
              <a:rPr lang="ru-RU" altLang="ru-RU" sz="2000" dirty="0"/>
              <a:t>17</a:t>
            </a:r>
            <a:r>
              <a:rPr lang="en-US" altLang="ru-RU" sz="2000" dirty="0"/>
              <a:t>.</a:t>
            </a:r>
            <a:r>
              <a:rPr lang="ru-RU" altLang="ru-RU" sz="2000" dirty="0"/>
              <a:t>2</a:t>
            </a:r>
            <a:r>
              <a:rPr lang="en-US" altLang="ru-RU" sz="2000" dirty="0"/>
              <a:t>4</a:t>
            </a:r>
            <a:r>
              <a:rPr lang="ru-RU" altLang="ru-RU" sz="2000" dirty="0"/>
              <a:t>2, сеть с маской в </a:t>
            </a:r>
            <a:r>
              <a:rPr lang="ru-RU" altLang="ru-RU" sz="2000" dirty="0">
                <a:solidFill>
                  <a:schemeClr val="accent2"/>
                </a:solidFill>
              </a:rPr>
              <a:t>23</a:t>
            </a:r>
            <a:r>
              <a:rPr lang="ru-RU" altLang="ru-RU" sz="2000" dirty="0"/>
              <a:t> бита.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		00001100 11001000 00010001 11110010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маска		11111111 11111111 11111110 00000000 (255.255.254.0)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---------------------------------------------------------------------------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сети	00001100 11001000 00010000 00000000  (12.200.16.0)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хоста	00000000 00000000 00000001 11110010  (0.0.1.242)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адрес </a:t>
            </a:r>
            <a:r>
              <a:rPr lang="ru-RU" altLang="ru-RU" sz="2000" dirty="0" err="1"/>
              <a:t>широковещ</a:t>
            </a:r>
            <a:r>
              <a:rPr lang="ru-RU" altLang="ru-RU" sz="2000" dirty="0"/>
              <a:t>.	00001100 11001000 00010001 11111111  (12.200.17.255) 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endParaRPr lang="ru-RU" altLang="ru-RU" sz="2000" dirty="0"/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Пример 3.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 </a:t>
            </a:r>
            <a:r>
              <a:rPr lang="en-US" altLang="ru-RU" sz="2000" dirty="0"/>
              <a:t>12.</a:t>
            </a:r>
            <a:r>
              <a:rPr lang="ru-RU" altLang="ru-RU" sz="2000" dirty="0"/>
              <a:t>200</a:t>
            </a:r>
            <a:r>
              <a:rPr lang="en-US" altLang="ru-RU" sz="2000" dirty="0"/>
              <a:t>.17.242</a:t>
            </a:r>
            <a:r>
              <a:rPr lang="ru-RU" altLang="ru-RU" sz="2000" dirty="0"/>
              <a:t>, сеть с маской в </a:t>
            </a:r>
            <a:r>
              <a:rPr lang="ru-RU" altLang="ru-RU" sz="2000" dirty="0">
                <a:solidFill>
                  <a:schemeClr val="accent2"/>
                </a:solidFill>
              </a:rPr>
              <a:t>2</a:t>
            </a:r>
            <a:r>
              <a:rPr lang="en-US" altLang="ru-RU" sz="2000" dirty="0">
                <a:solidFill>
                  <a:schemeClr val="accent2"/>
                </a:solidFill>
              </a:rPr>
              <a:t>9</a:t>
            </a:r>
            <a:r>
              <a:rPr lang="ru-RU" altLang="ru-RU" sz="2000" dirty="0"/>
              <a:t> бит.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en-US" altLang="ru-RU" sz="2000" dirty="0"/>
              <a:t>IP </a:t>
            </a:r>
            <a:r>
              <a:rPr lang="ru-RU" altLang="ru-RU" sz="2000" dirty="0"/>
              <a:t>адрес		00001100 11001000 00010001 111</a:t>
            </a:r>
            <a:r>
              <a:rPr lang="en-US" altLang="ru-RU" sz="2000" dirty="0"/>
              <a:t>1</a:t>
            </a:r>
            <a:r>
              <a:rPr lang="ru-RU" altLang="ru-RU" sz="2000" dirty="0"/>
              <a:t>0010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маска		11111111 11111111 11111111 1</a:t>
            </a:r>
            <a:r>
              <a:rPr lang="en-US" altLang="ru-RU" sz="2000" dirty="0"/>
              <a:t>1111</a:t>
            </a:r>
            <a:r>
              <a:rPr lang="ru-RU" altLang="ru-RU" sz="2000" dirty="0"/>
              <a:t>000  (255.255.255.</a:t>
            </a:r>
            <a:r>
              <a:rPr lang="en-US" altLang="ru-RU" sz="2000" dirty="0"/>
              <a:t>248</a:t>
            </a:r>
            <a:r>
              <a:rPr lang="ru-RU" altLang="ru-RU" sz="2000" dirty="0"/>
              <a:t>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---------------------------------------------------------------------------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сети	00001100 11001000 00010001 1</a:t>
            </a:r>
            <a:r>
              <a:rPr lang="en-US" altLang="ru-RU" sz="2000" dirty="0"/>
              <a:t>111</a:t>
            </a:r>
            <a:r>
              <a:rPr lang="ru-RU" altLang="ru-RU" sz="2000" dirty="0"/>
              <a:t>0000  (12.200.17.</a:t>
            </a:r>
            <a:r>
              <a:rPr lang="en-US" altLang="ru-RU" sz="2000" dirty="0"/>
              <a:t>240</a:t>
            </a:r>
            <a:r>
              <a:rPr lang="ru-RU" altLang="ru-RU" sz="2000" dirty="0"/>
              <a:t>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номер хоста	00000000 00000000 00000000 0</a:t>
            </a:r>
            <a:r>
              <a:rPr lang="en-US" altLang="ru-RU" sz="2000" dirty="0"/>
              <a:t>000</a:t>
            </a:r>
            <a:r>
              <a:rPr lang="ru-RU" altLang="ru-RU" sz="2000" dirty="0"/>
              <a:t>0010  (0.0.0.</a:t>
            </a:r>
            <a:r>
              <a:rPr lang="en-US" altLang="ru-RU" sz="2000" dirty="0"/>
              <a:t>2</a:t>
            </a:r>
            <a:r>
              <a:rPr lang="ru-RU" altLang="ru-RU" sz="2000" dirty="0"/>
              <a:t>)</a:t>
            </a:r>
          </a:p>
          <a:p>
            <a:pPr>
              <a:buClr>
                <a:srgbClr val="FF0066"/>
              </a:buClr>
              <a:buFont typeface="Wingdings" panose="05000000000000000000" pitchFamily="2" charset="2"/>
              <a:buNone/>
            </a:pPr>
            <a:r>
              <a:rPr lang="ru-RU" altLang="ru-RU" sz="2000" dirty="0"/>
              <a:t>адрес </a:t>
            </a:r>
            <a:r>
              <a:rPr lang="ru-RU" altLang="ru-RU" sz="2000" dirty="0" err="1"/>
              <a:t>широковещ</a:t>
            </a:r>
            <a:r>
              <a:rPr lang="ru-RU" altLang="ru-RU" sz="2000" dirty="0"/>
              <a:t>.	00001100 11001000 00010001 1111</a:t>
            </a:r>
            <a:r>
              <a:rPr lang="en-US" altLang="ru-RU" sz="2000" dirty="0"/>
              <a:t>0</a:t>
            </a:r>
            <a:r>
              <a:rPr lang="ru-RU" altLang="ru-RU" sz="2000" dirty="0"/>
              <a:t>111  (12.200.17.2</a:t>
            </a:r>
            <a:r>
              <a:rPr lang="en-US" altLang="ru-RU" sz="2000" dirty="0"/>
              <a:t>47</a:t>
            </a:r>
            <a:r>
              <a:rPr lang="ru-RU" altLang="ru-RU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265626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59</TotalTime>
  <Words>1619</Words>
  <Application>Microsoft Office PowerPoint</Application>
  <PresentationFormat>Широкоэкранный</PresentationFormat>
  <Paragraphs>295</Paragraphs>
  <Slides>38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 Unicode MS</vt:lpstr>
      <vt:lpstr>Arial</vt:lpstr>
      <vt:lpstr>Calibri</vt:lpstr>
      <vt:lpstr>Century Gothic</vt:lpstr>
      <vt:lpstr>Times New Roman</vt:lpstr>
      <vt:lpstr>Verdana</vt:lpstr>
      <vt:lpstr>Wingdings</vt:lpstr>
      <vt:lpstr>След самолета</vt:lpstr>
      <vt:lpstr>Локально вычислительные сети (ЛВС)</vt:lpstr>
      <vt:lpstr>Презентация PowerPoint</vt:lpstr>
      <vt:lpstr>Компьютерные сети классифицируются по:</vt:lpstr>
      <vt:lpstr>Классификация сетей по скорости передачи информации</vt:lpstr>
      <vt:lpstr>Классификация сетей по типу среды передачи</vt:lpstr>
      <vt:lpstr>Локальные  LAN </vt:lpstr>
      <vt:lpstr>Презентация PowerPoint</vt:lpstr>
      <vt:lpstr>Презентация PowerPoint</vt:lpstr>
      <vt:lpstr>Виртуальная частная сеть</vt:lpstr>
      <vt:lpstr>Презентация PowerPoint</vt:lpstr>
      <vt:lpstr>Пример объединения сетей</vt:lpstr>
      <vt:lpstr>Топология сети – это логическая схема соединения компьютеров каналами связи.</vt:lpstr>
      <vt:lpstr>Понятие ЛВС </vt:lpstr>
      <vt:lpstr>Презентация PowerPoint</vt:lpstr>
      <vt:lpstr>Презентация PowerPoint</vt:lpstr>
      <vt:lpstr>Аппаратура  локальной сети</vt:lpstr>
      <vt:lpstr>Витая пара  </vt:lpstr>
      <vt:lpstr>Коаксиальный кабель  </vt:lpstr>
      <vt:lpstr>Широкополосный коаксиальный кабель  </vt:lpstr>
      <vt:lpstr>Еthernet-кабель </vt:lpstr>
      <vt:lpstr>Сheapernеt-кабель </vt:lpstr>
      <vt:lpstr>Оптоволоконный кабель </vt:lpstr>
      <vt:lpstr>Сетевая плата </vt:lpstr>
      <vt:lpstr>Repeater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Локально вычислительные сети (ЛВС)</dc:title>
  <dc:creator>Diablo</dc:creator>
  <cp:lastModifiedBy>Diablo</cp:lastModifiedBy>
  <cp:revision>8</cp:revision>
  <dcterms:created xsi:type="dcterms:W3CDTF">2017-09-10T09:59:43Z</dcterms:created>
  <dcterms:modified xsi:type="dcterms:W3CDTF">2017-09-10T10:59:41Z</dcterms:modified>
</cp:coreProperties>
</file>