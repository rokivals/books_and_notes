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sldIdLst>
    <p:sldId id="259" r:id="rId3"/>
    <p:sldId id="261" r:id="rId4"/>
    <p:sldId id="256" r:id="rId5"/>
    <p:sldId id="260" r:id="rId6"/>
    <p:sldId id="262" r:id="rId7"/>
    <p:sldId id="264" r:id="rId8"/>
    <p:sldId id="28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58" r:id="rId24"/>
    <p:sldId id="280" r:id="rId25"/>
    <p:sldId id="279" r:id="rId26"/>
    <p:sldId id="281" r:id="rId27"/>
    <p:sldId id="257" r:id="rId28"/>
    <p:sldId id="278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0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997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51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63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5193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498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94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73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14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139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113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757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178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732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562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990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6414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803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658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768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22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9439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5628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7187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6815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6023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7232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9229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96311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287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4125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2900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0381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22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903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67B3A-96B0-46E3-86A1-28F68220B5DC}" type="datetimeFigureOut">
              <a:rPr lang="ru-RU" smtClean="0"/>
              <a:t>17.12.2019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E0C8F-E98E-464F-8339-31F66CD466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44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0%D0%BD%D0%B3%D0%BB%D0%B8%D0%B9%D1%81%D0%BA%D0%B8%D0%B9_%D1%8F%D0%B7%D1%8B%D0%BA" TargetMode="External"/><Relationship Id="rId2" Type="http://schemas.openxmlformats.org/officeDocument/2006/relationships/hyperlink" Target="https://ru.wikipedia.org/wiki/%D0%91%D1%83%D1%84%D0%B5%D1%80_(%D0%B8%D0%BD%D1%84%D0%BE%D1%80%D0%BC%D0%B0%D1%82%D0%B8%D0%BA%D0%B0)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.wikipedia.org/wiki/%D0%A0%D0%B0%D0%B7%D0%B4%D0%B5%D0%BB%D1%8F%D0%B5%D0%BC%D0%B0%D1%8F_%D0%BF%D0%B0%D0%BC%D1%8F%D1%82%D1%8C" TargetMode="External"/><Relationship Id="rId4" Type="http://schemas.openxmlformats.org/officeDocument/2006/relationships/hyperlink" Target="https://ru.wikipedia.org/wiki/%D0%9A%D0%B5%D1%88-%D0%BF%D0%B0%D0%BC%D1%8F%D1%82%D1%8C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hyperlink" Target="https://ru.wikipedia.org/wiki/%D0%9F%D0%BE%D1%81%D0%BB%D0%B5%D0%B4%D0%BE%D0%B2%D0%B0%D1%82%D0%B5%D0%BB%D1%8C%D0%BD%D0%B0%D1%8F_%D0%BF%D0%B5%D1%80%D0%B5%D0%B4%D0%B0%D1%87%D0%B0_%D0%B4%D0%B0%D0%BD%D0%BD%D1%8B%D1%85" TargetMode="External"/><Relationship Id="rId7" Type="http://schemas.openxmlformats.org/officeDocument/2006/relationships/hyperlink" Target="https://ru.wikipedia.org/wiki/%D0%A8%D0%B8%D0%BD%D0%B0_(%D0%BA%D0%BE%D0%BC%D0%BF%D1%8C%D1%8E%D1%82%D0%B5%D1%80)" TargetMode="External"/><Relationship Id="rId2" Type="http://schemas.openxmlformats.org/officeDocument/2006/relationships/hyperlink" Target="https://ru.wikipedia.org/wiki/%D0%90%D0%BD%D0%B3%D0%BB%D0%B8%D0%B9%D1%81%D0%BA%D0%B8%D0%B9_%D1%8F%D0%B7%D1%8B%D0%B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wikipedia.org/wiki/%D0%9F%D0%B0%D1%80%D0%B0%D0%BB%D0%BB%D0%B5%D0%BB%D1%8C%D0%BD%D1%8B%D0%B9_%D0%BF%D0%BE%D1%80%D1%82" TargetMode="External"/><Relationship Id="rId5" Type="http://schemas.openxmlformats.org/officeDocument/2006/relationships/hyperlink" Target="https://ru.wikipedia.org/wiki/ATA" TargetMode="External"/><Relationship Id="rId4" Type="http://schemas.openxmlformats.org/officeDocument/2006/relationships/hyperlink" Target="https://ru.wikipedia.org/wiki/%D0%98%D0%BD%D1%82%D0%B5%D1%80%D1%84%D0%B5%D0%B9%D1%81" TargetMode="External"/><Relationship Id="rId9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99072" y="1950055"/>
            <a:ext cx="9448800" cy="182509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Информатика и ИКТ</a:t>
            </a:r>
            <a:br>
              <a:rPr lang="ru-RU" dirty="0" smtClean="0"/>
            </a:br>
            <a:r>
              <a:rPr lang="ru-RU" dirty="0" smtClean="0"/>
              <a:t>Архитектура компьютерных систем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99072" y="4348193"/>
            <a:ext cx="9448800" cy="685800"/>
          </a:xfrm>
        </p:spPr>
        <p:txBody>
          <a:bodyPr/>
          <a:lstStyle/>
          <a:p>
            <a:pPr algn="r"/>
            <a:r>
              <a:rPr lang="ru-RU" dirty="0" smtClean="0"/>
              <a:t>Преподаватель: Алиев Самир Алиевич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887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3137" y="1072452"/>
            <a:ext cx="11313695" cy="578554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spcBef>
                <a:spcPct val="50000"/>
              </a:spcBef>
              <a:buNone/>
            </a:pPr>
            <a:r>
              <a:rPr lang="ru-RU" altLang="ru-RU" sz="3200" b="1" i="1" dirty="0">
                <a:cs typeface="Times New Roman" panose="02020603050405020304" pitchFamily="18" charset="0"/>
              </a:rPr>
              <a:t>В основу построения большинства ЭВМ положены принципы, сформулированные в 1945 г. </a:t>
            </a:r>
            <a:r>
              <a:rPr lang="ru-RU" altLang="ru-RU" sz="3200" b="1" u="sng" dirty="0">
                <a:cs typeface="Times New Roman" panose="02020603050405020304" pitchFamily="18" charset="0"/>
              </a:rPr>
              <a:t>Джоном фон Нейманом: </a:t>
            </a:r>
          </a:p>
          <a:p>
            <a:pPr>
              <a:spcBef>
                <a:spcPct val="50000"/>
              </a:spcBef>
            </a:pPr>
            <a:r>
              <a:rPr lang="ru-RU" altLang="ru-RU" sz="3200" b="1" dirty="0">
                <a:cs typeface="Times New Roman" panose="02020603050405020304" pitchFamily="18" charset="0"/>
              </a:rPr>
              <a:t>1. Принцип программного управления</a:t>
            </a:r>
            <a:r>
              <a:rPr lang="ru-RU" altLang="ru-RU" sz="3200" dirty="0">
                <a:cs typeface="Times New Roman" panose="02020603050405020304" pitchFamily="18" charset="0"/>
              </a:rPr>
              <a:t> (программа состоит из набора команд, которые выполняются процессором автоматически друг за другом в определённой</a:t>
            </a:r>
            <a:r>
              <a:rPr lang="ru-RU" altLang="ru-RU" sz="3200" dirty="0"/>
              <a:t> </a:t>
            </a:r>
            <a:r>
              <a:rPr lang="ru-RU" altLang="ru-RU" sz="3200" dirty="0">
                <a:cs typeface="Times New Roman" panose="02020603050405020304" pitchFamily="18" charset="0"/>
              </a:rPr>
              <a:t>последовательности). </a:t>
            </a:r>
          </a:p>
          <a:p>
            <a:pPr>
              <a:spcBef>
                <a:spcPct val="50000"/>
              </a:spcBef>
            </a:pPr>
            <a:r>
              <a:rPr lang="ru-RU" altLang="ru-RU" sz="3200" b="1" dirty="0">
                <a:cs typeface="Times New Roman" panose="02020603050405020304" pitchFamily="18" charset="0"/>
              </a:rPr>
              <a:t>2. Принцип однородности памяти</a:t>
            </a:r>
            <a:r>
              <a:rPr lang="ru-RU" altLang="ru-RU" sz="3200" dirty="0">
                <a:cs typeface="Times New Roman" panose="02020603050405020304" pitchFamily="18" charset="0"/>
              </a:rPr>
              <a:t> (программы и данные хранятся в одной и той же памяти; над командами можно выполнять такие же действия, как и над данными). </a:t>
            </a:r>
          </a:p>
          <a:p>
            <a:pPr>
              <a:spcBef>
                <a:spcPct val="50000"/>
              </a:spcBef>
            </a:pPr>
            <a:r>
              <a:rPr lang="ru-RU" altLang="ru-RU" sz="3200" b="1" dirty="0">
                <a:cs typeface="Times New Roman" panose="02020603050405020304" pitchFamily="18" charset="0"/>
              </a:rPr>
              <a:t>3. Принцип а</a:t>
            </a:r>
            <a:r>
              <a:rPr lang="ru-RU" altLang="ru-RU" sz="3200" b="1" dirty="0"/>
              <a:t>д</a:t>
            </a:r>
            <a:r>
              <a:rPr lang="ru-RU" altLang="ru-RU" sz="3200" b="1" dirty="0">
                <a:cs typeface="Times New Roman" panose="02020603050405020304" pitchFamily="18" charset="0"/>
              </a:rPr>
              <a:t>ресности</a:t>
            </a:r>
            <a:r>
              <a:rPr lang="ru-RU" altLang="ru-RU" sz="3200" dirty="0">
                <a:cs typeface="Times New Roman" panose="02020603050405020304" pitchFamily="18" charset="0"/>
              </a:rPr>
              <a:t> (основная память структурно состоит из нумерованных  ячеек). </a:t>
            </a:r>
            <a:endParaRPr lang="ru-RU" altLang="ru-RU" sz="32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304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433" y="-20509"/>
            <a:ext cx="9911134" cy="687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3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4305300" y="962578"/>
            <a:ext cx="8610600" cy="1293028"/>
          </a:xfrm>
        </p:spPr>
        <p:txBody>
          <a:bodyPr/>
          <a:lstStyle/>
          <a:p>
            <a:r>
              <a:rPr lang="ru-RU" dirty="0" smtClean="0"/>
              <a:t>ШИНА (</a:t>
            </a:r>
            <a:r>
              <a:rPr lang="en-US" dirty="0" smtClean="0"/>
              <a:t>BUS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5784"/>
            <a:ext cx="5218735" cy="3542216"/>
          </a:xfrm>
        </p:spPr>
      </p:pic>
      <p:sp>
        <p:nvSpPr>
          <p:cNvPr id="5" name="Прямоугольник 4"/>
          <p:cNvSpPr/>
          <p:nvPr/>
        </p:nvSpPr>
        <p:spPr>
          <a:xfrm>
            <a:off x="5218735" y="314962"/>
            <a:ext cx="667752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Компьютерная шина в архитектуре компьютера — подсистема, служащая для передачи данных между функциональными блоками компьютера. В устройстве шины можно различить механический, электрический (физический) и логический (управляющий) уровни.</a:t>
            </a:r>
          </a:p>
          <a:p>
            <a:endParaRPr lang="ru-RU" sz="2400" dirty="0" smtClean="0"/>
          </a:p>
          <a:p>
            <a:r>
              <a:rPr lang="ru-RU" sz="2400" dirty="0" smtClean="0"/>
              <a:t>В отличие от соединения точка-точка, к шине обычно можно подключить несколько устройств по одному набору проводников. Каждая шина определяет свой набор коннекторов (соединений) для физического подключения устройств, карт и кабелей.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1876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421" y="609600"/>
            <a:ext cx="12031579" cy="6248400"/>
          </a:xfrm>
        </p:spPr>
        <p:txBody>
          <a:bodyPr>
            <a:normAutofit lnSpcReduction="10000"/>
          </a:bodyPr>
          <a:lstStyle/>
          <a:p>
            <a:pPr>
              <a:spcBef>
                <a:spcPct val="50000"/>
              </a:spcBef>
            </a:pPr>
            <a:r>
              <a:rPr lang="ru-RU" altLang="ru-RU" sz="3200" b="1" i="1" u="sng" dirty="0"/>
              <a:t>Шина данных</a:t>
            </a:r>
            <a:r>
              <a:rPr lang="ru-RU" altLang="ru-RU" sz="3200" b="1" i="1" dirty="0"/>
              <a:t> – </a:t>
            </a:r>
            <a:r>
              <a:rPr lang="ru-RU" altLang="ru-RU" sz="3200" b="1" dirty="0"/>
              <a:t>передаются данные между различными устройствами </a:t>
            </a:r>
          </a:p>
          <a:p>
            <a:pPr>
              <a:spcBef>
                <a:spcPct val="50000"/>
              </a:spcBef>
            </a:pPr>
            <a:r>
              <a:rPr lang="ru-RU" altLang="ru-RU" sz="3200" b="1" i="1" u="sng" dirty="0"/>
              <a:t>Шина адресов</a:t>
            </a:r>
            <a:r>
              <a:rPr lang="ru-RU" altLang="ru-RU" sz="3200" b="1" dirty="0"/>
              <a:t> – адреса памяти или внешних устройств, к которым обращается  процессор.</a:t>
            </a:r>
          </a:p>
          <a:p>
            <a:pPr>
              <a:spcBef>
                <a:spcPct val="50000"/>
              </a:spcBef>
            </a:pPr>
            <a:r>
              <a:rPr lang="ru-RU" altLang="ru-RU" sz="3200" b="1" i="1" u="sng" dirty="0"/>
              <a:t>Шина управления</a:t>
            </a:r>
            <a:r>
              <a:rPr lang="ru-RU" altLang="ru-RU" sz="3200" b="1" i="1" dirty="0"/>
              <a:t> </a:t>
            </a:r>
            <a:r>
              <a:rPr lang="ru-RU" altLang="ru-RU" sz="3200" b="1" dirty="0"/>
              <a:t>– передаются управляющие сигналы, определяющие характер обмена информацией по магистрали</a:t>
            </a:r>
            <a:endParaRPr lang="ru-RU" altLang="ru-RU" sz="3200" b="1" i="1" dirty="0"/>
          </a:p>
          <a:p>
            <a:pPr marL="0" indent="0">
              <a:buNone/>
            </a:pPr>
            <a:endParaRPr lang="ru-RU" altLang="ru-RU" sz="3200" b="1" i="1" dirty="0" smtClean="0"/>
          </a:p>
          <a:p>
            <a:pPr marL="0" indent="0">
              <a:buNone/>
            </a:pPr>
            <a:endParaRPr lang="ru-RU" altLang="ru-RU" sz="3200" b="1" i="1" dirty="0"/>
          </a:p>
          <a:p>
            <a:pPr marL="0" indent="0">
              <a:buNone/>
            </a:pPr>
            <a:r>
              <a:rPr lang="ru-RU" altLang="ru-RU" sz="3200" b="1" i="1" dirty="0" smtClean="0"/>
              <a:t>Количество </a:t>
            </a:r>
            <a:r>
              <a:rPr lang="ru-RU" altLang="ru-RU" sz="3200" b="1" i="1" dirty="0"/>
              <a:t>одновременно </a:t>
            </a:r>
            <a:endParaRPr lang="ru-RU" altLang="ru-RU" sz="3200" b="1" i="1" dirty="0" smtClean="0"/>
          </a:p>
          <a:p>
            <a:pPr marL="0" indent="0">
              <a:buNone/>
            </a:pPr>
            <a:r>
              <a:rPr lang="ru-RU" altLang="ru-RU" sz="3200" b="1" i="1" dirty="0" smtClean="0"/>
              <a:t>передаваемых </a:t>
            </a:r>
            <a:r>
              <a:rPr lang="ru-RU" altLang="ru-RU" sz="3200" b="1" i="1" dirty="0"/>
              <a:t>по шине бит </a:t>
            </a:r>
            <a:endParaRPr lang="ru-RU" altLang="ru-RU" sz="3200" b="1" i="1" dirty="0" smtClean="0"/>
          </a:p>
          <a:p>
            <a:pPr marL="0" indent="0">
              <a:buNone/>
            </a:pPr>
            <a:r>
              <a:rPr lang="ru-RU" altLang="ru-RU" sz="3200" b="1" i="1" dirty="0" smtClean="0"/>
              <a:t>называется  </a:t>
            </a:r>
            <a:r>
              <a:rPr lang="ru-RU" altLang="ru-RU" sz="3200" b="1" u="sng" dirty="0"/>
              <a:t>разрядностью шины.</a:t>
            </a:r>
            <a:endParaRPr lang="ru-RU" altLang="ru-RU" sz="3200" b="1" i="1" u="sng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439" y="3977622"/>
            <a:ext cx="4272561" cy="288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0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8358" y="227763"/>
            <a:ext cx="10287000" cy="1293028"/>
          </a:xfrm>
        </p:spPr>
        <p:txBody>
          <a:bodyPr>
            <a:normAutofit/>
          </a:bodyPr>
          <a:lstStyle/>
          <a:p>
            <a:r>
              <a:rPr lang="ru-RU" dirty="0"/>
              <a:t>ВИДЫ </a:t>
            </a:r>
            <a:r>
              <a:rPr lang="ru-RU" dirty="0" smtClean="0"/>
              <a:t>оперативной ПАМЯТИ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25380" y="1376413"/>
            <a:ext cx="5346032" cy="5481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СТАТИЧЕСКИЙ </a:t>
            </a:r>
            <a:r>
              <a:rPr lang="ru-RU" dirty="0" smtClean="0"/>
              <a:t>ТИП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Отличительными чертами SDRAM-разновидности являются: </a:t>
            </a:r>
            <a:endParaRPr lang="ru-RU" dirty="0" smtClean="0"/>
          </a:p>
          <a:p>
            <a:r>
              <a:rPr lang="ru-RU" dirty="0" smtClean="0"/>
              <a:t>двоичные </a:t>
            </a:r>
            <a:r>
              <a:rPr lang="ru-RU" dirty="0"/>
              <a:t>и троичные разряды сохраняются при положительной обратной связи; </a:t>
            </a:r>
            <a:endParaRPr lang="ru-RU" dirty="0" smtClean="0"/>
          </a:p>
          <a:p>
            <a:r>
              <a:rPr lang="ru-RU" dirty="0" smtClean="0"/>
              <a:t>поддерживается </a:t>
            </a:r>
            <a:r>
              <a:rPr lang="ru-RU" dirty="0"/>
              <a:t>постоянное состояние без осуществления </a:t>
            </a:r>
            <a:r>
              <a:rPr lang="ru-RU" dirty="0" smtClean="0"/>
              <a:t>регенерации.</a:t>
            </a:r>
          </a:p>
          <a:p>
            <a:pPr marL="0" indent="0">
              <a:buNone/>
            </a:pPr>
            <a:r>
              <a:rPr lang="ru-RU" dirty="0"/>
              <a:t>К недостаткам можно отнести: </a:t>
            </a:r>
            <a:endParaRPr lang="ru-RU" dirty="0" smtClean="0"/>
          </a:p>
          <a:p>
            <a:r>
              <a:rPr lang="ru-RU" dirty="0" smtClean="0"/>
              <a:t>малую </a:t>
            </a:r>
            <a:r>
              <a:rPr lang="ru-RU" dirty="0"/>
              <a:t>плотность записи</a:t>
            </a:r>
            <a:r>
              <a:rPr lang="ru-RU" dirty="0" smtClean="0"/>
              <a:t>;</a:t>
            </a:r>
          </a:p>
          <a:p>
            <a:r>
              <a:rPr lang="ru-RU" dirty="0" smtClean="0"/>
              <a:t>относительно </a:t>
            </a:r>
            <a:r>
              <a:rPr lang="ru-RU" dirty="0"/>
              <a:t>высокую </a:t>
            </a:r>
            <a:r>
              <a:rPr lang="ru-RU" dirty="0" smtClean="0"/>
              <a:t>стоимость.</a:t>
            </a:r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5662862" y="1376413"/>
            <a:ext cx="6529137" cy="54815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ДИНАМИЧЕСКИЙ ТИП</a:t>
            </a:r>
          </a:p>
          <a:p>
            <a:pPr marL="0" indent="0" fontAlgn="base">
              <a:buNone/>
            </a:pPr>
            <a:r>
              <a:rPr lang="ru-RU" dirty="0"/>
              <a:t>Ещё один вид микросхем обозначается как DRAM. Он является также полностью энергозависимым, доступ к битам записи осуществляется произвольным образом. Данная разновидность широко используется в большинстве современных ПК. Также она применяется в тех компьютерных системах, где высоки требования к задержкам – быстродействие DRAM на порядок выше </a:t>
            </a:r>
            <a:r>
              <a:rPr lang="ru-RU" dirty="0" smtClean="0"/>
              <a:t>SDRAM.</a:t>
            </a:r>
          </a:p>
          <a:p>
            <a:pPr marL="0" indent="0" fontAlgn="base">
              <a:buNone/>
            </a:pPr>
            <a:r>
              <a:rPr lang="ru-RU" dirty="0"/>
              <a:t>Чаще всего данная разновидность имеет форм-фактор типа DIMM. Такое же конструктивное решение используется и для изготовления статической схемы (SDRAM). Особенностью DIMM-исполнения является то, что контакты имеются с обеих сторон поверхности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522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09537" y="0"/>
            <a:ext cx="8610600" cy="1293028"/>
          </a:xfrm>
        </p:spPr>
        <p:txBody>
          <a:bodyPr>
            <a:normAutofit/>
          </a:bodyPr>
          <a:lstStyle/>
          <a:p>
            <a:r>
              <a:rPr lang="ru-RU" dirty="0"/>
              <a:t>ПАРАМЕТРЫ </a:t>
            </a:r>
            <a:r>
              <a:rPr lang="ru-RU" dirty="0" smtClean="0"/>
              <a:t>ОП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8547" y="1507958"/>
            <a:ext cx="11790948" cy="52136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Ориентироваться следует, прежде всего, на следующие моменты: </a:t>
            </a:r>
            <a:endParaRPr lang="ru-RU" sz="2800" dirty="0" smtClean="0"/>
          </a:p>
          <a:p>
            <a:r>
              <a:rPr lang="ru-RU" sz="2800" dirty="0" smtClean="0"/>
              <a:t>Частоту </a:t>
            </a:r>
            <a:r>
              <a:rPr lang="ru-RU" sz="2800" dirty="0"/>
              <a:t>работы; </a:t>
            </a:r>
            <a:endParaRPr lang="ru-RU" sz="2800" dirty="0" smtClean="0"/>
          </a:p>
          <a:p>
            <a:r>
              <a:rPr lang="ru-RU" sz="2800" dirty="0" err="1" smtClean="0"/>
              <a:t>Тайминги</a:t>
            </a:r>
            <a:r>
              <a:rPr lang="ru-RU" sz="2800" dirty="0" smtClean="0"/>
              <a:t> - </a:t>
            </a:r>
            <a:r>
              <a:rPr lang="ru-RU" sz="2800" dirty="0"/>
              <a:t>время задержки информации между различными компонентами устройства. </a:t>
            </a:r>
            <a:r>
              <a:rPr lang="ru-RU" sz="2800" dirty="0" smtClean="0"/>
              <a:t>Маленькие </a:t>
            </a:r>
            <a:r>
              <a:rPr lang="ru-RU" sz="2800" dirty="0" err="1"/>
              <a:t>тайминги</a:t>
            </a:r>
            <a:r>
              <a:rPr lang="ru-RU" sz="2800" dirty="0"/>
              <a:t> позволяют увеличить скорость выполнения различных операций. Имеется одна неприятная пропорциональная зависимость – чем выше быстродействие оперативно-запоминающего устройства, тем больше значения </a:t>
            </a:r>
            <a:r>
              <a:rPr lang="ru-RU" sz="2800" dirty="0" err="1" smtClean="0"/>
              <a:t>таймингов</a:t>
            </a:r>
            <a:r>
              <a:rPr lang="ru-RU" sz="2800" dirty="0" smtClean="0"/>
              <a:t>; </a:t>
            </a:r>
          </a:p>
          <a:p>
            <a:r>
              <a:rPr lang="ru-RU" sz="2800" dirty="0" smtClean="0"/>
              <a:t>Напряжение. Чем </a:t>
            </a:r>
            <a:r>
              <a:rPr lang="ru-RU" sz="2800" dirty="0"/>
              <a:t>оно выше, тем меньше становятся </a:t>
            </a:r>
            <a:r>
              <a:rPr lang="ru-RU" sz="2800" dirty="0" err="1"/>
              <a:t>тайминги</a:t>
            </a:r>
            <a:r>
              <a:rPr lang="ru-RU" sz="2800" dirty="0"/>
              <a:t>. Количество выполненных операций за единицу времени в то же время </a:t>
            </a:r>
            <a:r>
              <a:rPr lang="ru-RU" sz="2800" dirty="0" smtClean="0"/>
              <a:t>возрастает.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4829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94" y="1213270"/>
            <a:ext cx="8697317" cy="5644729"/>
          </a:xfrm>
        </p:spPr>
      </p:pic>
      <p:sp>
        <p:nvSpPr>
          <p:cNvPr id="5" name="TextBox 4"/>
          <p:cNvSpPr txBox="1"/>
          <p:nvPr/>
        </p:nvSpPr>
        <p:spPr>
          <a:xfrm>
            <a:off x="5181600" y="566939"/>
            <a:ext cx="6577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Оперативная память (ОЗУ)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52515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6884" y="276365"/>
            <a:ext cx="11506200" cy="1293028"/>
          </a:xfrm>
        </p:spPr>
        <p:txBody>
          <a:bodyPr>
            <a:normAutofit/>
          </a:bodyPr>
          <a:lstStyle/>
          <a:p>
            <a:r>
              <a:rPr lang="ru-RU" dirty="0" smtClean="0"/>
              <a:t>Характеристики </a:t>
            </a:r>
            <a:r>
              <a:rPr lang="ru-RU" dirty="0"/>
              <a:t>ОПЕРАТИВНОЙ </a:t>
            </a:r>
            <a:r>
              <a:rPr lang="ru-RU" dirty="0" smtClean="0"/>
              <a:t>ПАМЯТИ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9393"/>
            <a:ext cx="7723152" cy="5408897"/>
          </a:xfrm>
        </p:spPr>
      </p:pic>
    </p:spTree>
    <p:extLst>
      <p:ext uri="{BB962C8B-B14F-4D97-AF65-F5344CB8AC3E}">
        <p14:creationId xmlns:p14="http://schemas.microsoft.com/office/powerpoint/2010/main" val="25148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3334" y="204703"/>
            <a:ext cx="9686960" cy="630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4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Типы памяти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0421" y="2149019"/>
            <a:ext cx="117602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000" b="0" i="1" u="none" strike="noStrike" dirty="0" smtClean="0">
                <a:effectLst/>
                <a:latin typeface="Arial" panose="020B0604020202020204" pitchFamily="34" charset="0"/>
                <a:hlinkClick r:id="rId2" tooltip="Буфер (информатика)"/>
              </a:rPr>
              <a:t>Буферная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 память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(</a:t>
            </a:r>
            <a:r>
              <a:rPr lang="ru-RU" sz="2000" b="0" i="0" u="none" strike="noStrike" dirty="0" smtClean="0">
                <a:effectLst/>
                <a:latin typeface="Arial" panose="020B0604020202020204" pitchFamily="34" charset="0"/>
                <a:hlinkClick r:id="rId3" tooltip="Английский язык"/>
              </a:rPr>
              <a:t>англ.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buffer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 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storage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) — память, предназначенная для временного хранения данных при обмене ими между различными устройствами или программами.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0" i="1" dirty="0" smtClean="0">
                <a:effectLst/>
                <a:latin typeface="Arial" panose="020B0604020202020204" pitchFamily="34" charset="0"/>
              </a:rPr>
              <a:t>Временная (промежуточная) память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(</a:t>
            </a:r>
            <a:r>
              <a:rPr lang="ru-RU" sz="2000" b="0" i="0" u="none" strike="noStrike" dirty="0" smtClean="0">
                <a:effectLst/>
                <a:latin typeface="Arial" panose="020B0604020202020204" pitchFamily="34" charset="0"/>
                <a:hlinkClick r:id="rId3" tooltip="Английский язык"/>
              </a:rPr>
              <a:t>англ.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temporary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 (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intermediate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) 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storage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) — память для хранения промежуточных результатов обработки.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0" i="1" u="none" strike="noStrike" dirty="0" smtClean="0">
                <a:effectLst/>
                <a:latin typeface="Arial" panose="020B0604020202020204" pitchFamily="34" charset="0"/>
                <a:hlinkClick r:id="rId4" tooltip="Кеш-память"/>
              </a:rPr>
              <a:t>Кеш-память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(</a:t>
            </a:r>
            <a:r>
              <a:rPr lang="ru-RU" sz="2000" b="0" i="0" u="none" strike="noStrike" dirty="0" smtClean="0">
                <a:effectLst/>
                <a:latin typeface="Arial" panose="020B0604020202020204" pitchFamily="34" charset="0"/>
                <a:hlinkClick r:id="rId3" tooltip="Английский язык"/>
              </a:rPr>
              <a:t>англ.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cache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 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memory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) — часть архитектуры устройства или программного обеспечения, осуществляющая хранение часто используемых данных для предоставления их в более быстрый доступ, нежели </a:t>
            </a:r>
            <a:r>
              <a:rPr lang="ru-RU" sz="2000" b="0" i="0" dirty="0" err="1" smtClean="0">
                <a:effectLst/>
                <a:latin typeface="Arial" panose="020B0604020202020204" pitchFamily="34" charset="0"/>
              </a:rPr>
              <a:t>кешируемая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 память.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0" i="1" dirty="0" smtClean="0">
                <a:effectLst/>
                <a:latin typeface="Arial" panose="020B0604020202020204" pitchFamily="34" charset="0"/>
              </a:rPr>
              <a:t>Корректирующая память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(</a:t>
            </a:r>
            <a:r>
              <a:rPr lang="ru-RU" sz="2000" b="0" i="0" u="none" strike="noStrike" dirty="0" smtClean="0">
                <a:effectLst/>
                <a:latin typeface="Arial" panose="020B0604020202020204" pitchFamily="34" charset="0"/>
                <a:hlinkClick r:id="rId3" tooltip="Английский язык"/>
              </a:rPr>
              <a:t>англ.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patch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 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memory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) — часть памяти ЭВМ, предназначенная для хранения адресов неисправных ячеек основной памяти. Также используются термины </a:t>
            </a:r>
            <a:r>
              <a:rPr lang="ru-RU" sz="2000" b="0" i="0" dirty="0" err="1" smtClean="0">
                <a:effectLst/>
                <a:latin typeface="Arial" panose="020B0604020202020204" pitchFamily="34" charset="0"/>
              </a:rPr>
              <a:t>relocation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 </a:t>
            </a:r>
            <a:r>
              <a:rPr lang="ru-RU" sz="2000" b="0" i="0" dirty="0" err="1" smtClean="0">
                <a:effectLst/>
                <a:latin typeface="Arial" panose="020B0604020202020204" pitchFamily="34" charset="0"/>
              </a:rPr>
              <a:t>table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 и </a:t>
            </a:r>
            <a:r>
              <a:rPr lang="ru-RU" sz="2000" b="0" i="0" dirty="0" err="1" smtClean="0">
                <a:effectLst/>
                <a:latin typeface="Arial" panose="020B0604020202020204" pitchFamily="34" charset="0"/>
              </a:rPr>
              <a:t>remap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 </a:t>
            </a:r>
            <a:r>
              <a:rPr lang="ru-RU" sz="2000" b="0" i="0" dirty="0" err="1" smtClean="0">
                <a:effectLst/>
                <a:latin typeface="Arial" panose="020B0604020202020204" pitchFamily="34" charset="0"/>
              </a:rPr>
              <a:t>table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0" i="1" dirty="0" smtClean="0">
                <a:effectLst/>
                <a:latin typeface="Arial" panose="020B0604020202020204" pitchFamily="34" charset="0"/>
              </a:rPr>
              <a:t>Управляющая память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(</a:t>
            </a:r>
            <a:r>
              <a:rPr lang="ru-RU" sz="2000" b="0" i="0" u="none" strike="noStrike" dirty="0" smtClean="0">
                <a:effectLst/>
                <a:latin typeface="Arial" panose="020B0604020202020204" pitchFamily="34" charset="0"/>
                <a:hlinkClick r:id="rId3" tooltip="Английский язык"/>
              </a:rPr>
              <a:t>англ.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control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 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storage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) — память, содержащая управляющие программы или микропрограммы. Обычно реализуется в виде ПЗУ.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b="0" i="1" u="none" strike="noStrike" dirty="0" smtClean="0">
                <a:effectLst/>
                <a:latin typeface="Arial" panose="020B0604020202020204" pitchFamily="34" charset="0"/>
                <a:hlinkClick r:id="rId5" tooltip="Разделяемая память"/>
              </a:rPr>
              <a:t>Разделяемая память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или 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память коллективного доступа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(</a:t>
            </a:r>
            <a:r>
              <a:rPr lang="ru-RU" sz="2000" b="0" i="0" u="none" strike="noStrike" dirty="0" smtClean="0">
                <a:effectLst/>
                <a:latin typeface="Arial" panose="020B0604020202020204" pitchFamily="34" charset="0"/>
                <a:hlinkClick r:id="rId3" tooltip="Английский язык"/>
              </a:rPr>
              <a:t>англ.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 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shared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 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memory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, 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shared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 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access</a:t>
            </a:r>
            <a:r>
              <a:rPr lang="ru-RU" sz="2000" b="0" i="1" dirty="0" smtClean="0">
                <a:effectLst/>
                <a:latin typeface="Arial" panose="020B0604020202020204" pitchFamily="34" charset="0"/>
              </a:rPr>
              <a:t> </a:t>
            </a:r>
            <a:r>
              <a:rPr lang="ru-RU" sz="2000" b="0" i="1" dirty="0" err="1" smtClean="0">
                <a:effectLst/>
                <a:latin typeface="Arial" panose="020B0604020202020204" pitchFamily="34" charset="0"/>
              </a:rPr>
              <a:t>memory</a:t>
            </a:r>
            <a:r>
              <a:rPr lang="ru-RU" sz="2000" b="0" i="0" dirty="0" smtClean="0">
                <a:effectLst/>
                <a:latin typeface="Arial" panose="020B0604020202020204" pitchFamily="34" charset="0"/>
              </a:rPr>
              <a:t>) — память, доступная одновременно нескольким пользователям, процессам или процессорам.</a:t>
            </a:r>
            <a:endParaRPr lang="ru-RU" sz="20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93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715" y="0"/>
            <a:ext cx="9143999" cy="6858000"/>
          </a:xfrm>
        </p:spPr>
      </p:pic>
    </p:spTree>
    <p:extLst>
      <p:ext uri="{BB962C8B-B14F-4D97-AF65-F5344CB8AC3E}">
        <p14:creationId xmlns:p14="http://schemas.microsoft.com/office/powerpoint/2010/main" val="3162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Твердотельные диски </a:t>
            </a:r>
            <a:r>
              <a:rPr lang="en-US" dirty="0" smtClean="0"/>
              <a:t>(</a:t>
            </a:r>
            <a:r>
              <a:rPr lang="en-US" dirty="0" err="1" smtClean="0"/>
              <a:t>sSD</a:t>
            </a:r>
            <a:r>
              <a:rPr lang="en-US" dirty="0" smtClean="0"/>
              <a:t>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243" y="2159425"/>
            <a:ext cx="6384758" cy="4698575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3608"/>
            <a:ext cx="5662863" cy="469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6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4375" y="1562100"/>
            <a:ext cx="11201400" cy="1293028"/>
          </a:xfrm>
        </p:spPr>
        <p:txBody>
          <a:bodyPr>
            <a:noAutofit/>
          </a:bodyPr>
          <a:lstStyle/>
          <a:p>
            <a:r>
              <a:rPr lang="ru-RU" sz="2400" b="1" dirty="0"/>
              <a:t>SATA</a:t>
            </a:r>
            <a:r>
              <a:rPr lang="ru-RU" sz="2400" dirty="0"/>
              <a:t> (</a:t>
            </a:r>
            <a:r>
              <a:rPr lang="ru-RU" sz="2400" dirty="0">
                <a:hlinkClick r:id="rId2" tooltip="Английский язык"/>
              </a:rPr>
              <a:t>англ.</a:t>
            </a:r>
            <a:r>
              <a:rPr lang="ru-RU" sz="2400" dirty="0"/>
              <a:t> </a:t>
            </a:r>
            <a:r>
              <a:rPr lang="ru-RU" sz="2400" i="1" dirty="0" err="1"/>
              <a:t>Serial</a:t>
            </a:r>
            <a:r>
              <a:rPr lang="ru-RU" sz="2400" i="1" dirty="0"/>
              <a:t> ATA</a:t>
            </a:r>
            <a:r>
              <a:rPr lang="ru-RU" sz="2400" dirty="0"/>
              <a:t>) — </a:t>
            </a:r>
            <a:r>
              <a:rPr lang="ru-RU" sz="2400" dirty="0">
                <a:hlinkClick r:id="rId3" tooltip="Последовательная передача данных"/>
              </a:rPr>
              <a:t>последовательный</a:t>
            </a:r>
            <a:r>
              <a:rPr lang="ru-RU" sz="2400" dirty="0"/>
              <a:t> </a:t>
            </a:r>
            <a:r>
              <a:rPr lang="ru-RU" sz="2400" dirty="0">
                <a:hlinkClick r:id="rId4" tooltip="Интерфейс"/>
              </a:rPr>
              <a:t>интерфейс</a:t>
            </a:r>
            <a:r>
              <a:rPr lang="ru-RU" sz="2400" dirty="0"/>
              <a:t> обмена данными с накопителями информации. SATA является развитием параллельного интерфейса </a:t>
            </a:r>
            <a:r>
              <a:rPr lang="ru-RU" sz="2400" dirty="0">
                <a:hlinkClick r:id="rId5" tooltip="ATA"/>
              </a:rPr>
              <a:t>ATA</a:t>
            </a:r>
            <a:r>
              <a:rPr lang="ru-RU" sz="2400" dirty="0"/>
              <a:t> (IDE), который после появления SATA был переименован в PATA (</a:t>
            </a:r>
            <a:r>
              <a:rPr lang="ru-RU" sz="2400" dirty="0" err="1"/>
              <a:t>Parallel</a:t>
            </a:r>
            <a:r>
              <a:rPr lang="ru-RU" sz="2400" dirty="0"/>
              <a:t> ATA</a:t>
            </a:r>
            <a:r>
              <a:rPr lang="ru-RU" sz="2400" dirty="0" smtClean="0"/>
              <a:t>).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ATA</a:t>
            </a:r>
            <a:r>
              <a:rPr lang="en-US" sz="2400" dirty="0"/>
              <a:t> (</a:t>
            </a:r>
            <a:r>
              <a:rPr lang="ru-RU" sz="2400" dirty="0">
                <a:hlinkClick r:id="rId2" tooltip="Английский язык"/>
              </a:rPr>
              <a:t>англ.</a:t>
            </a:r>
            <a:r>
              <a:rPr lang="ru-RU" sz="2400" dirty="0"/>
              <a:t> </a:t>
            </a:r>
            <a:r>
              <a:rPr lang="en-US" sz="2400" i="1" dirty="0"/>
              <a:t>Advanced Technology Attachment</a:t>
            </a:r>
            <a:r>
              <a:rPr lang="en-US" sz="2400" dirty="0"/>
              <a:t>) — </a:t>
            </a:r>
            <a:r>
              <a:rPr lang="ru-RU" sz="2400" dirty="0">
                <a:hlinkClick r:id="rId6" tooltip="Параллельный порт"/>
              </a:rPr>
              <a:t>параллельный</a:t>
            </a:r>
            <a:r>
              <a:rPr lang="ru-RU" sz="2400" dirty="0"/>
              <a:t> </a:t>
            </a:r>
            <a:r>
              <a:rPr lang="ru-RU" sz="2400" dirty="0" err="1">
                <a:hlinkClick r:id="rId7" tooltip="Шина (компьютер)"/>
              </a:rPr>
              <a:t>интерфейс</a:t>
            </a:r>
            <a:r>
              <a:rPr lang="ru-RU" sz="2400" dirty="0" err="1"/>
              <a:t>подключения</a:t>
            </a:r>
            <a:r>
              <a:rPr lang="ru-RU" sz="2400" dirty="0"/>
              <a:t> накопителей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898232" y="3572177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Контакт #	Назначение</a:t>
            </a:r>
          </a:p>
          <a:p>
            <a:r>
              <a:rPr lang="ru-RU" dirty="0" smtClean="0"/>
              <a:t>1	</a:t>
            </a:r>
            <a:r>
              <a:rPr lang="en-US" dirty="0" smtClean="0"/>
              <a:t>GND</a:t>
            </a:r>
          </a:p>
          <a:p>
            <a:r>
              <a:rPr lang="en-US" dirty="0" smtClean="0"/>
              <a:t>2	A+ (</a:t>
            </a:r>
            <a:r>
              <a:rPr lang="ru-RU" dirty="0" smtClean="0"/>
              <a:t>Передача данных)</a:t>
            </a:r>
          </a:p>
          <a:p>
            <a:r>
              <a:rPr lang="ru-RU" dirty="0" smtClean="0"/>
              <a:t>3	</a:t>
            </a:r>
            <a:r>
              <a:rPr lang="en-US" dirty="0" smtClean="0"/>
              <a:t>A− (</a:t>
            </a:r>
            <a:r>
              <a:rPr lang="ru-RU" dirty="0" smtClean="0"/>
              <a:t>Передача данных)</a:t>
            </a:r>
          </a:p>
          <a:p>
            <a:r>
              <a:rPr lang="ru-RU" dirty="0" smtClean="0"/>
              <a:t>4	</a:t>
            </a:r>
            <a:r>
              <a:rPr lang="en-US" dirty="0" smtClean="0"/>
              <a:t>GND</a:t>
            </a:r>
          </a:p>
          <a:p>
            <a:r>
              <a:rPr lang="en-US" dirty="0" smtClean="0"/>
              <a:t>5	B− (</a:t>
            </a:r>
            <a:r>
              <a:rPr lang="ru-RU" dirty="0" smtClean="0"/>
              <a:t>Прием данных)</a:t>
            </a:r>
          </a:p>
          <a:p>
            <a:r>
              <a:rPr lang="ru-RU" dirty="0" smtClean="0"/>
              <a:t>6	</a:t>
            </a:r>
            <a:r>
              <a:rPr lang="en-US" dirty="0" smtClean="0"/>
              <a:t>B+ (</a:t>
            </a:r>
            <a:r>
              <a:rPr lang="ru-RU" dirty="0" smtClean="0"/>
              <a:t>Прием данных)</a:t>
            </a:r>
          </a:p>
          <a:p>
            <a:r>
              <a:rPr lang="ru-RU" dirty="0" smtClean="0"/>
              <a:t>7	</a:t>
            </a:r>
            <a:r>
              <a:rPr lang="en-US" dirty="0" smtClean="0"/>
              <a:t>GND</a:t>
            </a:r>
          </a:p>
          <a:p>
            <a:r>
              <a:rPr lang="en-US" dirty="0" smtClean="0"/>
              <a:t>—	</a:t>
            </a:r>
            <a:r>
              <a:rPr lang="ru-RU" dirty="0" smtClean="0"/>
              <a:t>Замок</a:t>
            </a:r>
          </a:p>
          <a:p>
            <a:r>
              <a:rPr lang="en-US" dirty="0" smtClean="0"/>
              <a:t>A 7-pin Serial ATA data cable.</a:t>
            </a:r>
          </a:p>
          <a:p>
            <a:r>
              <a:rPr lang="en-US" dirty="0" smtClean="0"/>
              <a:t>7-</a:t>
            </a:r>
            <a:r>
              <a:rPr lang="ru-RU" dirty="0" smtClean="0"/>
              <a:t>контактный кабель передачи данных </a:t>
            </a:r>
            <a:r>
              <a:rPr lang="en-US" dirty="0" smtClean="0"/>
              <a:t>Serial ATA.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232" y="4460434"/>
            <a:ext cx="2197768" cy="2397565"/>
          </a:xfrm>
          <a:prstGeom prst="rect">
            <a:avLst/>
          </a:prstGeom>
        </p:spPr>
      </p:pic>
      <p:pic>
        <p:nvPicPr>
          <p:cNvPr id="2050" name="Picture 2" descr="A 7-pin Serial ATA data cable.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875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A 7-pin Serial ATA data cable.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2875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86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7516" y="924795"/>
            <a:ext cx="11377863" cy="2155290"/>
          </a:xfrm>
        </p:spPr>
        <p:txBody>
          <a:bodyPr>
            <a:noAutofit/>
          </a:bodyPr>
          <a:lstStyle/>
          <a:p>
            <a:pPr algn="just"/>
            <a:r>
              <a:rPr lang="ru-RU" sz="2000" dirty="0"/>
              <a:t>PCI (от </a:t>
            </a:r>
            <a:r>
              <a:rPr lang="ru-RU" sz="2000" dirty="0" err="1"/>
              <a:t>англ.Peripheral</a:t>
            </a:r>
            <a:r>
              <a:rPr lang="ru-RU" sz="2000" dirty="0"/>
              <a:t> </a:t>
            </a:r>
            <a:r>
              <a:rPr lang="ru-RU" sz="2000" dirty="0" err="1"/>
              <a:t>component</a:t>
            </a:r>
            <a:r>
              <a:rPr lang="ru-RU" sz="2000" dirty="0"/>
              <a:t> </a:t>
            </a:r>
            <a:r>
              <a:rPr lang="ru-RU" sz="2000" dirty="0" err="1"/>
              <a:t>interconnect</a:t>
            </a:r>
            <a:r>
              <a:rPr lang="ru-RU" sz="2000" dirty="0"/>
              <a:t> - взаимосвязь периферийных компонентов) - шина ввода/вывода, предназначенная для подключения периферийных устройств к материнской плате компьютера</a:t>
            </a:r>
            <a:r>
              <a:rPr lang="ru-RU" sz="2000" dirty="0" smtClean="0"/>
              <a:t>.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PCI </a:t>
            </a:r>
            <a:r>
              <a:rPr lang="ru-RU" sz="2000" dirty="0" err="1"/>
              <a:t>Express</a:t>
            </a:r>
            <a:r>
              <a:rPr lang="ru-RU" sz="2000" dirty="0"/>
              <a:t>, или </a:t>
            </a:r>
            <a:r>
              <a:rPr lang="ru-RU" sz="2000" dirty="0" err="1"/>
              <a:t>PCIe</a:t>
            </a:r>
            <a:r>
              <a:rPr lang="ru-RU" sz="2000" dirty="0"/>
              <a:t>, или </a:t>
            </a:r>
            <a:r>
              <a:rPr lang="ru-RU" sz="2000" dirty="0" smtClean="0"/>
              <a:t>PCI-E</a:t>
            </a:r>
            <a:r>
              <a:rPr lang="en-US" sz="2000" dirty="0" smtClean="0"/>
              <a:t> </a:t>
            </a:r>
            <a:r>
              <a:rPr lang="ru-RU" sz="2000" dirty="0" smtClean="0"/>
              <a:t>— </a:t>
            </a:r>
            <a:r>
              <a:rPr lang="ru-RU" sz="2000" dirty="0"/>
              <a:t>компьютерная шина, использующая программную модель шины PCI и высокопроизводительный физический протокол, основанный на последовательной передаче данных.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421688" y="482667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На фотографии слоты материнской платы </a:t>
            </a:r>
            <a:r>
              <a:rPr lang="en-US" dirty="0" smtClean="0"/>
              <a:t>DFI </a:t>
            </a:r>
            <a:r>
              <a:rPr lang="en-US" dirty="0" err="1" smtClean="0"/>
              <a:t>LanParty</a:t>
            </a:r>
            <a:r>
              <a:rPr lang="en-US" dirty="0" smtClean="0"/>
              <a:t> nForce4 SLI-DR (</a:t>
            </a:r>
            <a:r>
              <a:rPr lang="ru-RU" dirty="0" smtClean="0"/>
              <a:t>сверху вниз): </a:t>
            </a:r>
            <a:r>
              <a:rPr lang="en-US" dirty="0" smtClean="0"/>
              <a:t>x4 PCI Express,</a:t>
            </a:r>
          </a:p>
          <a:p>
            <a:r>
              <a:rPr lang="en-US" dirty="0" smtClean="0"/>
              <a:t>x16 PCI Express,</a:t>
            </a:r>
          </a:p>
          <a:p>
            <a:r>
              <a:rPr lang="en-US" dirty="0" smtClean="0"/>
              <a:t>x1 PCI Express,</a:t>
            </a:r>
          </a:p>
          <a:p>
            <a:r>
              <a:rPr lang="en-US" dirty="0" smtClean="0"/>
              <a:t>x16 PCI Express,</a:t>
            </a:r>
          </a:p>
          <a:p>
            <a:r>
              <a:rPr lang="ru-RU" dirty="0" smtClean="0"/>
              <a:t>стандартный 32‑разрядный слот </a:t>
            </a:r>
            <a:r>
              <a:rPr lang="en-US" dirty="0" smtClean="0"/>
              <a:t>PCI</a:t>
            </a:r>
            <a:endParaRPr lang="ru-RU" dirty="0"/>
          </a:p>
        </p:txBody>
      </p:sp>
      <p:pic>
        <p:nvPicPr>
          <p:cNvPr id="3074" name="Picture 2" descr="https://upload.wikimedia.org/wikipedia/commons/thumb/f/fc/PCIExpress.jpg/220px-PCIExpre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94" y="3537802"/>
            <a:ext cx="4764505" cy="3226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81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8653" y="299152"/>
            <a:ext cx="8610600" cy="1293028"/>
          </a:xfrm>
        </p:spPr>
        <p:txBody>
          <a:bodyPr/>
          <a:lstStyle/>
          <a:p>
            <a:r>
              <a:rPr lang="ru-RU" dirty="0" smtClean="0"/>
              <a:t>Видеокарта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858" y="1592180"/>
            <a:ext cx="7584395" cy="4644189"/>
          </a:xfrm>
        </p:spPr>
      </p:pic>
    </p:spTree>
    <p:extLst>
      <p:ext uri="{BB962C8B-B14F-4D97-AF65-F5344CB8AC3E}">
        <p14:creationId xmlns:p14="http://schemas.microsoft.com/office/powerpoint/2010/main" val="31974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497306"/>
            <a:ext cx="11201400" cy="5721380"/>
          </a:xfrm>
        </p:spPr>
        <p:txBody>
          <a:bodyPr>
            <a:normAutofit/>
          </a:bodyPr>
          <a:lstStyle/>
          <a:p>
            <a:r>
              <a:rPr lang="ru-RU" b="1" dirty="0"/>
              <a:t>Скорость заполнения (</a:t>
            </a:r>
            <a:r>
              <a:rPr lang="ru-RU" b="1" dirty="0" err="1" smtClean="0"/>
              <a:t>филлрейт</a:t>
            </a:r>
            <a:r>
              <a:rPr lang="ru-RU" b="1" dirty="0" smtClean="0"/>
              <a:t>)</a:t>
            </a:r>
            <a:r>
              <a:rPr lang="ru-RU" dirty="0"/>
              <a:t> </a:t>
            </a:r>
            <a:r>
              <a:rPr lang="ru-RU" dirty="0" smtClean="0"/>
              <a:t> -  Скорость </a:t>
            </a:r>
            <a:r>
              <a:rPr lang="ru-RU" dirty="0"/>
              <a:t>заполнения показывает, с какой скоростью видеочип способен </a:t>
            </a:r>
            <a:r>
              <a:rPr lang="ru-RU" dirty="0" err="1"/>
              <a:t>отрисовывать</a:t>
            </a:r>
            <a:r>
              <a:rPr lang="ru-RU" dirty="0"/>
              <a:t> пиксели. </a:t>
            </a:r>
          </a:p>
          <a:p>
            <a:r>
              <a:rPr lang="ru-RU" dirty="0"/>
              <a:t>Количество блоков пиксельных шейдеров (или пиксельных процессоров</a:t>
            </a:r>
            <a:r>
              <a:rPr lang="ru-RU" dirty="0" smtClean="0"/>
              <a:t>) - Пиксельные </a:t>
            </a:r>
            <a:r>
              <a:rPr lang="ru-RU" dirty="0"/>
              <a:t>процессоры - это одни из главных блоков видеочипа, которые выполняют специальные программы, известные также как пиксельные </a:t>
            </a:r>
            <a:r>
              <a:rPr lang="ru-RU" dirty="0" smtClean="0"/>
              <a:t>шейдеры.</a:t>
            </a:r>
          </a:p>
          <a:p>
            <a:r>
              <a:rPr lang="ru-RU" dirty="0"/>
              <a:t>Блоки </a:t>
            </a:r>
            <a:r>
              <a:rPr lang="ru-RU" dirty="0" err="1"/>
              <a:t>текстурирования</a:t>
            </a:r>
            <a:r>
              <a:rPr lang="ru-RU" dirty="0"/>
              <a:t> (</a:t>
            </a:r>
            <a:r>
              <a:rPr lang="ru-RU" dirty="0" smtClean="0"/>
              <a:t>TMU) - Эти </a:t>
            </a:r>
            <a:r>
              <a:rPr lang="ru-RU" dirty="0"/>
              <a:t>блоки работают совместно с </a:t>
            </a:r>
            <a:r>
              <a:rPr lang="ru-RU" dirty="0" err="1"/>
              <a:t>шейдерными</a:t>
            </a:r>
            <a:r>
              <a:rPr lang="ru-RU" dirty="0"/>
              <a:t> процессорами всех указанных типов, ими осуществляется выборка и фильтрация текстурных данных, необходимых для построения сцены. </a:t>
            </a:r>
            <a:endParaRPr lang="ru-RU" dirty="0" smtClean="0"/>
          </a:p>
          <a:p>
            <a:r>
              <a:rPr lang="ru-RU" b="1" dirty="0" smtClean="0"/>
              <a:t>Ширина </a:t>
            </a:r>
            <a:r>
              <a:rPr lang="ru-RU" b="1" dirty="0"/>
              <a:t>шины </a:t>
            </a:r>
            <a:r>
              <a:rPr lang="ru-RU" b="1" dirty="0" smtClean="0"/>
              <a:t>памяти - </a:t>
            </a:r>
            <a:r>
              <a:rPr lang="ru-RU" dirty="0" smtClean="0"/>
              <a:t>Ширина </a:t>
            </a:r>
            <a:r>
              <a:rPr lang="ru-RU" dirty="0"/>
              <a:t>шины памяти является важнейшей характеристикой, влияющей на пропускную способность памяти (ПСП). Большая ширина позволяет передавать большее количество информации из видеопамяти в GPU и обратно в единицу времени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95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78" y="0"/>
            <a:ext cx="10349163" cy="6899442"/>
          </a:xfrm>
        </p:spPr>
      </p:pic>
    </p:spTree>
    <p:extLst>
      <p:ext uri="{BB962C8B-B14F-4D97-AF65-F5344CB8AC3E}">
        <p14:creationId xmlns:p14="http://schemas.microsoft.com/office/powerpoint/2010/main" val="309918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2" y="0"/>
            <a:ext cx="11793542" cy="6858000"/>
          </a:xfrm>
        </p:spPr>
      </p:pic>
    </p:spTree>
    <p:extLst>
      <p:ext uri="{BB962C8B-B14F-4D97-AF65-F5344CB8AC3E}">
        <p14:creationId xmlns:p14="http://schemas.microsoft.com/office/powerpoint/2010/main" val="135872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09537" y="122689"/>
            <a:ext cx="8610600" cy="1293028"/>
          </a:xfrm>
        </p:spPr>
        <p:txBody>
          <a:bodyPr/>
          <a:lstStyle/>
          <a:p>
            <a:r>
              <a:rPr lang="ru-RU" dirty="0" smtClean="0"/>
              <a:t>Локус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228037" cy="6858000"/>
          </a:xfrm>
        </p:spPr>
      </p:pic>
      <p:sp>
        <p:nvSpPr>
          <p:cNvPr id="7" name="Прямоугольник 6"/>
          <p:cNvSpPr/>
          <p:nvPr/>
        </p:nvSpPr>
        <p:spPr>
          <a:xfrm>
            <a:off x="6414837" y="1945983"/>
            <a:ext cx="561103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Если формально построить сечение пространства </a:t>
            </a:r>
            <a:r>
              <a:rPr lang="en-US" sz="2400" dirty="0" smtClean="0"/>
              <a:t>XYZ </a:t>
            </a:r>
            <a:r>
              <a:rPr lang="ru-RU" sz="2400" dirty="0" smtClean="0"/>
              <a:t>плоскостью</a:t>
            </a:r>
            <a:r>
              <a:rPr lang="en-US" sz="2400" dirty="0" smtClean="0"/>
              <a:t> X+Y+Z=</a:t>
            </a:r>
            <a:r>
              <a:rPr lang="en-US" sz="2400" dirty="0" err="1" smtClean="0"/>
              <a:t>const</a:t>
            </a:r>
            <a:r>
              <a:rPr lang="en-US" sz="2400" dirty="0" smtClean="0"/>
              <a:t>, </a:t>
            </a:r>
            <a:r>
              <a:rPr lang="ru-RU" sz="2400" dirty="0" smtClean="0"/>
              <a:t>то можно две оставшиеся линейно-независимыми координаты записать в виде</a:t>
            </a:r>
          </a:p>
          <a:p>
            <a:endParaRPr lang="ru-RU" sz="2400" dirty="0" smtClean="0"/>
          </a:p>
          <a:p>
            <a:r>
              <a:rPr lang="en-US" sz="2400" dirty="0" smtClean="0"/>
              <a:t>x=X/(X+Y+Z)</a:t>
            </a:r>
          </a:p>
          <a:p>
            <a:r>
              <a:rPr lang="en-US" sz="2400" dirty="0" smtClean="0"/>
              <a:t>y=Y/(X+Y+Z).</a:t>
            </a:r>
          </a:p>
          <a:p>
            <a:r>
              <a:rPr lang="ru-RU" sz="2400" dirty="0" smtClean="0"/>
              <a:t>аналогично, но необязательно:</a:t>
            </a:r>
          </a:p>
          <a:p>
            <a:r>
              <a:rPr lang="en-US" sz="2400" dirty="0" smtClean="0"/>
              <a:t>z=Z/(X+Y+Z)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1595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https://upload.wikimedia.org/wikipedia/commons/thumb/a/aa/Color_gamut_diagramm.png/300px-Color_gamut_diagram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61" y="0"/>
            <a:ext cx="5427077" cy="669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22232" y="1086633"/>
            <a:ext cx="676976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белый контур отражает диапазон фотографической эмульсии различного назначения;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красный пунктирный контур — пространство </a:t>
            </a:r>
            <a:r>
              <a:rPr lang="ru-RU" sz="2000" dirty="0" err="1" smtClean="0"/>
              <a:t>sRGB</a:t>
            </a:r>
            <a:r>
              <a:rPr lang="ru-RU" sz="2000" dirty="0" smtClean="0"/>
              <a:t>, приблизительно соответствующее гамме большинства распространённых мониторов, являющиеся, по сути, стандартом представления графики в сети Интернет;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чёрный сплошной контур — пространство </a:t>
            </a:r>
            <a:r>
              <a:rPr lang="ru-RU" sz="2000" dirty="0" err="1" smtClean="0"/>
              <a:t>Adobe</a:t>
            </a:r>
            <a:r>
              <a:rPr lang="ru-RU" sz="2000" dirty="0" smtClean="0"/>
              <a:t> RGB, включающее цвета, воспроизводимые на печатных машинах, но с использованием первичных цветов;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синий сплошной контур соответствует высококачественной офсетной печати;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синий пунктирный контур отражает охват обычного бытового принтера.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746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76106" y="208547"/>
            <a:ext cx="8610600" cy="1293028"/>
          </a:xfrm>
        </p:spPr>
        <p:txBody>
          <a:bodyPr/>
          <a:lstStyle/>
          <a:p>
            <a:r>
              <a:rPr lang="ru-RU" dirty="0" smtClean="0"/>
              <a:t>Микропроцессор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245895"/>
            <a:ext cx="7695992" cy="4612105"/>
          </a:xfr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301" y="4106780"/>
            <a:ext cx="3379414" cy="239829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02" y="0"/>
            <a:ext cx="2857500" cy="19812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117" y="1343693"/>
            <a:ext cx="2546589" cy="221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5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45895" y="0"/>
            <a:ext cx="8610600" cy="1293028"/>
          </a:xfrm>
        </p:spPr>
        <p:txBody>
          <a:bodyPr/>
          <a:lstStyle/>
          <a:p>
            <a:r>
              <a:rPr lang="ru-RU" dirty="0"/>
              <a:t>Блок регистров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2296" y="1411704"/>
            <a:ext cx="4267199" cy="480698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Регистр процессора — блок ячеек памяти, образующий сверхбыструю оперативную память (СОЗУ) внутри процессора; используется самим процессором и большей частью недоступен программисту: например, при выборке из памяти очередной команды она помещается в регистр команд (англ.), к которому программист обратиться не может.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817" y="1411704"/>
            <a:ext cx="7704184" cy="549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1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1855116" cy="6858000"/>
          </a:xfrm>
        </p:spPr>
        <p:txBody>
          <a:bodyPr>
            <a:normAutofit lnSpcReduction="10000"/>
          </a:bodyPr>
          <a:lstStyle/>
          <a:p>
            <a:r>
              <a:rPr lang="ru-RU" dirty="0" err="1"/>
              <a:t>eax</a:t>
            </a:r>
            <a:r>
              <a:rPr lang="ru-RU" dirty="0"/>
              <a:t>/</a:t>
            </a:r>
            <a:r>
              <a:rPr lang="ru-RU" dirty="0" err="1"/>
              <a:t>ax</a:t>
            </a:r>
            <a:r>
              <a:rPr lang="ru-RU" dirty="0"/>
              <a:t>/</a:t>
            </a:r>
            <a:r>
              <a:rPr lang="ru-RU" dirty="0" err="1"/>
              <a:t>ah</a:t>
            </a:r>
            <a:r>
              <a:rPr lang="ru-RU" dirty="0"/>
              <a:t>/</a:t>
            </a:r>
            <a:r>
              <a:rPr lang="ru-RU" dirty="0" err="1"/>
              <a:t>al</a:t>
            </a:r>
            <a:r>
              <a:rPr lang="ru-RU" dirty="0"/>
              <a:t> (</a:t>
            </a:r>
            <a:r>
              <a:rPr lang="ru-RU" dirty="0" err="1"/>
              <a:t>Accumulator</a:t>
            </a:r>
            <a:r>
              <a:rPr lang="ru-RU" dirty="0"/>
              <a:t> </a:t>
            </a:r>
            <a:r>
              <a:rPr lang="ru-RU" dirty="0" err="1"/>
              <a:t>register</a:t>
            </a:r>
            <a:r>
              <a:rPr lang="ru-RU" dirty="0"/>
              <a:t>) - аккумулятор.</a:t>
            </a:r>
          </a:p>
          <a:p>
            <a:r>
              <a:rPr lang="ru-RU" dirty="0"/>
              <a:t>Применяется для хранения промежуточных данных. В некоторых командах использование этого регистра обязательно;</a:t>
            </a:r>
          </a:p>
          <a:p>
            <a:r>
              <a:rPr lang="ru-RU" dirty="0" err="1"/>
              <a:t>ebx</a:t>
            </a:r>
            <a:r>
              <a:rPr lang="ru-RU" dirty="0"/>
              <a:t>/</a:t>
            </a:r>
            <a:r>
              <a:rPr lang="ru-RU" dirty="0" err="1"/>
              <a:t>bx</a:t>
            </a:r>
            <a:r>
              <a:rPr lang="ru-RU" dirty="0"/>
              <a:t>/</a:t>
            </a:r>
            <a:r>
              <a:rPr lang="ru-RU" dirty="0" err="1"/>
              <a:t>bh</a:t>
            </a:r>
            <a:r>
              <a:rPr lang="ru-RU" dirty="0"/>
              <a:t>/</a:t>
            </a:r>
            <a:r>
              <a:rPr lang="ru-RU" dirty="0" err="1"/>
              <a:t>bl</a:t>
            </a:r>
            <a:r>
              <a:rPr lang="ru-RU" dirty="0"/>
              <a:t> (</a:t>
            </a:r>
            <a:r>
              <a:rPr lang="ru-RU" dirty="0" err="1"/>
              <a:t>Base</a:t>
            </a:r>
            <a:r>
              <a:rPr lang="ru-RU" dirty="0"/>
              <a:t> </a:t>
            </a:r>
            <a:r>
              <a:rPr lang="ru-RU" dirty="0" err="1"/>
              <a:t>register</a:t>
            </a:r>
            <a:r>
              <a:rPr lang="ru-RU" dirty="0"/>
              <a:t>) - базовый </a:t>
            </a:r>
            <a:r>
              <a:rPr lang="ru-RU" dirty="0" smtClean="0"/>
              <a:t>регистр. Часто </a:t>
            </a:r>
            <a:r>
              <a:rPr lang="ru-RU" dirty="0"/>
              <a:t>применяется для хранения базового адреса некоторого объекта в памяти;</a:t>
            </a:r>
          </a:p>
          <a:p>
            <a:r>
              <a:rPr lang="ru-RU" dirty="0" err="1"/>
              <a:t>ecx</a:t>
            </a:r>
            <a:r>
              <a:rPr lang="ru-RU" dirty="0"/>
              <a:t>/</a:t>
            </a:r>
            <a:r>
              <a:rPr lang="ru-RU" dirty="0" err="1"/>
              <a:t>cx</a:t>
            </a:r>
            <a:r>
              <a:rPr lang="ru-RU" dirty="0"/>
              <a:t>/</a:t>
            </a:r>
            <a:r>
              <a:rPr lang="ru-RU" dirty="0" err="1"/>
              <a:t>ch</a:t>
            </a:r>
            <a:r>
              <a:rPr lang="ru-RU" dirty="0"/>
              <a:t>/</a:t>
            </a:r>
            <a:r>
              <a:rPr lang="ru-RU" dirty="0" err="1"/>
              <a:t>cl</a:t>
            </a:r>
            <a:r>
              <a:rPr lang="ru-RU" dirty="0"/>
              <a:t> (</a:t>
            </a:r>
            <a:r>
              <a:rPr lang="ru-RU" dirty="0" err="1"/>
              <a:t>Count</a:t>
            </a:r>
            <a:r>
              <a:rPr lang="ru-RU" dirty="0"/>
              <a:t> </a:t>
            </a:r>
            <a:r>
              <a:rPr lang="ru-RU" dirty="0" err="1"/>
              <a:t>register</a:t>
            </a:r>
            <a:r>
              <a:rPr lang="ru-RU" dirty="0"/>
              <a:t>) - регистр-счетчик.</a:t>
            </a:r>
          </a:p>
          <a:p>
            <a:r>
              <a:rPr lang="ru-RU" dirty="0" err="1" smtClean="0"/>
              <a:t>edx</a:t>
            </a:r>
            <a:r>
              <a:rPr lang="ru-RU" dirty="0" smtClean="0"/>
              <a:t>/</a:t>
            </a:r>
            <a:r>
              <a:rPr lang="ru-RU" dirty="0" err="1" smtClean="0"/>
              <a:t>dx</a:t>
            </a:r>
            <a:r>
              <a:rPr lang="ru-RU" dirty="0" smtClean="0"/>
              <a:t>/</a:t>
            </a:r>
            <a:r>
              <a:rPr lang="ru-RU" dirty="0" err="1" smtClean="0"/>
              <a:t>dh</a:t>
            </a:r>
            <a:r>
              <a:rPr lang="ru-RU" dirty="0" smtClean="0"/>
              <a:t>/</a:t>
            </a:r>
            <a:r>
              <a:rPr lang="ru-RU" dirty="0" err="1" smtClean="0"/>
              <a:t>dl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register</a:t>
            </a:r>
            <a:r>
              <a:rPr lang="ru-RU" dirty="0"/>
              <a:t>) - регистр данных.</a:t>
            </a:r>
          </a:p>
          <a:p>
            <a:r>
              <a:rPr lang="ru-RU" dirty="0"/>
              <a:t>Так же, как и регистр </a:t>
            </a:r>
            <a:r>
              <a:rPr lang="ru-RU" dirty="0" err="1"/>
              <a:t>eax</a:t>
            </a:r>
            <a:r>
              <a:rPr lang="ru-RU" dirty="0"/>
              <a:t>/</a:t>
            </a:r>
            <a:r>
              <a:rPr lang="ru-RU" dirty="0" err="1"/>
              <a:t>ax</a:t>
            </a:r>
            <a:r>
              <a:rPr lang="ru-RU" dirty="0"/>
              <a:t>/</a:t>
            </a:r>
            <a:r>
              <a:rPr lang="ru-RU" dirty="0" err="1"/>
              <a:t>ah</a:t>
            </a:r>
            <a:r>
              <a:rPr lang="ru-RU" dirty="0"/>
              <a:t>/</a:t>
            </a:r>
            <a:r>
              <a:rPr lang="ru-RU" dirty="0" err="1"/>
              <a:t>al</a:t>
            </a:r>
            <a:r>
              <a:rPr lang="ru-RU" dirty="0"/>
              <a:t>, он хранит промежуточные данные. В некоторых командах его использование обязательно; для некоторых команд это происходит неявно</a:t>
            </a:r>
            <a:r>
              <a:rPr lang="ru-RU" dirty="0" smtClean="0"/>
              <a:t>.</a:t>
            </a:r>
          </a:p>
          <a:p>
            <a:r>
              <a:rPr lang="en-US" dirty="0" err="1"/>
              <a:t>esi</a:t>
            </a:r>
            <a:r>
              <a:rPr lang="en-US" dirty="0"/>
              <a:t>/</a:t>
            </a:r>
            <a:r>
              <a:rPr lang="en-US" dirty="0" err="1"/>
              <a:t>si</a:t>
            </a:r>
            <a:r>
              <a:rPr lang="en-US" dirty="0"/>
              <a:t> (Source Index register) - </a:t>
            </a:r>
            <a:r>
              <a:rPr lang="ru-RU" dirty="0"/>
              <a:t>индекс </a:t>
            </a:r>
            <a:r>
              <a:rPr lang="ru-RU" dirty="0" smtClean="0"/>
              <a:t>источника. Этот </a:t>
            </a:r>
            <a:r>
              <a:rPr lang="ru-RU" dirty="0"/>
              <a:t>регистр в цепочечных операциях содержит текущий адрес элемента в строке-источнике;</a:t>
            </a:r>
          </a:p>
          <a:p>
            <a:r>
              <a:rPr lang="en-US" dirty="0" err="1"/>
              <a:t>edi</a:t>
            </a:r>
            <a:r>
              <a:rPr lang="en-US" dirty="0"/>
              <a:t>/di (Destination Index register) - </a:t>
            </a:r>
            <a:r>
              <a:rPr lang="ru-RU" dirty="0"/>
              <a:t>индекс приемника (получателя</a:t>
            </a:r>
            <a:r>
              <a:rPr lang="ru-RU" dirty="0" smtClean="0"/>
              <a:t>).</a:t>
            </a:r>
          </a:p>
          <a:p>
            <a:r>
              <a:rPr lang="ru-RU" dirty="0" err="1"/>
              <a:t>esp</a:t>
            </a:r>
            <a:r>
              <a:rPr lang="ru-RU" dirty="0"/>
              <a:t>/</a:t>
            </a:r>
            <a:r>
              <a:rPr lang="ru-RU" dirty="0" err="1"/>
              <a:t>sp</a:t>
            </a:r>
            <a:r>
              <a:rPr lang="ru-RU" dirty="0"/>
              <a:t> (</a:t>
            </a: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 </a:t>
            </a:r>
            <a:r>
              <a:rPr lang="ru-RU" dirty="0" err="1"/>
              <a:t>register</a:t>
            </a:r>
            <a:r>
              <a:rPr lang="ru-RU" dirty="0"/>
              <a:t>) - регистр указателя стека.</a:t>
            </a:r>
          </a:p>
          <a:p>
            <a:r>
              <a:rPr lang="ru-RU" dirty="0"/>
              <a:t>Содержит указатель вершины стека в текущем сегменте стека.</a:t>
            </a:r>
          </a:p>
          <a:p>
            <a:r>
              <a:rPr lang="ru-RU" dirty="0" err="1"/>
              <a:t>ebp</a:t>
            </a:r>
            <a:r>
              <a:rPr lang="ru-RU" dirty="0"/>
              <a:t>/</a:t>
            </a:r>
            <a:r>
              <a:rPr lang="ru-RU" dirty="0" err="1"/>
              <a:t>bp</a:t>
            </a:r>
            <a:r>
              <a:rPr lang="ru-RU" dirty="0"/>
              <a:t> (</a:t>
            </a:r>
            <a:r>
              <a:rPr lang="ru-RU" dirty="0" err="1"/>
              <a:t>Base</a:t>
            </a:r>
            <a:r>
              <a:rPr lang="ru-RU" dirty="0"/>
              <a:t> </a:t>
            </a:r>
            <a:r>
              <a:rPr lang="ru-RU" dirty="0" err="1"/>
              <a:t>Pointer</a:t>
            </a:r>
            <a:r>
              <a:rPr lang="ru-RU" dirty="0"/>
              <a:t> </a:t>
            </a:r>
            <a:r>
              <a:rPr lang="ru-RU" dirty="0" err="1"/>
              <a:t>register</a:t>
            </a:r>
            <a:r>
              <a:rPr lang="ru-RU" dirty="0"/>
              <a:t>) - регистр указателя базы кадра </a:t>
            </a:r>
            <a:r>
              <a:rPr lang="ru-RU" dirty="0" smtClean="0"/>
              <a:t>стека. Предназначен для организации произвольного доступа к данным внутри стека. Часто регистр </a:t>
            </a:r>
            <a:r>
              <a:rPr lang="ru-RU" dirty="0" err="1" smtClean="0"/>
              <a:t>bp</a:t>
            </a:r>
            <a:r>
              <a:rPr lang="ru-RU" dirty="0" smtClean="0"/>
              <a:t>/</a:t>
            </a:r>
            <a:r>
              <a:rPr lang="ru-RU" dirty="0" err="1" smtClean="0"/>
              <a:t>ebp</a:t>
            </a:r>
            <a:r>
              <a:rPr lang="ru-RU" dirty="0" smtClean="0"/>
              <a:t> хранит адрес начала локальных переменных текущей подпрограммы.</a:t>
            </a:r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7299158" y="22940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489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11" y="-50352"/>
            <a:ext cx="10129083" cy="6908352"/>
          </a:xfrm>
        </p:spPr>
      </p:pic>
    </p:spTree>
    <p:extLst>
      <p:ext uri="{BB962C8B-B14F-4D97-AF65-F5344CB8AC3E}">
        <p14:creationId xmlns:p14="http://schemas.microsoft.com/office/powerpoint/2010/main" val="380713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168" y="0"/>
            <a:ext cx="9160042" cy="6847132"/>
          </a:xfrm>
        </p:spPr>
      </p:pic>
    </p:spTree>
    <p:extLst>
      <p:ext uri="{BB962C8B-B14F-4D97-AF65-F5344CB8AC3E}">
        <p14:creationId xmlns:p14="http://schemas.microsoft.com/office/powerpoint/2010/main" val="210076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10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1_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747</TotalTime>
  <Words>846</Words>
  <Application>Microsoft Office PowerPoint</Application>
  <PresentationFormat>Широкоэкранный</PresentationFormat>
  <Paragraphs>94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Century Gothic</vt:lpstr>
      <vt:lpstr>Times New Roman</vt:lpstr>
      <vt:lpstr>След самолета</vt:lpstr>
      <vt:lpstr>1_След самолета</vt:lpstr>
      <vt:lpstr>Информатика и ИКТ Архитектура компьютерных систем</vt:lpstr>
      <vt:lpstr>Презентация PowerPoint</vt:lpstr>
      <vt:lpstr>Презентация PowerPoint</vt:lpstr>
      <vt:lpstr>ШИНА (BUS)</vt:lpstr>
      <vt:lpstr>Презентация PowerPoint</vt:lpstr>
      <vt:lpstr>ВИДЫ оперативной ПАМЯТИ</vt:lpstr>
      <vt:lpstr>ПАРАМЕТРЫ ОП</vt:lpstr>
      <vt:lpstr>Презентация PowerPoint</vt:lpstr>
      <vt:lpstr>Характеристики ОПЕРАТИВНОЙ ПАМЯТИ</vt:lpstr>
      <vt:lpstr>Презентация PowerPoint</vt:lpstr>
      <vt:lpstr>Типы памяти</vt:lpstr>
      <vt:lpstr>Презентация PowerPoint</vt:lpstr>
      <vt:lpstr>Твердотельные диски (sSD)</vt:lpstr>
      <vt:lpstr>SATA (англ. Serial ATA) — последовательный интерфейс обмена данными с накопителями информации. SATA является развитием параллельного интерфейса ATA (IDE), который после появления SATA был переименован в PATA (Parallel ATA).  ATA (англ. Advanced Technology Attachment) — параллельный интерфейсподключения накопителей</vt:lpstr>
      <vt:lpstr>PCI (от англ.Peripheral component interconnect - взаимосвязь периферийных компонентов) - шина ввода/вывода, предназначенная для подключения периферийных устройств к материнской плате компьютера.   PCI Express, или PCIe, или PCI-E — компьютерная шина, использующая программную модель шины PCI и высокопроизводительный физический протокол, основанный на последовательной передаче данных.</vt:lpstr>
      <vt:lpstr>Видеокарта</vt:lpstr>
      <vt:lpstr>Презентация PowerPoint</vt:lpstr>
      <vt:lpstr>Презентация PowerPoint</vt:lpstr>
      <vt:lpstr>Презентация PowerPoint</vt:lpstr>
      <vt:lpstr>Локус</vt:lpstr>
      <vt:lpstr>Презентация PowerPoint</vt:lpstr>
      <vt:lpstr>Микропроцессор</vt:lpstr>
      <vt:lpstr>Блок регистров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Информатика и ИКТ Архитектура компьютерных систем</dc:title>
  <dc:creator>Diablo</dc:creator>
  <cp:lastModifiedBy>Slava Orusskiy</cp:lastModifiedBy>
  <cp:revision>14</cp:revision>
  <dcterms:created xsi:type="dcterms:W3CDTF">2017-09-06T06:52:18Z</dcterms:created>
  <dcterms:modified xsi:type="dcterms:W3CDTF">2019-12-17T19:19:56Z</dcterms:modified>
</cp:coreProperties>
</file>