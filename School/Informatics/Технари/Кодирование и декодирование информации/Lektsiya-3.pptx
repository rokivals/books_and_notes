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16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F08889-9740-42B0-BB0A-5B2D454C24AD}" type="doc">
      <dgm:prSet loTypeId="urn:microsoft.com/office/officeart/2005/8/layout/orgChart1" loCatId="hierarchy" qsTypeId="urn:microsoft.com/office/officeart/2005/8/quickstyle/3d2" qsCatId="3D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91FF385F-0E3C-49E9-9750-6EF5C3B43B29}">
      <dgm:prSet phldrT="[Текст]"/>
      <dgm:spPr/>
      <dgm:t>
        <a:bodyPr/>
        <a:lstStyle/>
        <a:p>
          <a:r>
            <a:rPr lang="ru-RU" dirty="0" smtClean="0"/>
            <a:t>Кpиптология</a:t>
          </a:r>
          <a:endParaRPr lang="ru-RU" dirty="0"/>
        </a:p>
      </dgm:t>
    </dgm:pt>
    <dgm:pt modelId="{B7F43032-50F8-474A-A8C1-C6B44D837192}" type="parTrans" cxnId="{7229F43C-127F-49EB-9721-7AE13C3F778A}">
      <dgm:prSet/>
      <dgm:spPr/>
      <dgm:t>
        <a:bodyPr/>
        <a:lstStyle/>
        <a:p>
          <a:endParaRPr lang="ru-RU"/>
        </a:p>
      </dgm:t>
    </dgm:pt>
    <dgm:pt modelId="{AB8645E1-7D0F-4F0C-9575-2364CBAC9ECC}" type="sibTrans" cxnId="{7229F43C-127F-49EB-9721-7AE13C3F778A}">
      <dgm:prSet/>
      <dgm:spPr/>
      <dgm:t>
        <a:bodyPr/>
        <a:lstStyle/>
        <a:p>
          <a:endParaRPr lang="ru-RU"/>
        </a:p>
      </dgm:t>
    </dgm:pt>
    <dgm:pt modelId="{3D01C31A-33D1-4B66-AE29-EE51D97D09DC}">
      <dgm:prSet phldrT="[Текст]"/>
      <dgm:spPr/>
      <dgm:t>
        <a:bodyPr/>
        <a:lstStyle/>
        <a:p>
          <a:r>
            <a:rPr lang="ru-RU" dirty="0" smtClean="0"/>
            <a:t>Криптография</a:t>
          </a:r>
          <a:endParaRPr lang="ru-RU" dirty="0"/>
        </a:p>
      </dgm:t>
    </dgm:pt>
    <dgm:pt modelId="{7E3AF916-F98E-435B-A028-6061589ECB84}" type="parTrans" cxnId="{B022776E-F171-47E5-802A-147C5536F005}">
      <dgm:prSet/>
      <dgm:spPr/>
      <dgm:t>
        <a:bodyPr/>
        <a:lstStyle/>
        <a:p>
          <a:endParaRPr lang="ru-RU"/>
        </a:p>
      </dgm:t>
    </dgm:pt>
    <dgm:pt modelId="{AE9913DD-D5A4-46E3-873A-B0117DAF1E38}" type="sibTrans" cxnId="{B022776E-F171-47E5-802A-147C5536F005}">
      <dgm:prSet/>
      <dgm:spPr/>
      <dgm:t>
        <a:bodyPr/>
        <a:lstStyle/>
        <a:p>
          <a:endParaRPr lang="ru-RU"/>
        </a:p>
      </dgm:t>
    </dgm:pt>
    <dgm:pt modelId="{19625C83-D4AD-4928-A359-29424FFD4EDC}">
      <dgm:prSet phldrT="[Текст]"/>
      <dgm:spPr/>
      <dgm:t>
        <a:bodyPr/>
        <a:lstStyle/>
        <a:p>
          <a:r>
            <a:rPr lang="ru-RU" dirty="0" smtClean="0"/>
            <a:t>Криптоанализ</a:t>
          </a:r>
          <a:endParaRPr lang="ru-RU" dirty="0"/>
        </a:p>
      </dgm:t>
    </dgm:pt>
    <dgm:pt modelId="{3D222EFD-FB87-4C5A-B019-52A8E82600CE}" type="parTrans" cxnId="{9F5E0991-4123-429B-95B8-E5698D14EEDF}">
      <dgm:prSet/>
      <dgm:spPr/>
      <dgm:t>
        <a:bodyPr/>
        <a:lstStyle/>
        <a:p>
          <a:endParaRPr lang="ru-RU"/>
        </a:p>
      </dgm:t>
    </dgm:pt>
    <dgm:pt modelId="{5D72C89A-81A9-4C4F-8FA4-886C5B555509}" type="sibTrans" cxnId="{9F5E0991-4123-429B-95B8-E5698D14EEDF}">
      <dgm:prSet/>
      <dgm:spPr/>
      <dgm:t>
        <a:bodyPr/>
        <a:lstStyle/>
        <a:p>
          <a:endParaRPr lang="ru-RU"/>
        </a:p>
      </dgm:t>
    </dgm:pt>
    <dgm:pt modelId="{33E212F7-746D-424E-B148-D92094AFC2BF}" type="pres">
      <dgm:prSet presAssocID="{6AF08889-9740-42B0-BB0A-5B2D454C24A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399747BC-54D2-44DD-B447-22717D1B785B}" type="pres">
      <dgm:prSet presAssocID="{91FF385F-0E3C-49E9-9750-6EF5C3B43B29}" presName="hierRoot1" presStyleCnt="0">
        <dgm:presLayoutVars>
          <dgm:hierBranch val="init"/>
        </dgm:presLayoutVars>
      </dgm:prSet>
      <dgm:spPr/>
    </dgm:pt>
    <dgm:pt modelId="{D8FB28C8-9FDE-4527-B912-AFD85DE9ABDC}" type="pres">
      <dgm:prSet presAssocID="{91FF385F-0E3C-49E9-9750-6EF5C3B43B29}" presName="rootComposite1" presStyleCnt="0"/>
      <dgm:spPr/>
    </dgm:pt>
    <dgm:pt modelId="{FC5069B5-118B-4002-97EF-852EFD02E5E2}" type="pres">
      <dgm:prSet presAssocID="{91FF385F-0E3C-49E9-9750-6EF5C3B43B29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532B551-FA32-40B4-A667-211CEEE418AC}" type="pres">
      <dgm:prSet presAssocID="{91FF385F-0E3C-49E9-9750-6EF5C3B43B29}" presName="rootConnector1" presStyleLbl="node1" presStyleIdx="0" presStyleCnt="0"/>
      <dgm:spPr/>
      <dgm:t>
        <a:bodyPr/>
        <a:lstStyle/>
        <a:p>
          <a:endParaRPr lang="ru-RU"/>
        </a:p>
      </dgm:t>
    </dgm:pt>
    <dgm:pt modelId="{B5612E56-BD59-49A2-A71A-9C3CB62EDF2F}" type="pres">
      <dgm:prSet presAssocID="{91FF385F-0E3C-49E9-9750-6EF5C3B43B29}" presName="hierChild2" presStyleCnt="0"/>
      <dgm:spPr/>
    </dgm:pt>
    <dgm:pt modelId="{8FBD19E0-80CF-4760-A170-C1DC1C83A028}" type="pres">
      <dgm:prSet presAssocID="{7E3AF916-F98E-435B-A028-6061589ECB84}" presName="Name37" presStyleLbl="parChTrans1D2" presStyleIdx="0" presStyleCnt="2"/>
      <dgm:spPr/>
      <dgm:t>
        <a:bodyPr/>
        <a:lstStyle/>
        <a:p>
          <a:endParaRPr lang="ru-RU"/>
        </a:p>
      </dgm:t>
    </dgm:pt>
    <dgm:pt modelId="{CF2F9916-177C-4C02-964F-0B8CD75D6B22}" type="pres">
      <dgm:prSet presAssocID="{3D01C31A-33D1-4B66-AE29-EE51D97D09DC}" presName="hierRoot2" presStyleCnt="0">
        <dgm:presLayoutVars>
          <dgm:hierBranch val="init"/>
        </dgm:presLayoutVars>
      </dgm:prSet>
      <dgm:spPr/>
    </dgm:pt>
    <dgm:pt modelId="{4F7673B7-FE16-4A2F-B304-54ACD61134B2}" type="pres">
      <dgm:prSet presAssocID="{3D01C31A-33D1-4B66-AE29-EE51D97D09DC}" presName="rootComposite" presStyleCnt="0"/>
      <dgm:spPr/>
    </dgm:pt>
    <dgm:pt modelId="{90C7711D-418B-4368-97AA-B0AC880E5505}" type="pres">
      <dgm:prSet presAssocID="{3D01C31A-33D1-4B66-AE29-EE51D97D09DC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EE4DC71-98D8-4E74-B0B3-5BD9C7AC9440}" type="pres">
      <dgm:prSet presAssocID="{3D01C31A-33D1-4B66-AE29-EE51D97D09DC}" presName="rootConnector" presStyleLbl="node2" presStyleIdx="0" presStyleCnt="2"/>
      <dgm:spPr/>
      <dgm:t>
        <a:bodyPr/>
        <a:lstStyle/>
        <a:p>
          <a:endParaRPr lang="ru-RU"/>
        </a:p>
      </dgm:t>
    </dgm:pt>
    <dgm:pt modelId="{6F82608D-1154-40B7-B5B8-E0C35BE6507E}" type="pres">
      <dgm:prSet presAssocID="{3D01C31A-33D1-4B66-AE29-EE51D97D09DC}" presName="hierChild4" presStyleCnt="0"/>
      <dgm:spPr/>
    </dgm:pt>
    <dgm:pt modelId="{339E5975-EAB0-44CC-B9D6-740355DB4598}" type="pres">
      <dgm:prSet presAssocID="{3D01C31A-33D1-4B66-AE29-EE51D97D09DC}" presName="hierChild5" presStyleCnt="0"/>
      <dgm:spPr/>
    </dgm:pt>
    <dgm:pt modelId="{A062C42F-34BC-4A65-8EFE-7178AD7BAE79}" type="pres">
      <dgm:prSet presAssocID="{3D222EFD-FB87-4C5A-B019-52A8E82600CE}" presName="Name37" presStyleLbl="parChTrans1D2" presStyleIdx="1" presStyleCnt="2"/>
      <dgm:spPr/>
      <dgm:t>
        <a:bodyPr/>
        <a:lstStyle/>
        <a:p>
          <a:endParaRPr lang="ru-RU"/>
        </a:p>
      </dgm:t>
    </dgm:pt>
    <dgm:pt modelId="{C7A63CB2-1941-4B9A-A5BB-8D87D84A206A}" type="pres">
      <dgm:prSet presAssocID="{19625C83-D4AD-4928-A359-29424FFD4EDC}" presName="hierRoot2" presStyleCnt="0">
        <dgm:presLayoutVars>
          <dgm:hierBranch val="init"/>
        </dgm:presLayoutVars>
      </dgm:prSet>
      <dgm:spPr/>
    </dgm:pt>
    <dgm:pt modelId="{187F10BC-23F9-45E2-AF4F-B455962980E9}" type="pres">
      <dgm:prSet presAssocID="{19625C83-D4AD-4928-A359-29424FFD4EDC}" presName="rootComposite" presStyleCnt="0"/>
      <dgm:spPr/>
    </dgm:pt>
    <dgm:pt modelId="{F4FCFFC8-ED3B-4A25-8DB0-6039A46DD95F}" type="pres">
      <dgm:prSet presAssocID="{19625C83-D4AD-4928-A359-29424FFD4EDC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2663856-D841-4B1D-92B0-01D43098999F}" type="pres">
      <dgm:prSet presAssocID="{19625C83-D4AD-4928-A359-29424FFD4EDC}" presName="rootConnector" presStyleLbl="node2" presStyleIdx="1" presStyleCnt="2"/>
      <dgm:spPr/>
      <dgm:t>
        <a:bodyPr/>
        <a:lstStyle/>
        <a:p>
          <a:endParaRPr lang="ru-RU"/>
        </a:p>
      </dgm:t>
    </dgm:pt>
    <dgm:pt modelId="{65ACD647-B13B-442A-AD9A-7F23FFA71384}" type="pres">
      <dgm:prSet presAssocID="{19625C83-D4AD-4928-A359-29424FFD4EDC}" presName="hierChild4" presStyleCnt="0"/>
      <dgm:spPr/>
    </dgm:pt>
    <dgm:pt modelId="{70AEC485-80E1-4FFB-8786-2903DAFB7630}" type="pres">
      <dgm:prSet presAssocID="{19625C83-D4AD-4928-A359-29424FFD4EDC}" presName="hierChild5" presStyleCnt="0"/>
      <dgm:spPr/>
    </dgm:pt>
    <dgm:pt modelId="{FA15DDA3-1613-43CD-95B6-7C38FD2F8428}" type="pres">
      <dgm:prSet presAssocID="{91FF385F-0E3C-49E9-9750-6EF5C3B43B29}" presName="hierChild3" presStyleCnt="0"/>
      <dgm:spPr/>
    </dgm:pt>
  </dgm:ptLst>
  <dgm:cxnLst>
    <dgm:cxn modelId="{EA52901D-9B66-4E72-BBAD-D91D07D8AF89}" type="presOf" srcId="{19625C83-D4AD-4928-A359-29424FFD4EDC}" destId="{C2663856-D841-4B1D-92B0-01D43098999F}" srcOrd="1" destOrd="0" presId="urn:microsoft.com/office/officeart/2005/8/layout/orgChart1"/>
    <dgm:cxn modelId="{9F5E0991-4123-429B-95B8-E5698D14EEDF}" srcId="{91FF385F-0E3C-49E9-9750-6EF5C3B43B29}" destId="{19625C83-D4AD-4928-A359-29424FFD4EDC}" srcOrd="1" destOrd="0" parTransId="{3D222EFD-FB87-4C5A-B019-52A8E82600CE}" sibTransId="{5D72C89A-81A9-4C4F-8FA4-886C5B555509}"/>
    <dgm:cxn modelId="{6C4D7041-C3AB-45FA-B324-09D9C5D800B1}" type="presOf" srcId="{7E3AF916-F98E-435B-A028-6061589ECB84}" destId="{8FBD19E0-80CF-4760-A170-C1DC1C83A028}" srcOrd="0" destOrd="0" presId="urn:microsoft.com/office/officeart/2005/8/layout/orgChart1"/>
    <dgm:cxn modelId="{B022776E-F171-47E5-802A-147C5536F005}" srcId="{91FF385F-0E3C-49E9-9750-6EF5C3B43B29}" destId="{3D01C31A-33D1-4B66-AE29-EE51D97D09DC}" srcOrd="0" destOrd="0" parTransId="{7E3AF916-F98E-435B-A028-6061589ECB84}" sibTransId="{AE9913DD-D5A4-46E3-873A-B0117DAF1E38}"/>
    <dgm:cxn modelId="{FBACC7C0-DFC8-4A12-8AF5-B63AA713A85B}" type="presOf" srcId="{3D01C31A-33D1-4B66-AE29-EE51D97D09DC}" destId="{8EE4DC71-98D8-4E74-B0B3-5BD9C7AC9440}" srcOrd="1" destOrd="0" presId="urn:microsoft.com/office/officeart/2005/8/layout/orgChart1"/>
    <dgm:cxn modelId="{E44F6793-90F8-4B15-850B-0C572A030D82}" type="presOf" srcId="{6AF08889-9740-42B0-BB0A-5B2D454C24AD}" destId="{33E212F7-746D-424E-B148-D92094AFC2BF}" srcOrd="0" destOrd="0" presId="urn:microsoft.com/office/officeart/2005/8/layout/orgChart1"/>
    <dgm:cxn modelId="{7229F43C-127F-49EB-9721-7AE13C3F778A}" srcId="{6AF08889-9740-42B0-BB0A-5B2D454C24AD}" destId="{91FF385F-0E3C-49E9-9750-6EF5C3B43B29}" srcOrd="0" destOrd="0" parTransId="{B7F43032-50F8-474A-A8C1-C6B44D837192}" sibTransId="{AB8645E1-7D0F-4F0C-9575-2364CBAC9ECC}"/>
    <dgm:cxn modelId="{16781F2D-D4C2-4BCB-8D57-6E502A74D61D}" type="presOf" srcId="{91FF385F-0E3C-49E9-9750-6EF5C3B43B29}" destId="{A532B551-FA32-40B4-A667-211CEEE418AC}" srcOrd="1" destOrd="0" presId="urn:microsoft.com/office/officeart/2005/8/layout/orgChart1"/>
    <dgm:cxn modelId="{567236C6-B8CB-4105-90D2-79EBDA57B447}" type="presOf" srcId="{91FF385F-0E3C-49E9-9750-6EF5C3B43B29}" destId="{FC5069B5-118B-4002-97EF-852EFD02E5E2}" srcOrd="0" destOrd="0" presId="urn:microsoft.com/office/officeart/2005/8/layout/orgChart1"/>
    <dgm:cxn modelId="{51995596-40B5-4620-A46B-6302AF80DE42}" type="presOf" srcId="{3D01C31A-33D1-4B66-AE29-EE51D97D09DC}" destId="{90C7711D-418B-4368-97AA-B0AC880E5505}" srcOrd="0" destOrd="0" presId="urn:microsoft.com/office/officeart/2005/8/layout/orgChart1"/>
    <dgm:cxn modelId="{F324103B-264C-4503-BB42-3A425F22A537}" type="presOf" srcId="{19625C83-D4AD-4928-A359-29424FFD4EDC}" destId="{F4FCFFC8-ED3B-4A25-8DB0-6039A46DD95F}" srcOrd="0" destOrd="0" presId="urn:microsoft.com/office/officeart/2005/8/layout/orgChart1"/>
    <dgm:cxn modelId="{6407712F-2A98-49E3-80A5-3CA78DC1B4CE}" type="presOf" srcId="{3D222EFD-FB87-4C5A-B019-52A8E82600CE}" destId="{A062C42F-34BC-4A65-8EFE-7178AD7BAE79}" srcOrd="0" destOrd="0" presId="urn:microsoft.com/office/officeart/2005/8/layout/orgChart1"/>
    <dgm:cxn modelId="{40A7CDE2-1EDD-4FDB-9A4C-7C8EC472268A}" type="presParOf" srcId="{33E212F7-746D-424E-B148-D92094AFC2BF}" destId="{399747BC-54D2-44DD-B447-22717D1B785B}" srcOrd="0" destOrd="0" presId="urn:microsoft.com/office/officeart/2005/8/layout/orgChart1"/>
    <dgm:cxn modelId="{45C18658-3279-491D-B59A-48769F63CB6E}" type="presParOf" srcId="{399747BC-54D2-44DD-B447-22717D1B785B}" destId="{D8FB28C8-9FDE-4527-B912-AFD85DE9ABDC}" srcOrd="0" destOrd="0" presId="urn:microsoft.com/office/officeart/2005/8/layout/orgChart1"/>
    <dgm:cxn modelId="{0681C030-1911-41D7-A8AC-2D2DA7ED8B2B}" type="presParOf" srcId="{D8FB28C8-9FDE-4527-B912-AFD85DE9ABDC}" destId="{FC5069B5-118B-4002-97EF-852EFD02E5E2}" srcOrd="0" destOrd="0" presId="urn:microsoft.com/office/officeart/2005/8/layout/orgChart1"/>
    <dgm:cxn modelId="{AC581C7D-0776-4986-B221-D8C86D7EC765}" type="presParOf" srcId="{D8FB28C8-9FDE-4527-B912-AFD85DE9ABDC}" destId="{A532B551-FA32-40B4-A667-211CEEE418AC}" srcOrd="1" destOrd="0" presId="urn:microsoft.com/office/officeart/2005/8/layout/orgChart1"/>
    <dgm:cxn modelId="{F781CE49-B079-4FE5-8BE3-38432430F1E7}" type="presParOf" srcId="{399747BC-54D2-44DD-B447-22717D1B785B}" destId="{B5612E56-BD59-49A2-A71A-9C3CB62EDF2F}" srcOrd="1" destOrd="0" presId="urn:microsoft.com/office/officeart/2005/8/layout/orgChart1"/>
    <dgm:cxn modelId="{966A3B06-10C6-43D2-909D-757644D92A15}" type="presParOf" srcId="{B5612E56-BD59-49A2-A71A-9C3CB62EDF2F}" destId="{8FBD19E0-80CF-4760-A170-C1DC1C83A028}" srcOrd="0" destOrd="0" presId="urn:microsoft.com/office/officeart/2005/8/layout/orgChart1"/>
    <dgm:cxn modelId="{5815BCE7-890A-4EFD-8ACE-624E4F4248D3}" type="presParOf" srcId="{B5612E56-BD59-49A2-A71A-9C3CB62EDF2F}" destId="{CF2F9916-177C-4C02-964F-0B8CD75D6B22}" srcOrd="1" destOrd="0" presId="urn:microsoft.com/office/officeart/2005/8/layout/orgChart1"/>
    <dgm:cxn modelId="{525F5BBA-F88E-4BF6-BFA5-3FD57E6144CB}" type="presParOf" srcId="{CF2F9916-177C-4C02-964F-0B8CD75D6B22}" destId="{4F7673B7-FE16-4A2F-B304-54ACD61134B2}" srcOrd="0" destOrd="0" presId="urn:microsoft.com/office/officeart/2005/8/layout/orgChart1"/>
    <dgm:cxn modelId="{D86306D2-998C-4D65-A353-10A734B4525D}" type="presParOf" srcId="{4F7673B7-FE16-4A2F-B304-54ACD61134B2}" destId="{90C7711D-418B-4368-97AA-B0AC880E5505}" srcOrd="0" destOrd="0" presId="urn:microsoft.com/office/officeart/2005/8/layout/orgChart1"/>
    <dgm:cxn modelId="{D99FB49E-6C8A-4EBD-94CB-B69B52728E0E}" type="presParOf" srcId="{4F7673B7-FE16-4A2F-B304-54ACD61134B2}" destId="{8EE4DC71-98D8-4E74-B0B3-5BD9C7AC9440}" srcOrd="1" destOrd="0" presId="urn:microsoft.com/office/officeart/2005/8/layout/orgChart1"/>
    <dgm:cxn modelId="{A4287F42-2B76-4617-A5F9-0CC52AB2BD8B}" type="presParOf" srcId="{CF2F9916-177C-4C02-964F-0B8CD75D6B22}" destId="{6F82608D-1154-40B7-B5B8-E0C35BE6507E}" srcOrd="1" destOrd="0" presId="urn:microsoft.com/office/officeart/2005/8/layout/orgChart1"/>
    <dgm:cxn modelId="{954BBB47-DAB1-4F71-BEDF-86BC4F3FF3A4}" type="presParOf" srcId="{CF2F9916-177C-4C02-964F-0B8CD75D6B22}" destId="{339E5975-EAB0-44CC-B9D6-740355DB4598}" srcOrd="2" destOrd="0" presId="urn:microsoft.com/office/officeart/2005/8/layout/orgChart1"/>
    <dgm:cxn modelId="{D27AACDC-B325-4634-8ECC-7B894F28E48A}" type="presParOf" srcId="{B5612E56-BD59-49A2-A71A-9C3CB62EDF2F}" destId="{A062C42F-34BC-4A65-8EFE-7178AD7BAE79}" srcOrd="2" destOrd="0" presId="urn:microsoft.com/office/officeart/2005/8/layout/orgChart1"/>
    <dgm:cxn modelId="{854BEE64-4DAB-4FA7-AD48-581764B76349}" type="presParOf" srcId="{B5612E56-BD59-49A2-A71A-9C3CB62EDF2F}" destId="{C7A63CB2-1941-4B9A-A5BB-8D87D84A206A}" srcOrd="3" destOrd="0" presId="urn:microsoft.com/office/officeart/2005/8/layout/orgChart1"/>
    <dgm:cxn modelId="{9FF5E853-EB58-4EAB-82B6-F8610DF77EE0}" type="presParOf" srcId="{C7A63CB2-1941-4B9A-A5BB-8D87D84A206A}" destId="{187F10BC-23F9-45E2-AF4F-B455962980E9}" srcOrd="0" destOrd="0" presId="urn:microsoft.com/office/officeart/2005/8/layout/orgChart1"/>
    <dgm:cxn modelId="{9C52D7F6-1B30-43D2-B14E-8A2CF78B9700}" type="presParOf" srcId="{187F10BC-23F9-45E2-AF4F-B455962980E9}" destId="{F4FCFFC8-ED3B-4A25-8DB0-6039A46DD95F}" srcOrd="0" destOrd="0" presId="urn:microsoft.com/office/officeart/2005/8/layout/orgChart1"/>
    <dgm:cxn modelId="{7D421B39-5E72-4ED3-BFA1-9C4747C19045}" type="presParOf" srcId="{187F10BC-23F9-45E2-AF4F-B455962980E9}" destId="{C2663856-D841-4B1D-92B0-01D43098999F}" srcOrd="1" destOrd="0" presId="urn:microsoft.com/office/officeart/2005/8/layout/orgChart1"/>
    <dgm:cxn modelId="{65873DDA-7DC2-47D2-B077-2E6FA0851F9F}" type="presParOf" srcId="{C7A63CB2-1941-4B9A-A5BB-8D87D84A206A}" destId="{65ACD647-B13B-442A-AD9A-7F23FFA71384}" srcOrd="1" destOrd="0" presId="urn:microsoft.com/office/officeart/2005/8/layout/orgChart1"/>
    <dgm:cxn modelId="{C8C2B31B-1D11-4CA0-9118-F9D0BD306140}" type="presParOf" srcId="{C7A63CB2-1941-4B9A-A5BB-8D87D84A206A}" destId="{70AEC485-80E1-4FFB-8786-2903DAFB7630}" srcOrd="2" destOrd="0" presId="urn:microsoft.com/office/officeart/2005/8/layout/orgChart1"/>
    <dgm:cxn modelId="{172BCFDF-3A32-4E33-AD96-1366E8DD7C6C}" type="presParOf" srcId="{399747BC-54D2-44DD-B447-22717D1B785B}" destId="{FA15DDA3-1613-43CD-95B6-7C38FD2F842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62C42F-34BC-4A65-8EFE-7178AD7BAE79}">
      <dsp:nvSpPr>
        <dsp:cNvPr id="0" name=""/>
        <dsp:cNvSpPr/>
      </dsp:nvSpPr>
      <dsp:spPr>
        <a:xfrm>
          <a:off x="1924236" y="969370"/>
          <a:ext cx="1053032" cy="3655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757"/>
              </a:lnTo>
              <a:lnTo>
                <a:pt x="1053032" y="182757"/>
              </a:lnTo>
              <a:lnTo>
                <a:pt x="1053032" y="36551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BD19E0-80CF-4760-A170-C1DC1C83A028}">
      <dsp:nvSpPr>
        <dsp:cNvPr id="0" name=""/>
        <dsp:cNvSpPr/>
      </dsp:nvSpPr>
      <dsp:spPr>
        <a:xfrm>
          <a:off x="871203" y="969370"/>
          <a:ext cx="1053032" cy="365515"/>
        </a:xfrm>
        <a:custGeom>
          <a:avLst/>
          <a:gdLst/>
          <a:ahLst/>
          <a:cxnLst/>
          <a:rect l="0" t="0" r="0" b="0"/>
          <a:pathLst>
            <a:path>
              <a:moveTo>
                <a:pt x="1053032" y="0"/>
              </a:moveTo>
              <a:lnTo>
                <a:pt x="1053032" y="182757"/>
              </a:lnTo>
              <a:lnTo>
                <a:pt x="0" y="182757"/>
              </a:lnTo>
              <a:lnTo>
                <a:pt x="0" y="36551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5069B5-118B-4002-97EF-852EFD02E5E2}">
      <dsp:nvSpPr>
        <dsp:cNvPr id="0" name=""/>
        <dsp:cNvSpPr/>
      </dsp:nvSpPr>
      <dsp:spPr>
        <a:xfrm>
          <a:off x="1053960" y="99095"/>
          <a:ext cx="1740550" cy="8702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Кpиптология</a:t>
          </a:r>
          <a:endParaRPr lang="ru-RU" sz="2200" kern="1200" dirty="0"/>
        </a:p>
      </dsp:txBody>
      <dsp:txXfrm>
        <a:off x="1053960" y="99095"/>
        <a:ext cx="1740550" cy="870275"/>
      </dsp:txXfrm>
    </dsp:sp>
    <dsp:sp modelId="{90C7711D-418B-4368-97AA-B0AC880E5505}">
      <dsp:nvSpPr>
        <dsp:cNvPr id="0" name=""/>
        <dsp:cNvSpPr/>
      </dsp:nvSpPr>
      <dsp:spPr>
        <a:xfrm>
          <a:off x="927" y="1334885"/>
          <a:ext cx="1740550" cy="87027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Криптография</a:t>
          </a:r>
          <a:endParaRPr lang="ru-RU" sz="2200" kern="1200" dirty="0"/>
        </a:p>
      </dsp:txBody>
      <dsp:txXfrm>
        <a:off x="927" y="1334885"/>
        <a:ext cx="1740550" cy="870275"/>
      </dsp:txXfrm>
    </dsp:sp>
    <dsp:sp modelId="{F4FCFFC8-ED3B-4A25-8DB0-6039A46DD95F}">
      <dsp:nvSpPr>
        <dsp:cNvPr id="0" name=""/>
        <dsp:cNvSpPr/>
      </dsp:nvSpPr>
      <dsp:spPr>
        <a:xfrm>
          <a:off x="2106993" y="1334885"/>
          <a:ext cx="1740550" cy="87027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smtClean="0"/>
            <a:t>Криптоанализ</a:t>
          </a:r>
          <a:endParaRPr lang="ru-RU" sz="2200" kern="1200" dirty="0"/>
        </a:p>
      </dsp:txBody>
      <dsp:txXfrm>
        <a:off x="2106993" y="1334885"/>
        <a:ext cx="1740550" cy="8702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1FAEA-1F6E-4FAF-A13C-9FABA875C55B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2C164A-411B-4089-8A58-776E0276E99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352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26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 smtClean="0"/>
              <a:t>Если подбросить монету и проследить, какой стороной она упадет, то мы получим определенную информацию. Обе стороны монеты "равноправны", поэтому одинаково вероятно, что выпадет как одна, так и другая сторона. В таких случаях говорят, что событие несет информацию в </a:t>
            </a:r>
            <a:r>
              <a:rPr lang="ru-RU" sz="1200" b="1" dirty="0" smtClean="0"/>
              <a:t>1 бит</a:t>
            </a:r>
            <a:r>
              <a:rPr lang="ru-RU" sz="1200" dirty="0" smtClean="0"/>
              <a:t>. Если положить в мешок два шарика разного цвета, то, вытащив вслепую один шар, мы также получим информацию о цвете шара в 1 бит.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077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Основное назначение файлов - хранить информацию. Они также предназначены для передачи данных от программы к программе и от системы к системе.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228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870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060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7DA2-D7AC-4744-B52B-41EDB100F456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FA5F-DE4F-45F5-9C3C-C398727C54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7DA2-D7AC-4744-B52B-41EDB100F456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FA5F-DE4F-45F5-9C3C-C398727C54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7DA2-D7AC-4744-B52B-41EDB100F456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FA5F-DE4F-45F5-9C3C-C398727C54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7DA2-D7AC-4744-B52B-41EDB100F456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FA5F-DE4F-45F5-9C3C-C398727C54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7DA2-D7AC-4744-B52B-41EDB100F456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FA5F-DE4F-45F5-9C3C-C398727C54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7DA2-D7AC-4744-B52B-41EDB100F456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FA5F-DE4F-45F5-9C3C-C398727C54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7DA2-D7AC-4744-B52B-41EDB100F456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FA5F-DE4F-45F5-9C3C-C398727C54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7DA2-D7AC-4744-B52B-41EDB100F456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FA5F-DE4F-45F5-9C3C-C398727C54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7DA2-D7AC-4744-B52B-41EDB100F456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FA5F-DE4F-45F5-9C3C-C398727C54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7DA2-D7AC-4744-B52B-41EDB100F456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FA5F-DE4F-45F5-9C3C-C398727C54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7DA2-D7AC-4744-B52B-41EDB100F456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FA5F-DE4F-45F5-9C3C-C398727C543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27DA2-D7AC-4744-B52B-41EDB100F456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FFA5F-DE4F-45F5-9C3C-C398727C543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0" y="1628800"/>
            <a:ext cx="5148064" cy="194421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0" y="1700808"/>
            <a:ext cx="5220072" cy="194421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400" b="1" i="1" dirty="0" smtClean="0">
                <a:solidFill>
                  <a:schemeClr val="bg1"/>
                </a:solidFill>
              </a:rPr>
              <a:t>Кpиптология</a:t>
            </a:r>
            <a:r>
              <a:rPr lang="ru-RU" sz="2400" i="1" dirty="0" smtClean="0">
                <a:solidFill>
                  <a:schemeClr val="bg1"/>
                </a:solidFill>
              </a:rPr>
              <a:t> </a:t>
            </a:r>
          </a:p>
          <a:p>
            <a:pPr marL="0" indent="0" algn="just">
              <a:buNone/>
            </a:pPr>
            <a:r>
              <a:rPr lang="ru-RU" sz="2400" i="1" dirty="0" smtClean="0">
                <a:solidFill>
                  <a:schemeClr val="bg1"/>
                </a:solidFill>
              </a:rPr>
              <a:t>(криптос </a:t>
            </a:r>
            <a:r>
              <a:rPr lang="ru-RU" sz="2400" i="1" dirty="0">
                <a:solidFill>
                  <a:schemeClr val="bg1"/>
                </a:solidFill>
              </a:rPr>
              <a:t>– тайный, логос – </a:t>
            </a:r>
            <a:r>
              <a:rPr lang="ru-RU" sz="2400" i="1" dirty="0" smtClean="0">
                <a:solidFill>
                  <a:schemeClr val="bg1"/>
                </a:solidFill>
              </a:rPr>
              <a:t>наука) – наука у защите и скрытие информации. </a:t>
            </a:r>
            <a:endParaRPr lang="ru-RU" sz="2400" i="1" dirty="0">
              <a:solidFill>
                <a:schemeClr val="bg1"/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Наука Кpиптология.</a:t>
            </a:r>
            <a:b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200" i="1" dirty="0">
                <a:solidFill>
                  <a:schemeClr val="bg1"/>
                </a:solidFill>
              </a:rPr>
              <a:t>Одна из наиболее важных задач (всего общества) – задача кодирования сообщений и шифрования </a:t>
            </a:r>
            <a:r>
              <a:rPr lang="ru-RU" sz="2200" i="1" dirty="0" smtClean="0">
                <a:solidFill>
                  <a:schemeClr val="bg1"/>
                </a:solidFill>
              </a:rPr>
              <a:t>информации</a:t>
            </a:r>
            <a:endParaRPr lang="ru-RU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25533459"/>
              </p:ext>
            </p:extLst>
          </p:nvPr>
        </p:nvGraphicFramePr>
        <p:xfrm>
          <a:off x="5220072" y="1484786"/>
          <a:ext cx="3848472" cy="230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9512" y="3789041"/>
            <a:ext cx="89644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sz="2000" b="1" i="1" dirty="0" smtClean="0"/>
              <a:t>1. Криптография(криптос </a:t>
            </a:r>
            <a:r>
              <a:rPr lang="ru-RU" sz="2000" b="1" i="1" dirty="0"/>
              <a:t>- тайна и грофейн – писать</a:t>
            </a:r>
            <a:r>
              <a:rPr lang="ru-RU" sz="2000" b="1" i="1" dirty="0" smtClean="0"/>
              <a:t>) </a:t>
            </a:r>
            <a:r>
              <a:rPr lang="ru-RU" sz="2000" i="1" dirty="0" smtClean="0"/>
              <a:t>занимается исследованием систем </a:t>
            </a:r>
            <a:r>
              <a:rPr lang="ru-RU" sz="2000" i="1" dirty="0"/>
              <a:t>перекодировки сообщения с целью сделать его непонятным для непосвященных лиц и дисциплина, изучающая общие свойства и принципы систем </a:t>
            </a:r>
            <a:r>
              <a:rPr lang="ru-RU" sz="2000" i="1" dirty="0" smtClean="0"/>
              <a:t>тайнописи, </a:t>
            </a:r>
          </a:p>
          <a:p>
            <a:pPr>
              <a:lnSpc>
                <a:spcPct val="150000"/>
              </a:lnSpc>
            </a:pPr>
            <a:r>
              <a:rPr lang="ru-RU" sz="2000" i="1" dirty="0" smtClean="0"/>
              <a:t>2. а </a:t>
            </a:r>
            <a:r>
              <a:rPr lang="ru-RU" sz="2000" b="1" i="1" dirty="0" smtClean="0"/>
              <a:t>Криптоанализ</a:t>
            </a:r>
            <a:r>
              <a:rPr lang="ru-RU" sz="2000" i="1" dirty="0" smtClean="0"/>
              <a:t> </a:t>
            </a:r>
            <a:r>
              <a:rPr lang="ru-RU" sz="2000" i="1" dirty="0"/>
              <a:t>– исследованием возможности </a:t>
            </a:r>
            <a:r>
              <a:rPr lang="ru-RU" sz="2000" i="1" dirty="0" smtClean="0"/>
              <a:t>расшифровки информации </a:t>
            </a:r>
            <a:r>
              <a:rPr lang="ru-RU" sz="2000" i="1" dirty="0"/>
              <a:t>без ключа</a:t>
            </a:r>
            <a:r>
              <a:rPr lang="ru-RU" sz="2000" i="1" dirty="0" smtClean="0"/>
              <a:t>.</a:t>
            </a:r>
            <a:endParaRPr lang="ru-RU" sz="2000" i="1" dirty="0"/>
          </a:p>
        </p:txBody>
      </p:sp>
      <p:sp>
        <p:nvSpPr>
          <p:cNvPr id="9" name="TextBox 8"/>
          <p:cNvSpPr txBox="1"/>
          <p:nvPr/>
        </p:nvSpPr>
        <p:spPr>
          <a:xfrm>
            <a:off x="-22126" y="20266"/>
            <a:ext cx="5577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Лекция 3: Кодирование и шифрование информации</a:t>
            </a:r>
            <a:r>
              <a:rPr lang="ru-RU" sz="1600" b="1" dirty="0" smtClean="0">
                <a:solidFill>
                  <a:schemeClr val="bg1"/>
                </a:solidFill>
              </a:rPr>
              <a:t>.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23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539552" y="3645025"/>
            <a:ext cx="8280920" cy="72008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539552" y="1628800"/>
            <a:ext cx="8136904" cy="72008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79512" y="1600201"/>
            <a:ext cx="8856984" cy="514116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b="1" i="1" u="sng" dirty="0" smtClean="0">
                <a:solidFill>
                  <a:schemeClr val="accent2"/>
                </a:solidFill>
              </a:rPr>
              <a:t>Код</a:t>
            </a:r>
            <a:r>
              <a:rPr lang="ru-RU" b="1" dirty="0" smtClean="0">
                <a:solidFill>
                  <a:schemeClr val="accent2"/>
                </a:solidFill>
              </a:rPr>
              <a:t> </a:t>
            </a:r>
            <a:r>
              <a:rPr lang="ru-RU" b="1" dirty="0">
                <a:solidFill>
                  <a:schemeClr val="bg1"/>
                </a:solidFill>
              </a:rPr>
              <a:t>– правило соответствия набора знаков одного множества Х знакам другого множества Y. </a:t>
            </a:r>
            <a:endParaRPr lang="ru-RU" b="1" dirty="0" smtClean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ru-RU" dirty="0" smtClean="0"/>
              <a:t>Если </a:t>
            </a:r>
            <a:r>
              <a:rPr lang="ru-RU" dirty="0"/>
              <a:t>каждому символу Х при кодировании соответствует отдельный знак Y, то это </a:t>
            </a:r>
            <a:r>
              <a:rPr lang="ru-RU" b="1" i="1" u="sng" dirty="0">
                <a:solidFill>
                  <a:schemeClr val="accent2"/>
                </a:solidFill>
              </a:rPr>
              <a:t>кодирование</a:t>
            </a:r>
            <a:r>
              <a:rPr lang="ru-RU" dirty="0"/>
              <a:t>. Если для каждого символа из Y однозначно отыщется по некоторому правилу его прообраз в X, то это правило называется </a:t>
            </a:r>
            <a:r>
              <a:rPr lang="ru-RU" b="1" i="1" u="sng" dirty="0">
                <a:solidFill>
                  <a:schemeClr val="accent2"/>
                </a:solidFill>
              </a:rPr>
              <a:t>декодированием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</a:pPr>
            <a:r>
              <a:rPr lang="ru-RU" b="1" i="1" u="sng" dirty="0">
                <a:solidFill>
                  <a:schemeClr val="accent2"/>
                </a:solidFill>
              </a:rPr>
              <a:t>Кодирование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  <a:r>
              <a:rPr lang="ru-RU" b="1" dirty="0">
                <a:solidFill>
                  <a:schemeClr val="bg1"/>
                </a:solidFill>
              </a:rPr>
              <a:t>– процесс преобразования букв (слов) алфавита Х в буквы (слова) алфавита Y.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При представлении сообщений в ЭВМ все символы кодируются байтами</a:t>
            </a:r>
            <a:r>
              <a:rPr lang="ru-RU" dirty="0" smtClean="0"/>
              <a:t>. </a:t>
            </a:r>
            <a:r>
              <a:rPr lang="ru-RU" b="1" u="sng" dirty="0" smtClean="0">
                <a:solidFill>
                  <a:schemeClr val="accent2"/>
                </a:solidFill>
              </a:rPr>
              <a:t>ВНИМАНИЕ: </a:t>
            </a:r>
            <a:r>
              <a:rPr lang="ru-RU" u="sng" dirty="0" smtClean="0">
                <a:solidFill>
                  <a:schemeClr val="accent2"/>
                </a:solidFill>
              </a:rPr>
              <a:t>Мин. единица измерения информации в информатике – 1 байт.</a:t>
            </a:r>
            <a:endParaRPr lang="ru-RU" dirty="0" smtClean="0"/>
          </a:p>
          <a:p>
            <a:pPr marL="0" indent="0" algn="r">
              <a:buNone/>
            </a:pPr>
            <a:r>
              <a:rPr lang="ru-RU" sz="2600" i="1" dirty="0" smtClean="0"/>
              <a:t>Пример: </a:t>
            </a:r>
          </a:p>
          <a:p>
            <a:pPr marL="0" indent="0" algn="r">
              <a:buNone/>
            </a:pPr>
            <a:r>
              <a:rPr lang="ru-RU" sz="2600" i="1" dirty="0" smtClean="0"/>
              <a:t>Если </a:t>
            </a:r>
            <a:r>
              <a:rPr lang="ru-RU" sz="2600" i="1" dirty="0"/>
              <a:t>каждый цвет кодировать двумя битами, то можно закодировать не более 2</a:t>
            </a:r>
            <a:r>
              <a:rPr lang="ru-RU" sz="2600" i="1" baseline="30000" dirty="0"/>
              <a:t>2</a:t>
            </a:r>
            <a:r>
              <a:rPr lang="ru-RU" sz="2600" i="1" dirty="0"/>
              <a:t> = 4 цветов, тремя – 2</a:t>
            </a:r>
            <a:r>
              <a:rPr lang="ru-RU" sz="2600" i="1" baseline="30000" dirty="0"/>
              <a:t>3</a:t>
            </a:r>
            <a:r>
              <a:rPr lang="ru-RU" sz="2600" i="1" dirty="0"/>
              <a:t> = 8 цветов, восемью битами (байтом) – 256 цветов. Для кодирования всех символов на клавиатуре компьютера достаточно байтов</a:t>
            </a:r>
            <a:r>
              <a:rPr lang="ru-RU" sz="2600" i="1" dirty="0" smtClean="0"/>
              <a:t>.</a:t>
            </a:r>
            <a:endParaRPr lang="ru-RU" sz="2600" i="1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Кодирование и Шифрование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Слайд2: </a:t>
            </a:r>
            <a:r>
              <a:rPr lang="ru-RU" b="1" u="sng" dirty="0">
                <a:solidFill>
                  <a:srgbClr val="FF0000"/>
                </a:solidFill>
              </a:rPr>
              <a:t>Шифрование</a:t>
            </a:r>
            <a:endParaRPr lang="ru-RU" b="1" dirty="0"/>
          </a:p>
        </p:txBody>
      </p:sp>
      <p:sp>
        <p:nvSpPr>
          <p:cNvPr id="6" name="TextBox 5"/>
          <p:cNvSpPr txBox="1"/>
          <p:nvPr/>
        </p:nvSpPr>
        <p:spPr>
          <a:xfrm>
            <a:off x="-22126" y="20266"/>
            <a:ext cx="5577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Лекция 3: Кодирование и шифрование информации</a:t>
            </a:r>
            <a:r>
              <a:rPr lang="ru-RU" sz="1600" b="1" dirty="0" smtClean="0">
                <a:solidFill>
                  <a:schemeClr val="bg1"/>
                </a:solidFill>
              </a:rPr>
              <a:t>.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7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2195736" y="5229201"/>
            <a:ext cx="4752528" cy="792088"/>
          </a:xfrm>
          <a:prstGeom prst="roundRect">
            <a:avLst/>
          </a:prstGeom>
          <a:solidFill>
            <a:schemeClr val="tx1"/>
          </a:solidFill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0" y="1556793"/>
            <a:ext cx="9144000" cy="530120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Сообщение, которое мы хотим передать адресату, назовем </a:t>
            </a:r>
            <a:r>
              <a:rPr lang="ru-RU" b="1" dirty="0">
                <a:solidFill>
                  <a:schemeClr val="accent2"/>
                </a:solidFill>
              </a:rPr>
              <a:t>открытым сообщением. </a:t>
            </a:r>
            <a:r>
              <a:rPr lang="ru-RU" dirty="0"/>
              <a:t>Оно, естественно, определено над некоторым </a:t>
            </a:r>
            <a:r>
              <a:rPr lang="ru-RU" b="1" dirty="0">
                <a:solidFill>
                  <a:schemeClr val="accent2"/>
                </a:solidFill>
              </a:rPr>
              <a:t>алфавитом</a:t>
            </a:r>
            <a:r>
              <a:rPr lang="ru-RU" dirty="0"/>
              <a:t>.</a:t>
            </a:r>
          </a:p>
          <a:p>
            <a:r>
              <a:rPr lang="ru-RU" b="1" dirty="0">
                <a:solidFill>
                  <a:schemeClr val="accent2"/>
                </a:solidFill>
              </a:rPr>
              <a:t>Зашифрованное сообщение </a:t>
            </a:r>
            <a:r>
              <a:rPr lang="ru-RU" dirty="0"/>
              <a:t>может быть построено над другим алфавитом. Назовем его </a:t>
            </a:r>
            <a:r>
              <a:rPr lang="ru-RU" b="1" dirty="0">
                <a:solidFill>
                  <a:schemeClr val="accent2"/>
                </a:solidFill>
              </a:rPr>
              <a:t>закрытым сообщением. </a:t>
            </a:r>
            <a:r>
              <a:rPr lang="ru-RU" dirty="0"/>
              <a:t>Процесс преобразования открытого сообщения в закрытое сообщение и есть </a:t>
            </a:r>
            <a:r>
              <a:rPr lang="ru-RU" b="1" dirty="0" smtClean="0">
                <a:solidFill>
                  <a:schemeClr val="accent2"/>
                </a:solidFill>
              </a:rPr>
              <a:t>шифрование</a:t>
            </a:r>
            <a:r>
              <a:rPr lang="ru-RU" dirty="0" smtClean="0">
                <a:solidFill>
                  <a:schemeClr val="accent2"/>
                </a:solidFill>
              </a:rPr>
              <a:t>.</a:t>
            </a:r>
            <a:endParaRPr lang="ru-RU" dirty="0"/>
          </a:p>
          <a:p>
            <a:r>
              <a:rPr lang="ru-RU" dirty="0"/>
              <a:t>Если А – открытое сообщение, В – закрытое сообщение ( шифр ) , f – правило шифрования, то f(A) = B.</a:t>
            </a:r>
          </a:p>
          <a:p>
            <a:pPr marL="0" indent="0">
              <a:buNone/>
            </a:pPr>
            <a:r>
              <a:rPr lang="ru-RU" b="1" u="sng" dirty="0" smtClean="0">
                <a:solidFill>
                  <a:schemeClr val="accent2"/>
                </a:solidFill>
              </a:rPr>
              <a:t>ВНИМАНИЕ: </a:t>
            </a:r>
            <a:r>
              <a:rPr lang="ru-RU" u="sng" dirty="0" smtClean="0"/>
              <a:t>При </a:t>
            </a:r>
            <a:r>
              <a:rPr lang="ru-RU" u="sng" dirty="0"/>
              <a:t>кодировании нет такого секретного ключа, так как кодирование ставит целью лишь более сжатое, компактное представление сообщения.</a:t>
            </a:r>
          </a:p>
          <a:p>
            <a:pPr marL="0" indent="0">
              <a:buNone/>
            </a:pPr>
            <a:r>
              <a:rPr lang="ru-RU" dirty="0"/>
              <a:t>Если k – </a:t>
            </a:r>
            <a:r>
              <a:rPr lang="ru-RU" b="1" dirty="0">
                <a:solidFill>
                  <a:schemeClr val="accent2"/>
                </a:solidFill>
              </a:rPr>
              <a:t>ключ</a:t>
            </a:r>
            <a:r>
              <a:rPr lang="ru-RU" dirty="0"/>
              <a:t>, то можно записать </a:t>
            </a:r>
            <a:endParaRPr lang="ru-RU" dirty="0" smtClean="0"/>
          </a:p>
          <a:p>
            <a:pPr marL="0" indent="0" algn="ctr">
              <a:buNone/>
            </a:pPr>
            <a:r>
              <a:rPr lang="ru-RU" b="1" dirty="0" smtClean="0">
                <a:solidFill>
                  <a:schemeClr val="bg1"/>
                </a:solidFill>
              </a:rPr>
              <a:t>f(k(A</a:t>
            </a:r>
            <a:r>
              <a:rPr lang="ru-RU" b="1" dirty="0">
                <a:solidFill>
                  <a:schemeClr val="bg1"/>
                </a:solidFill>
              </a:rPr>
              <a:t>)) = </a:t>
            </a:r>
            <a:r>
              <a:rPr lang="ru-RU" b="1" dirty="0" smtClean="0">
                <a:solidFill>
                  <a:schemeClr val="bg1"/>
                </a:solidFill>
              </a:rPr>
              <a:t>B, должно </a:t>
            </a:r>
            <a:r>
              <a:rPr lang="ru-RU" b="1" dirty="0">
                <a:solidFill>
                  <a:schemeClr val="bg1"/>
                </a:solidFill>
              </a:rPr>
              <a:t>быть обратимым, </a:t>
            </a:r>
            <a:endParaRPr lang="ru-RU" b="1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ru-RU" b="1" dirty="0" smtClean="0">
                <a:solidFill>
                  <a:schemeClr val="bg1"/>
                </a:solidFill>
              </a:rPr>
              <a:t>то </a:t>
            </a:r>
            <a:r>
              <a:rPr lang="ru-RU" b="1" dirty="0">
                <a:solidFill>
                  <a:schemeClr val="bg1"/>
                </a:solidFill>
              </a:rPr>
              <a:t>есть f(k(B)) = </a:t>
            </a:r>
            <a:r>
              <a:rPr lang="ru-RU" b="1" dirty="0" smtClean="0">
                <a:solidFill>
                  <a:schemeClr val="bg1"/>
                </a:solidFill>
              </a:rPr>
              <a:t>A</a:t>
            </a:r>
          </a:p>
          <a:p>
            <a:pPr marL="0" indent="0">
              <a:buNone/>
            </a:pPr>
            <a:r>
              <a:rPr lang="ru-RU" dirty="0" smtClean="0"/>
              <a:t>Совокупность </a:t>
            </a:r>
            <a:r>
              <a:rPr lang="ru-RU" dirty="0"/>
              <a:t>преобразования f(k) и соответствия множества k называется </a:t>
            </a:r>
            <a:r>
              <a:rPr lang="ru-RU" b="1" dirty="0">
                <a:solidFill>
                  <a:schemeClr val="accent2"/>
                </a:solidFill>
              </a:rPr>
              <a:t>шифром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200" dirty="0">
                <a:solidFill>
                  <a:schemeClr val="bg1"/>
                </a:solidFill>
                <a:effectLst/>
              </a:rPr>
              <a:t>Кодирование и Шифрование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 smtClean="0"/>
              <a:t>Слайд2: </a:t>
            </a:r>
            <a:r>
              <a:rPr lang="ru-RU" b="1" u="sng" dirty="0">
                <a:solidFill>
                  <a:srgbClr val="FF0000"/>
                </a:solidFill>
              </a:rPr>
              <a:t>Шифрование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-22126" y="20266"/>
            <a:ext cx="5577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Лекция 3: Кодирование и шифрование информации</a:t>
            </a:r>
            <a:r>
              <a:rPr lang="ru-RU" sz="1600" b="1" dirty="0" smtClean="0">
                <a:solidFill>
                  <a:schemeClr val="bg1"/>
                </a:solidFill>
              </a:rPr>
              <a:t>.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383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0" y="3501009"/>
            <a:ext cx="9144000" cy="122413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0" y="1556792"/>
            <a:ext cx="7884368" cy="86409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0" y="1556793"/>
            <a:ext cx="9144000" cy="5301208"/>
          </a:xfrm>
        </p:spPr>
        <p:txBody>
          <a:bodyPr>
            <a:noAutofit/>
          </a:bodyPr>
          <a:lstStyle/>
          <a:p>
            <a:r>
              <a:rPr lang="ru-RU" sz="2400" b="1" i="1" u="sng" dirty="0" smtClean="0">
                <a:solidFill>
                  <a:srgbClr val="FFC000"/>
                </a:solidFill>
              </a:rPr>
              <a:t>Шифр </a:t>
            </a:r>
            <a:r>
              <a:rPr lang="ru-RU" sz="2400" b="1" i="1" u="sng" dirty="0">
                <a:solidFill>
                  <a:srgbClr val="FFC000"/>
                </a:solidFill>
              </a:rPr>
              <a:t>перестановки </a:t>
            </a:r>
            <a:r>
              <a:rPr lang="ru-RU" sz="2400" dirty="0">
                <a:solidFill>
                  <a:schemeClr val="bg1"/>
                </a:solidFill>
              </a:rPr>
              <a:t>изменяет только порядок следования символов исходного сообщения. </a:t>
            </a:r>
            <a:endParaRPr lang="ru-RU" sz="2400" dirty="0" smtClean="0">
              <a:solidFill>
                <a:schemeClr val="bg1"/>
              </a:solidFill>
            </a:endParaRPr>
          </a:p>
          <a:p>
            <a:pPr marL="0" indent="0" algn="r">
              <a:buNone/>
            </a:pPr>
            <a:r>
              <a:rPr lang="ru-RU" sz="2000" i="1" dirty="0" smtClean="0"/>
              <a:t>Это </a:t>
            </a:r>
            <a:r>
              <a:rPr lang="ru-RU" sz="2000" i="1" dirty="0"/>
              <a:t>такие шифры, преобразования которых приводят к изменению только следования символов открытого исходного сообщения</a:t>
            </a:r>
            <a:r>
              <a:rPr lang="ru-RU" sz="2000" i="1" dirty="0" smtClean="0"/>
              <a:t>.</a:t>
            </a:r>
          </a:p>
          <a:p>
            <a:pPr marL="0" indent="0" algn="r">
              <a:buNone/>
            </a:pPr>
            <a:endParaRPr lang="ru-RU" sz="2000" i="1" dirty="0"/>
          </a:p>
          <a:p>
            <a:r>
              <a:rPr lang="ru-RU" sz="2400" b="1" i="1" u="sng" dirty="0">
                <a:solidFill>
                  <a:srgbClr val="FFC000"/>
                </a:solidFill>
              </a:rPr>
              <a:t>Шифр замены</a:t>
            </a:r>
            <a:r>
              <a:rPr lang="ru-RU" sz="2400" b="1" i="1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заменяет каждый символ кодируемого сообщения на другой(ие) символ(ы), не изменяя порядок их следования. </a:t>
            </a:r>
            <a:endParaRPr lang="ru-RU" sz="2400" dirty="0" smtClean="0">
              <a:solidFill>
                <a:schemeClr val="bg1"/>
              </a:solidFill>
            </a:endParaRPr>
          </a:p>
          <a:p>
            <a:pPr marL="0" indent="0" algn="r">
              <a:buNone/>
            </a:pPr>
            <a:r>
              <a:rPr lang="ru-RU" sz="2000" i="1" dirty="0" smtClean="0"/>
              <a:t>Это </a:t>
            </a:r>
            <a:r>
              <a:rPr lang="ru-RU" sz="2000" i="1" dirty="0"/>
              <a:t>такие шифры, преобразования которых приводят к замене каждого символа открытого сообщения на другие символы, причем порядок следования символов закрытого сообщения совпадает с порядком следования соответствующих символов открытого сообщения.</a:t>
            </a:r>
          </a:p>
          <a:p>
            <a:endParaRPr lang="ru-RU" sz="2400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Шифры</a:t>
            </a:r>
            <a:r>
              <a:rPr lang="ru-RU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b="1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перестановки</a:t>
            </a:r>
            <a:r>
              <a:rPr lang="ru-RU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/ </a:t>
            </a:r>
            <a:r>
              <a:rPr lang="ru-RU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замены</a:t>
            </a:r>
            <a:endParaRPr lang="ru-RU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22126" y="20266"/>
            <a:ext cx="5577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Лекция 3: Кодирование и шифрование информации</a:t>
            </a:r>
            <a:r>
              <a:rPr lang="ru-RU" sz="1600" b="1" dirty="0" smtClean="0">
                <a:solidFill>
                  <a:schemeClr val="bg1"/>
                </a:solidFill>
              </a:rPr>
              <a:t>.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35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1498975"/>
              </p:ext>
            </p:extLst>
          </p:nvPr>
        </p:nvGraphicFramePr>
        <p:xfrm>
          <a:off x="457200" y="1600200"/>
          <a:ext cx="3394720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2644"/>
                <a:gridCol w="1692076"/>
              </a:tblGrid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Алфавит</a:t>
                      </a:r>
                      <a:r>
                        <a:rPr lang="en-US" sz="1400" dirty="0" smtClean="0"/>
                        <a:t> X</a:t>
                      </a:r>
                      <a:r>
                        <a:rPr lang="ru-RU" sz="1400" baseline="0" dirty="0" smtClean="0"/>
                        <a:t>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Алфавит</a:t>
                      </a:r>
                      <a:r>
                        <a:rPr lang="ru-RU" sz="1400" baseline="0" dirty="0" smtClean="0"/>
                        <a:t> </a:t>
                      </a:r>
                      <a:r>
                        <a:rPr lang="en-US" sz="1400" baseline="0" dirty="0" smtClean="0"/>
                        <a:t>Y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11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Ц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24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У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21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К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12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Е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06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Н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15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Г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04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Ш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26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Щ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27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З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09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Х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23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б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02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Ф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22</a:t>
                      </a:r>
                      <a:endParaRPr lang="ru-RU" sz="1400" dirty="0"/>
                    </a:p>
                  </a:txBody>
                  <a:tcPr/>
                </a:tc>
              </a:tr>
              <a:tr h="297904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Ы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31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В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03</a:t>
                      </a:r>
                      <a:endParaRPr lang="ru-RU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67544" y="296416"/>
            <a:ext cx="8229600" cy="61230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5400" dirty="0" smtClean="0"/>
              <a:t>1310240611</a:t>
            </a:r>
            <a:endParaRPr lang="ru-RU" sz="5400" dirty="0"/>
          </a:p>
        </p:txBody>
      </p:sp>
      <p:graphicFrame>
        <p:nvGraphicFramePr>
          <p:cNvPr id="6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8207442"/>
              </p:ext>
            </p:extLst>
          </p:nvPr>
        </p:nvGraphicFramePr>
        <p:xfrm>
          <a:off x="5220072" y="1576536"/>
          <a:ext cx="3394720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2644"/>
                <a:gridCol w="1692076"/>
              </a:tblGrid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Алфавит</a:t>
                      </a:r>
                      <a:r>
                        <a:rPr lang="en-US" sz="1400" dirty="0" smtClean="0"/>
                        <a:t> X</a:t>
                      </a:r>
                      <a:r>
                        <a:rPr lang="ru-RU" sz="1400" baseline="0" dirty="0" smtClean="0"/>
                        <a:t>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Алфавит</a:t>
                      </a:r>
                      <a:r>
                        <a:rPr lang="ru-RU" sz="1400" baseline="0" dirty="0" smtClean="0"/>
                        <a:t> </a:t>
                      </a:r>
                      <a:r>
                        <a:rPr lang="en-US" sz="1400" baseline="0" dirty="0" smtClean="0"/>
                        <a:t>Y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О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16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А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01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17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Р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18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Л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13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Д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05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Ж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08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Э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28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Я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30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Ч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25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С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19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М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14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И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10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Т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20</a:t>
                      </a:r>
                      <a:endParaRPr lang="ru-RU" sz="1400" dirty="0"/>
                    </a:p>
                  </a:txBody>
                  <a:tcPr/>
                </a:tc>
              </a:tr>
              <a:tr h="303321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Ю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29</a:t>
                      </a:r>
                      <a:endParaRPr lang="ru-RU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-22126" y="20266"/>
            <a:ext cx="5577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Лекция 3: Кодирование и шифрование информации</a:t>
            </a:r>
            <a:r>
              <a:rPr lang="ru-RU" sz="1600" b="1" dirty="0" smtClean="0">
                <a:solidFill>
                  <a:schemeClr val="bg1"/>
                </a:solidFill>
              </a:rPr>
              <a:t>.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67544" y="3356992"/>
            <a:ext cx="8229600" cy="79208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4800" b="1" dirty="0" smtClean="0">
                <a:latin typeface="+mj-lt"/>
              </a:rPr>
              <a:t>ИНФОРМАТИКА</a:t>
            </a:r>
            <a:endParaRPr lang="ru-RU" sz="4800" b="1" dirty="0">
              <a:latin typeface="+mj-lt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800" b="1" dirty="0" smtClean="0"/>
              <a:t>РАМИТОКОНАФ</a:t>
            </a:r>
            <a:endParaRPr lang="ru-RU" sz="4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-22126" y="20266"/>
            <a:ext cx="5577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Лекция 3: Кодирование и шифрование информации</a:t>
            </a:r>
            <a:r>
              <a:rPr lang="ru-RU" sz="1600" b="1" dirty="0" smtClean="0">
                <a:solidFill>
                  <a:schemeClr val="bg1"/>
                </a:solidFill>
              </a:rPr>
              <a:t>.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59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2578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 smtClean="0"/>
              <a:t>Под </a:t>
            </a:r>
            <a:r>
              <a:rPr lang="ru-RU" b="1" dirty="0">
                <a:solidFill>
                  <a:srgbClr val="FFC000"/>
                </a:solidFill>
              </a:rPr>
              <a:t>надежностью</a:t>
            </a:r>
            <a:r>
              <a:rPr lang="ru-RU" dirty="0">
                <a:solidFill>
                  <a:srgbClr val="FFC000"/>
                </a:solidFill>
              </a:rPr>
              <a:t> </a:t>
            </a:r>
            <a:r>
              <a:rPr lang="ru-RU" dirty="0"/>
              <a:t>понимается способность противостоять </a:t>
            </a:r>
            <a:r>
              <a:rPr lang="ru-RU" dirty="0" smtClean="0"/>
              <a:t>взлому.</a:t>
            </a:r>
          </a:p>
          <a:p>
            <a:pPr marL="0" indent="0">
              <a:buNone/>
            </a:pPr>
            <a:r>
              <a:rPr lang="ru-RU" dirty="0" smtClean="0"/>
              <a:t>При </a:t>
            </a:r>
            <a:r>
              <a:rPr lang="ru-RU" b="1" dirty="0">
                <a:solidFill>
                  <a:srgbClr val="FFC000"/>
                </a:solidFill>
              </a:rPr>
              <a:t>дешифровке</a:t>
            </a:r>
            <a:r>
              <a:rPr lang="ru-RU" dirty="0">
                <a:solidFill>
                  <a:srgbClr val="FFC000"/>
                </a:solidFill>
              </a:rPr>
              <a:t> </a:t>
            </a:r>
            <a:r>
              <a:rPr lang="ru-RU" dirty="0" smtClean="0"/>
              <a:t>сообщения </a:t>
            </a:r>
            <a:r>
              <a:rPr lang="ru-RU" dirty="0"/>
              <a:t>может быть известно все, кроме ключа, то есть надежность шифра определяется секретностью ключа, а также числом его ключей.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Применяется </a:t>
            </a:r>
            <a:r>
              <a:rPr lang="ru-RU" dirty="0"/>
              <a:t>даже открытая криптография, которая использует различные ключи для шифрования, а сам ключ может быть общедоступным, опубликованным. Число ключей при этом может достигать сотни триллионов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u="sng" dirty="0" smtClean="0">
                <a:solidFill>
                  <a:srgbClr val="FFC000"/>
                </a:solidFill>
              </a:rPr>
              <a:t>Пример: </a:t>
            </a:r>
            <a:r>
              <a:rPr lang="ru-RU" dirty="0"/>
              <a:t>Один из лучших примеров алгоритма шифрования – принятый в 1977 году Национальным бюро стандартов США алгоритм стандарта шифрования данных </a:t>
            </a:r>
            <a:r>
              <a:rPr lang="ru-RU" b="1" i="1" dirty="0">
                <a:solidFill>
                  <a:srgbClr val="FFC000"/>
                </a:solidFill>
              </a:rPr>
              <a:t>DES (Data Encrypted Standard). </a:t>
            </a:r>
            <a:r>
              <a:rPr lang="ru-RU" dirty="0"/>
              <a:t>Исследования алгоритма специалистами показали, что пока нет уязвимых мест, на основе которых можно было бы предложить метод криптоанализа, существенно лучший, чем полный перебор ключей.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В </a:t>
            </a:r>
            <a:r>
              <a:rPr lang="ru-RU" dirty="0"/>
              <a:t>июле 1991 года введен в действие аналогичный отечественный криптоалгоритм </a:t>
            </a:r>
            <a:r>
              <a:rPr lang="ru-RU" b="1" dirty="0">
                <a:solidFill>
                  <a:srgbClr val="FFC000"/>
                </a:solidFill>
              </a:rPr>
              <a:t>(стандарта ГОСТ 28147-89 )</a:t>
            </a:r>
            <a:r>
              <a:rPr lang="ru-RU" dirty="0"/>
              <a:t>, который превосходит </a:t>
            </a:r>
            <a:r>
              <a:rPr lang="ru-RU" b="1" dirty="0">
                <a:solidFill>
                  <a:srgbClr val="FFC000"/>
                </a:solidFill>
              </a:rPr>
              <a:t>DES</a:t>
            </a:r>
            <a:r>
              <a:rPr lang="ru-RU" dirty="0">
                <a:solidFill>
                  <a:srgbClr val="FFC000"/>
                </a:solidFill>
              </a:rPr>
              <a:t> </a:t>
            </a:r>
            <a:r>
              <a:rPr lang="ru-RU" dirty="0"/>
              <a:t>по надежности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Надежность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-22126" y="20266"/>
            <a:ext cx="5577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Лекция 3: Кодирование и шифрование информации</a:t>
            </a:r>
            <a:r>
              <a:rPr lang="ru-RU" sz="1600" b="1" dirty="0" smtClean="0">
                <a:solidFill>
                  <a:schemeClr val="bg1"/>
                </a:solidFill>
              </a:rPr>
              <a:t>.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19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/>
        </p:nvSpPr>
        <p:spPr>
          <a:xfrm>
            <a:off x="323528" y="1628800"/>
            <a:ext cx="8568952" cy="6480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0" y="1570760"/>
            <a:ext cx="9144000" cy="52578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ru-RU" sz="1800" b="1" u="sng" dirty="0" smtClean="0">
                <a:solidFill>
                  <a:srgbClr val="FFC000"/>
                </a:solidFill>
              </a:rPr>
              <a:t>Кодирование </a:t>
            </a:r>
            <a:r>
              <a:rPr lang="ru-RU" sz="1800" b="1" u="sng" dirty="0">
                <a:solidFill>
                  <a:srgbClr val="FFC000"/>
                </a:solidFill>
              </a:rPr>
              <a:t>информации</a:t>
            </a:r>
            <a:r>
              <a:rPr lang="ru-RU" sz="1800" b="1" dirty="0">
                <a:solidFill>
                  <a:srgbClr val="FFC000"/>
                </a:solidFill>
              </a:rPr>
              <a:t> </a:t>
            </a:r>
            <a:r>
              <a:rPr lang="ru-RU" sz="1800" b="1" dirty="0">
                <a:solidFill>
                  <a:schemeClr val="bg1"/>
                </a:solidFill>
              </a:rPr>
              <a:t>- это процесс формирования определенного представления </a:t>
            </a:r>
            <a:r>
              <a:rPr lang="ru-RU" sz="1800" b="1" dirty="0" smtClean="0">
                <a:solidFill>
                  <a:schemeClr val="bg1"/>
                </a:solidFill>
              </a:rPr>
              <a:t>информации.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800" b="1" u="sng" dirty="0" smtClean="0">
                <a:solidFill>
                  <a:srgbClr val="FFC000"/>
                </a:solidFill>
              </a:rPr>
              <a:t>ВНИМАНИЕ:</a:t>
            </a:r>
            <a:r>
              <a:rPr lang="ru-RU" sz="1800" b="1" u="sng" dirty="0" smtClean="0"/>
              <a:t> В более узком смысле под термином </a:t>
            </a:r>
            <a:r>
              <a:rPr lang="ru-RU" sz="1800" b="1" u="sng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"кодирование" </a:t>
            </a:r>
            <a:r>
              <a:rPr lang="ru-RU" sz="1800" b="1" u="sng" dirty="0" smtClean="0"/>
              <a:t>часто понимают переход от одной формы представления информации к другой, более удобной для хранения, передачи или обработки.</a:t>
            </a:r>
            <a:endParaRPr lang="ru-RU" sz="1800" b="1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ru-RU" sz="1800" dirty="0" smtClean="0"/>
              <a:t>Компьютер </a:t>
            </a:r>
            <a:r>
              <a:rPr lang="ru-RU" sz="1800" dirty="0"/>
              <a:t>может обрабатывать только информацию, представленную в числовой форме. Вся другая информация (например, звуки, изображения, показания приборов и т. д.) для обработки на компьютере должна быть преобразована в числовую форму. </a:t>
            </a:r>
            <a:endParaRPr lang="ru-RU" sz="1800" dirty="0" smtClean="0"/>
          </a:p>
          <a:p>
            <a:pPr marL="0" indent="0" algn="r">
              <a:lnSpc>
                <a:spcPct val="120000"/>
              </a:lnSpc>
              <a:buNone/>
            </a:pPr>
            <a:r>
              <a:rPr lang="ru-RU" sz="1800" b="1" i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Пример: </a:t>
            </a:r>
            <a:r>
              <a:rPr lang="ru-RU" sz="1800" i="1" dirty="0" smtClean="0"/>
              <a:t>Чтобы </a:t>
            </a:r>
            <a:r>
              <a:rPr lang="ru-RU" sz="1800" i="1" dirty="0"/>
              <a:t>перевести в числовую форму музыкальный звук, можно через небольшие промежутки времени измерять интенсивность звука на определенных частотах, представляя результаты каждого измерения в числовой форме. С помощью программ для компьютера можно выполнить преобразования полученной информации, например "наложить" друг на друга звуки от разных источников</a:t>
            </a:r>
            <a:r>
              <a:rPr lang="ru-RU" sz="1800" i="1" dirty="0" smtClean="0"/>
              <a:t>.</a:t>
            </a:r>
            <a:endParaRPr lang="ru-RU" sz="1800" i="1" dirty="0"/>
          </a:p>
        </p:txBody>
      </p:sp>
      <p:sp>
        <p:nvSpPr>
          <p:cNvPr id="5" name="Заголовок 2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265238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Кодирование и Шифрование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 smtClean="0"/>
              <a:t>Слайд1: </a:t>
            </a:r>
            <a:r>
              <a:rPr lang="ru-RU" b="1" u="sng" dirty="0">
                <a:solidFill>
                  <a:srgbClr val="FF0000"/>
                </a:solidFill>
                <a:effectLst/>
              </a:rPr>
              <a:t>Кодирование </a:t>
            </a:r>
            <a:r>
              <a:rPr lang="ru-RU" b="1" u="sng" dirty="0">
                <a:solidFill>
                  <a:srgbClr val="FF0000"/>
                </a:solidFill>
              </a:rPr>
              <a:t>информации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-22126" y="20266"/>
            <a:ext cx="5577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Лекция 3: Кодирование и шифрование информации</a:t>
            </a:r>
            <a:r>
              <a:rPr lang="ru-RU" sz="1600" b="1" dirty="0" smtClean="0">
                <a:solidFill>
                  <a:schemeClr val="bg1"/>
                </a:solidFill>
              </a:rPr>
              <a:t>.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72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Аналогичным образом на компьютере можно обрабатывать текстовую информацию. При вводе в компьютер каждая буква кодируется определенным числом, а при выводе на внешние устройства (экран или печать) для восприятия человеком по этим числам строятся изображения букв.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Соответствие между набором букв и числами называется </a:t>
            </a: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кодировкой символов.</a:t>
            </a:r>
          </a:p>
          <a:p>
            <a:pPr>
              <a:lnSpc>
                <a:spcPct val="120000"/>
              </a:lnSpc>
            </a:pPr>
            <a:r>
              <a:rPr lang="ru-RU" dirty="0"/>
              <a:t>Как правило, все числа в компьютере представляются с помощью нулей и единиц (а не десяти цифр, как это привычно для людей). Иными словами, компьютеры обычно работают в </a:t>
            </a: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двоичной системе счисления</a:t>
            </a:r>
            <a:r>
              <a:rPr lang="ru-RU" dirty="0"/>
              <a:t>, поскольку при этом устройства для их обработки получаются значительно более простыми. Ввод чисел в компьютер и вывод их для чтения человеком может осуществляться в привычной десятичной форме, а все необходимые преобразования выполняют программы, работающие на компьютере.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265238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Кодирование и Шифрование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 smtClean="0"/>
              <a:t>Слайд2: </a:t>
            </a:r>
            <a:r>
              <a:rPr lang="ru-RU" b="1" u="sng" dirty="0">
                <a:solidFill>
                  <a:srgbClr val="FF0000"/>
                </a:solidFill>
                <a:effectLst/>
              </a:rPr>
              <a:t>Кодирование </a:t>
            </a:r>
            <a:r>
              <a:rPr lang="ru-RU" b="1" u="sng" dirty="0">
                <a:solidFill>
                  <a:srgbClr val="FF0000"/>
                </a:solidFill>
              </a:rPr>
              <a:t>информации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-22126" y="20266"/>
            <a:ext cx="5577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Лекция 3: Кодирование и шифрование информации</a:t>
            </a:r>
            <a:r>
              <a:rPr lang="ru-RU" sz="1600" b="1" dirty="0" smtClean="0">
                <a:solidFill>
                  <a:schemeClr val="bg1"/>
                </a:solidFill>
              </a:rPr>
              <a:t>.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567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51520" y="1600201"/>
            <a:ext cx="8712968" cy="492514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000" b="1" u="sng" dirty="0" smtClean="0">
                <a:solidFill>
                  <a:srgbClr val="FFC000"/>
                </a:solidFill>
              </a:rPr>
              <a:t>ВНИМАНИЕ: </a:t>
            </a:r>
            <a:r>
              <a:rPr lang="ru-RU" sz="2000" b="1" u="sng" dirty="0" smtClean="0"/>
              <a:t>Единица </a:t>
            </a:r>
            <a:r>
              <a:rPr lang="ru-RU" sz="2000" b="1" u="sng" dirty="0"/>
              <a:t>измерения информации называется </a:t>
            </a:r>
            <a:r>
              <a:rPr lang="ru-RU" sz="2000" b="1" u="sng" dirty="0">
                <a:solidFill>
                  <a:srgbClr val="FFC000"/>
                </a:solidFill>
              </a:rPr>
              <a:t>бит (bit) </a:t>
            </a:r>
            <a:r>
              <a:rPr lang="ru-RU" sz="2000" b="1" u="sng" dirty="0"/>
              <a:t>- сокращение от английских слов </a:t>
            </a:r>
            <a:r>
              <a:rPr lang="ru-RU" sz="2000" b="1" u="sng" dirty="0">
                <a:solidFill>
                  <a:srgbClr val="FFC000"/>
                </a:solidFill>
              </a:rPr>
              <a:t>binary digit</a:t>
            </a:r>
            <a:r>
              <a:rPr lang="ru-RU" sz="2000" b="1" u="sng" dirty="0"/>
              <a:t>, что означает двоичная цифра</a:t>
            </a:r>
            <a:r>
              <a:rPr lang="ru-RU" sz="2000" b="1" u="sng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ru-RU" sz="2000" b="1" u="sng" dirty="0"/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/>
              <a:t>В компьютерной технике бит соответствует </a:t>
            </a:r>
            <a:r>
              <a:rPr lang="ru-RU" sz="2000" dirty="0" smtClean="0"/>
              <a:t> состояниям, принятые обозначать </a:t>
            </a:r>
            <a:r>
              <a:rPr lang="ru-RU" sz="2000" dirty="0"/>
              <a:t>цифрой </a:t>
            </a:r>
            <a:r>
              <a:rPr lang="ru-RU" sz="2000" dirty="0" smtClean="0"/>
              <a:t>0(ЛОЖЬ), </a:t>
            </a:r>
            <a:r>
              <a:rPr lang="ru-RU" sz="2000" dirty="0"/>
              <a:t>а другое - цифрой </a:t>
            </a:r>
            <a:r>
              <a:rPr lang="ru-RU" sz="2000" dirty="0" smtClean="0"/>
              <a:t>1(ПРАВДА).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 smtClean="0"/>
              <a:t>Последовательностью </a:t>
            </a:r>
            <a:r>
              <a:rPr lang="ru-RU" sz="2000" dirty="0"/>
              <a:t>битов можно закодировать текст, изображение, звук или какую-либо другую информацию. Такой метод представления информации называется </a:t>
            </a:r>
            <a:r>
              <a:rPr lang="ru-RU" sz="2000" b="1" dirty="0">
                <a:solidFill>
                  <a:srgbClr val="FFC000"/>
                </a:solidFill>
              </a:rPr>
              <a:t>двоичным кодированием </a:t>
            </a:r>
            <a:r>
              <a:rPr lang="ru-RU" sz="2000" b="1" u="sng" dirty="0">
                <a:solidFill>
                  <a:srgbClr val="FFC000"/>
                </a:solidFill>
              </a:rPr>
              <a:t>(binary encoding</a:t>
            </a:r>
            <a:r>
              <a:rPr lang="ru-RU" sz="2000" b="1" u="sng" dirty="0" smtClean="0">
                <a:solidFill>
                  <a:srgbClr val="FFC000"/>
                </a:solidFill>
              </a:rPr>
              <a:t>)</a:t>
            </a:r>
            <a:r>
              <a:rPr lang="ru-RU" sz="2000" b="1" dirty="0" smtClean="0">
                <a:solidFill>
                  <a:srgbClr val="FFC000"/>
                </a:solidFill>
              </a:rPr>
              <a:t>.</a:t>
            </a:r>
            <a:endParaRPr lang="ru-RU" sz="2000" b="1" dirty="0">
              <a:solidFill>
                <a:srgbClr val="FFC000"/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/>
              <a:t>Единицы измерения </a:t>
            </a:r>
            <a:r>
              <a:rPr lang="ru-RU" sz="3200" b="1" dirty="0" smtClean="0"/>
              <a:t>информации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-22126" y="20266"/>
            <a:ext cx="5577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Лекция 3: Кодирование и шифрование информации</a:t>
            </a:r>
            <a:r>
              <a:rPr lang="ru-RU" sz="1600" b="1" dirty="0" smtClean="0">
                <a:solidFill>
                  <a:schemeClr val="bg1"/>
                </a:solidFill>
              </a:rPr>
              <a:t>.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647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0" y="1556793"/>
            <a:ext cx="9144000" cy="5301208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ru-RU" dirty="0"/>
              <a:t>В информатике часто используется величина, называемая </a:t>
            </a:r>
            <a:r>
              <a:rPr lang="ru-RU" b="1" dirty="0"/>
              <a:t>байтом</a:t>
            </a:r>
            <a:r>
              <a:rPr lang="ru-RU" dirty="0"/>
              <a:t> (byte) </a:t>
            </a:r>
            <a:r>
              <a:rPr lang="ru-RU" dirty="0" smtClean="0"/>
              <a:t>равная </a:t>
            </a:r>
            <a:r>
              <a:rPr lang="ru-RU" dirty="0"/>
              <a:t>8 битам. </a:t>
            </a:r>
            <a:endParaRPr lang="en-US" dirty="0" smtClean="0"/>
          </a:p>
          <a:p>
            <a:pPr marL="0" indent="0" algn="just">
              <a:lnSpc>
                <a:spcPct val="120000"/>
              </a:lnSpc>
              <a:buNone/>
            </a:pPr>
            <a:r>
              <a:rPr lang="ru-RU" dirty="0"/>
              <a:t>Б</a:t>
            </a:r>
            <a:r>
              <a:rPr lang="ru-RU" dirty="0" smtClean="0"/>
              <a:t>ит </a:t>
            </a:r>
            <a:r>
              <a:rPr lang="ru-RU" dirty="0"/>
              <a:t>позволяет выбрать один вариант из двух возможных, то байт, соответственно, 1 из 256 (2</a:t>
            </a:r>
            <a:r>
              <a:rPr lang="ru-RU" baseline="30000" dirty="0"/>
              <a:t>8</a:t>
            </a:r>
            <a:r>
              <a:rPr lang="ru-RU" dirty="0"/>
              <a:t>). </a:t>
            </a:r>
            <a:endParaRPr lang="ru-RU" dirty="0" smtClean="0"/>
          </a:p>
          <a:p>
            <a:pPr marL="0" indent="0" algn="r">
              <a:buNone/>
            </a:pPr>
            <a:r>
              <a:rPr lang="ru-RU" i="1" dirty="0" smtClean="0"/>
              <a:t>	</a:t>
            </a:r>
            <a:r>
              <a:rPr lang="ru-RU" sz="2600" b="1" i="1" dirty="0" smtClean="0"/>
              <a:t>В </a:t>
            </a:r>
            <a:r>
              <a:rPr lang="ru-RU" sz="2600" b="1" i="1" dirty="0"/>
              <a:t>большинстве современных ЭВМ при кодировании каждому символу соответствует своя последовательность из восьми нулей и единиц, т. е. байт. Соответствие байтов и символов задается с помощью таблицы, в которой для каждого кода указывается свой символ. Так, например, в широко распространенной кодировке Koi8-R буква "М" имеет код 11101101, буква "И" - код 11101001, а пробел - код 00100000</a:t>
            </a:r>
            <a:r>
              <a:rPr lang="ru-RU" sz="2600" i="1" dirty="0"/>
              <a:t>.</a:t>
            </a:r>
          </a:p>
          <a:p>
            <a:pPr marL="0" indent="0">
              <a:buNone/>
            </a:pPr>
            <a:r>
              <a:rPr lang="ru-RU" b="1" u="sng" dirty="0" smtClean="0">
                <a:solidFill>
                  <a:srgbClr val="FFC000"/>
                </a:solidFill>
              </a:rPr>
              <a:t>ВНИМАНИЕ: </a:t>
            </a:r>
            <a:r>
              <a:rPr lang="ru-RU" u="sng" dirty="0" smtClean="0"/>
              <a:t>Наряду </a:t>
            </a:r>
            <a:r>
              <a:rPr lang="ru-RU" u="sng" dirty="0"/>
              <a:t>с байтами для измерения количества информации используются более крупные единицы</a:t>
            </a:r>
            <a:r>
              <a:rPr lang="ru-RU" u="sng" dirty="0" smtClean="0"/>
              <a:t>:</a:t>
            </a:r>
          </a:p>
          <a:p>
            <a:pPr marL="0" indent="0">
              <a:buNone/>
            </a:pPr>
            <a:endParaRPr lang="ru-RU" u="sng" dirty="0"/>
          </a:p>
          <a:p>
            <a:pPr marL="0" indent="0" algn="ctr">
              <a:buNone/>
            </a:pPr>
            <a:r>
              <a:rPr lang="ru-RU" b="1" dirty="0"/>
              <a:t>1 Кбайт (один килобайт) = 2</a:t>
            </a:r>
            <a:r>
              <a:rPr lang="ru-RU" b="1" baseline="30000" dirty="0"/>
              <a:t>10</a:t>
            </a:r>
            <a:r>
              <a:rPr lang="ru-RU" b="1" dirty="0"/>
              <a:t> байт = 1024 </a:t>
            </a:r>
            <a:r>
              <a:rPr lang="ru-RU" b="1" dirty="0" smtClean="0"/>
              <a:t>байта</a:t>
            </a:r>
            <a:endParaRPr lang="ru-RU" b="1" dirty="0"/>
          </a:p>
          <a:p>
            <a:pPr marL="0" indent="0" algn="ctr">
              <a:buNone/>
            </a:pPr>
            <a:r>
              <a:rPr lang="ru-RU" b="1" dirty="0"/>
              <a:t>1 Мбайт (один мегабайт) = 2</a:t>
            </a:r>
            <a:r>
              <a:rPr lang="ru-RU" b="1" baseline="30000" dirty="0"/>
              <a:t>10</a:t>
            </a:r>
            <a:r>
              <a:rPr lang="ru-RU" b="1" dirty="0"/>
              <a:t> Кбайт = 1024 </a:t>
            </a:r>
            <a:r>
              <a:rPr lang="ru-RU" b="1" dirty="0" smtClean="0"/>
              <a:t>Кбайта</a:t>
            </a:r>
            <a:endParaRPr lang="ru-RU" b="1" dirty="0"/>
          </a:p>
          <a:p>
            <a:pPr marL="0" indent="0" algn="ctr">
              <a:buNone/>
            </a:pPr>
            <a:r>
              <a:rPr lang="ru-RU" b="1" dirty="0"/>
              <a:t>1 Гбайт (один гигабайт) = 2</a:t>
            </a:r>
            <a:r>
              <a:rPr lang="ru-RU" b="1" baseline="30000" dirty="0"/>
              <a:t>10</a:t>
            </a:r>
            <a:r>
              <a:rPr lang="ru-RU" b="1" dirty="0"/>
              <a:t> Мбайт = 1024 </a:t>
            </a:r>
            <a:r>
              <a:rPr lang="ru-RU" b="1" dirty="0" smtClean="0"/>
              <a:t>Мбайта</a:t>
            </a:r>
            <a:endParaRPr lang="ru-RU" b="1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 smtClean="0">
                <a:solidFill>
                  <a:srgbClr val="FF0000"/>
                </a:solidFill>
              </a:rPr>
              <a:t>1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ru-RU" sz="4800" b="1" dirty="0" smtClean="0">
                <a:solidFill>
                  <a:srgbClr val="FF0000"/>
                </a:solidFill>
              </a:rPr>
              <a:t>Байт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ru-RU" sz="4800" b="1" dirty="0" smtClean="0">
                <a:solidFill>
                  <a:srgbClr val="FF0000"/>
                </a:solidFill>
              </a:rPr>
              <a:t>(</a:t>
            </a:r>
            <a:r>
              <a:rPr lang="en-US" sz="4800" b="1" dirty="0" smtClean="0">
                <a:solidFill>
                  <a:srgbClr val="FF0000"/>
                </a:solidFill>
              </a:rPr>
              <a:t>byte) </a:t>
            </a:r>
            <a:r>
              <a:rPr lang="en-US" sz="4800" b="1" dirty="0" smtClean="0">
                <a:solidFill>
                  <a:schemeClr val="bg1"/>
                </a:solidFill>
              </a:rPr>
              <a:t>=</a:t>
            </a:r>
            <a:r>
              <a:rPr lang="en-US" sz="4800" b="1" dirty="0" smtClean="0"/>
              <a:t> </a:t>
            </a:r>
            <a:r>
              <a:rPr lang="en-US" sz="4800" b="1" dirty="0" smtClean="0">
                <a:solidFill>
                  <a:srgbClr val="FFC000"/>
                </a:solidFill>
              </a:rPr>
              <a:t>8 </a:t>
            </a:r>
            <a:r>
              <a:rPr lang="ru-RU" sz="4800" b="1" dirty="0" smtClean="0">
                <a:solidFill>
                  <a:srgbClr val="FFC000"/>
                </a:solidFill>
              </a:rPr>
              <a:t>Бит (</a:t>
            </a:r>
            <a:r>
              <a:rPr lang="en-US" sz="4800" b="1" dirty="0" smtClean="0">
                <a:solidFill>
                  <a:srgbClr val="FFC000"/>
                </a:solidFill>
              </a:rPr>
              <a:t>bit)</a:t>
            </a:r>
            <a:endParaRPr lang="ru-RU" sz="4800" b="1" dirty="0">
              <a:solidFill>
                <a:srgbClr val="FFC000"/>
              </a:solidFill>
            </a:endParaRP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827584" y="5229201"/>
            <a:ext cx="7704856" cy="1440160"/>
          </a:xfrm>
          <a:prstGeom prst="roundRect">
            <a:avLst/>
          </a:prstGeom>
          <a:noFill/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-22126" y="20266"/>
            <a:ext cx="5577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Лекция 3: Кодирование и шифрование информации</a:t>
            </a:r>
            <a:r>
              <a:rPr lang="ru-RU" sz="1600" b="1" dirty="0" smtClean="0">
                <a:solidFill>
                  <a:schemeClr val="bg1"/>
                </a:solidFill>
              </a:rPr>
              <a:t>.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66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412776"/>
            <a:ext cx="9144000" cy="37444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79512" y="1556793"/>
            <a:ext cx="8964488" cy="530120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3200" b="1" dirty="0" smtClean="0">
                <a:solidFill>
                  <a:schemeClr val="bg1"/>
                </a:solidFill>
              </a:rPr>
              <a:t>Задача №1</a:t>
            </a:r>
          </a:p>
          <a:p>
            <a:pPr marL="0" indent="0">
              <a:buNone/>
            </a:pPr>
            <a:r>
              <a:rPr lang="ru-RU" b="1" u="sng" dirty="0" smtClean="0">
                <a:solidFill>
                  <a:schemeClr val="bg1"/>
                </a:solidFill>
              </a:rPr>
              <a:t>Условие</a:t>
            </a:r>
            <a:r>
              <a:rPr lang="ru-RU" b="1" dirty="0" smtClean="0">
                <a:solidFill>
                  <a:schemeClr val="bg1"/>
                </a:solidFill>
              </a:rPr>
              <a:t>: </a:t>
            </a:r>
            <a:r>
              <a:rPr lang="ru-RU" dirty="0" smtClean="0">
                <a:solidFill>
                  <a:schemeClr val="bg1"/>
                </a:solidFill>
              </a:rPr>
              <a:t>Книга </a:t>
            </a:r>
            <a:r>
              <a:rPr lang="ru-RU" dirty="0">
                <a:solidFill>
                  <a:schemeClr val="bg1"/>
                </a:solidFill>
              </a:rPr>
              <a:t>содержит 100 страниц; на каждой странице - 35 строк, в каждой строке - 50 символов. Рассчитаем объем информации, содержащийся в книге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ru-RU" b="1" u="sng" dirty="0" smtClean="0">
                <a:solidFill>
                  <a:schemeClr val="bg1"/>
                </a:solidFill>
              </a:rPr>
              <a:t>Решение:</a:t>
            </a:r>
            <a:endParaRPr lang="ru-RU" b="1" u="sng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Страница содержит 35 x 50 = 1750 байт информации. Объем всей информации в книге (в разных единицах):</a:t>
            </a:r>
          </a:p>
          <a:p>
            <a:r>
              <a:rPr lang="ru-RU" dirty="0">
                <a:solidFill>
                  <a:schemeClr val="bg1"/>
                </a:solidFill>
              </a:rPr>
              <a:t>1750 x 100 = 175000 байт.</a:t>
            </a:r>
          </a:p>
          <a:p>
            <a:r>
              <a:rPr lang="ru-RU" dirty="0">
                <a:solidFill>
                  <a:schemeClr val="bg1"/>
                </a:solidFill>
              </a:rPr>
              <a:t>175000 / 1024 = 170,8984 Кбайт.</a:t>
            </a:r>
          </a:p>
          <a:p>
            <a:r>
              <a:rPr lang="ru-RU" dirty="0">
                <a:solidFill>
                  <a:schemeClr val="bg1"/>
                </a:solidFill>
              </a:rPr>
              <a:t>170,8984 / 1024 = 0,166893 Мбайт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sz="3200" b="1" dirty="0"/>
              <a:t>Задания</a:t>
            </a:r>
            <a:endParaRPr lang="ru-RU" sz="3200" dirty="0"/>
          </a:p>
          <a:p>
            <a:pPr marL="0" indent="0">
              <a:buNone/>
            </a:pPr>
            <a:r>
              <a:rPr lang="ru-RU" dirty="0" smtClean="0"/>
              <a:t>2. Сколько </a:t>
            </a:r>
            <a:r>
              <a:rPr lang="ru-RU" dirty="0"/>
              <a:t>Кб составляет сообщение, содержащее 12288 битов</a:t>
            </a:r>
            <a:r>
              <a:rPr lang="ru-RU" dirty="0" smtClean="0"/>
              <a:t>?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3. Письмо </a:t>
            </a:r>
            <a:r>
              <a:rPr lang="ru-RU" dirty="0"/>
              <a:t>занимает 2 страницы по 25 строк. В каждой строке записано по 40 символов. Каков объем информации в письме?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Примеры решения задач по теме: </a:t>
            </a:r>
            <a:r>
              <a:rPr lang="ru-RU" b="1" dirty="0" smtClean="0">
                <a:solidFill>
                  <a:srgbClr val="FF0000"/>
                </a:solidFill>
              </a:rPr>
              <a:t>«Системы счисления»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22126" y="20266"/>
            <a:ext cx="5577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Лекция 3: Кодирование и шифрование информации</a:t>
            </a:r>
            <a:r>
              <a:rPr lang="ru-RU" sz="1600" b="1" dirty="0" smtClean="0">
                <a:solidFill>
                  <a:schemeClr val="bg1"/>
                </a:solidFill>
              </a:rPr>
              <a:t>.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129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0" y="1412777"/>
            <a:ext cx="9144000" cy="79208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115616" y="5517233"/>
            <a:ext cx="6768752" cy="360040"/>
          </a:xfrm>
          <a:prstGeom prst="roundRect">
            <a:avLst/>
          </a:prstGeom>
          <a:solidFill>
            <a:schemeClr val="tx1"/>
          </a:solidFill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0" y="1412776"/>
            <a:ext cx="9144000" cy="544522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1600" b="1" dirty="0" smtClean="0">
                <a:solidFill>
                  <a:srgbClr val="FFC000"/>
                </a:solidFill>
              </a:rPr>
              <a:t>Файл </a:t>
            </a:r>
            <a:r>
              <a:rPr lang="ru-RU" sz="1600" b="1" dirty="0">
                <a:solidFill>
                  <a:schemeClr val="bg1"/>
                </a:solidFill>
              </a:rPr>
              <a:t>- это хранилище стабильных и мобильных данных. </a:t>
            </a:r>
            <a:r>
              <a:rPr lang="ru-RU" sz="1600" b="1" u="sng" dirty="0" smtClean="0">
                <a:solidFill>
                  <a:srgbClr val="FFC000"/>
                </a:solidFill>
              </a:rPr>
              <a:t>ВНИМАНИЕ:</a:t>
            </a:r>
            <a:r>
              <a:rPr lang="ru-RU" sz="1600" b="1" dirty="0" smtClean="0">
                <a:solidFill>
                  <a:srgbClr val="FFC000"/>
                </a:solidFill>
                <a:effectLst/>
              </a:rPr>
              <a:t> </a:t>
            </a:r>
            <a:r>
              <a:rPr lang="ru-RU" sz="1600" b="1" u="sng" dirty="0" smtClean="0">
                <a:solidFill>
                  <a:schemeClr val="bg1"/>
                </a:solidFill>
              </a:rPr>
              <a:t>Обычно </a:t>
            </a:r>
            <a:r>
              <a:rPr lang="ru-RU" sz="1600" b="1" u="sng" dirty="0">
                <a:solidFill>
                  <a:schemeClr val="bg1"/>
                </a:solidFill>
              </a:rPr>
              <a:t>файл имеет имя, атрибуты, время модификации и время создания</a:t>
            </a:r>
            <a:r>
              <a:rPr lang="ru-RU" sz="1600" u="sng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ru-RU" sz="1600" dirty="0" smtClean="0"/>
              <a:t>Понятие </a:t>
            </a:r>
            <a:r>
              <a:rPr lang="ru-RU" sz="1600" dirty="0"/>
              <a:t>файла менялось с течением времени. Операционные системы первых больших ЭВМ представляли файл, как хранилище для базы данных и, поэтому файл являлся набором </a:t>
            </a:r>
            <a:r>
              <a:rPr lang="ru-RU" sz="1600" dirty="0" smtClean="0"/>
              <a:t>записей (по 80 </a:t>
            </a:r>
            <a:r>
              <a:rPr lang="ru-RU" sz="1600" dirty="0"/>
              <a:t>символов </a:t>
            </a:r>
            <a:r>
              <a:rPr lang="ru-RU" sz="1600" dirty="0" smtClean="0"/>
              <a:t>каждая). </a:t>
            </a:r>
            <a:r>
              <a:rPr lang="ru-RU" sz="1600" dirty="0"/>
              <a:t>При этом много времени уходило на поиск и запись данных в большой файл.</a:t>
            </a:r>
          </a:p>
          <a:p>
            <a:r>
              <a:rPr lang="ru-RU" sz="1600" dirty="0"/>
              <a:t>В конце 60-х годов наметилась </a:t>
            </a:r>
            <a:r>
              <a:rPr lang="ru-RU" sz="1600" b="1" dirty="0"/>
              <a:t>тенденция к упрощению</a:t>
            </a:r>
            <a:r>
              <a:rPr lang="ru-RU" sz="1600" dirty="0"/>
              <a:t> операционных </a:t>
            </a:r>
            <a:r>
              <a:rPr lang="ru-RU" sz="1600" dirty="0" smtClean="0"/>
              <a:t>систем. В </a:t>
            </a:r>
            <a:r>
              <a:rPr lang="ru-RU" sz="1600" b="1" u="sng" dirty="0"/>
              <a:t>Unix</a:t>
            </a:r>
            <a:r>
              <a:rPr lang="ru-RU" sz="1600" dirty="0"/>
              <a:t> </a:t>
            </a:r>
            <a:r>
              <a:rPr lang="ru-RU" sz="1600" b="1" u="sng" dirty="0"/>
              <a:t>под файлом понималась последовательность байтов.</a:t>
            </a:r>
            <a:r>
              <a:rPr lang="ru-RU" sz="1600" dirty="0">
                <a:effectLst/>
              </a:rPr>
              <a:t> </a:t>
            </a:r>
            <a:r>
              <a:rPr lang="ru-RU" sz="1600" dirty="0"/>
              <a:t>Стало легче хранить данные на диске, так как не надо было запоминать размер записи.</a:t>
            </a:r>
          </a:p>
          <a:p>
            <a:r>
              <a:rPr lang="ru-RU" sz="1600" dirty="0" smtClean="0"/>
              <a:t>Файлы</a:t>
            </a:r>
            <a:r>
              <a:rPr lang="ru-RU" sz="1600" dirty="0"/>
              <a:t>, представляющие собой поток данных, стали использоваться при обмене информацией между компьютерными системами. Если используется более сложная структура файла (как в операционных системах OS/2 и Macintosh), она всегда может быть преобразована в поток байтов, передана и на другом конце канала связи воссоздана в исходном виде.</a:t>
            </a:r>
          </a:p>
          <a:p>
            <a:pPr marL="0" indent="0" algn="ctr">
              <a:buNone/>
            </a:pPr>
            <a:r>
              <a:rPr lang="ru-RU" sz="1600" dirty="0" smtClean="0">
                <a:solidFill>
                  <a:schemeClr val="bg1"/>
                </a:solidFill>
              </a:rPr>
              <a:t>Итак, </a:t>
            </a:r>
            <a:r>
              <a:rPr lang="ru-RU" sz="1600" b="1" dirty="0" smtClean="0">
                <a:solidFill>
                  <a:srgbClr val="FF0000"/>
                </a:solidFill>
              </a:rPr>
              <a:t>файл</a:t>
            </a:r>
            <a:r>
              <a:rPr lang="ru-RU" sz="1600" b="1" dirty="0" smtClean="0">
                <a:solidFill>
                  <a:schemeClr val="bg1"/>
                </a:solidFill>
              </a:rPr>
              <a:t> </a:t>
            </a:r>
            <a:r>
              <a:rPr lang="ru-RU" sz="1600" b="1" dirty="0">
                <a:solidFill>
                  <a:schemeClr val="bg1"/>
                </a:solidFill>
              </a:rPr>
              <a:t>- это </a:t>
            </a:r>
            <a:r>
              <a:rPr lang="ru-RU" sz="1600" b="1" dirty="0" smtClean="0">
                <a:solidFill>
                  <a:schemeClr val="bg1"/>
                </a:solidFill>
              </a:rPr>
              <a:t>поименованная </a:t>
            </a:r>
            <a:r>
              <a:rPr lang="ru-RU" sz="1600" b="1" dirty="0">
                <a:solidFill>
                  <a:schemeClr val="bg1"/>
                </a:solidFill>
              </a:rPr>
              <a:t>последовательность байтов.</a:t>
            </a:r>
          </a:p>
          <a:p>
            <a:r>
              <a:rPr lang="ru-RU" sz="1600" b="1" dirty="0"/>
              <a:t>Файловая структура</a:t>
            </a:r>
            <a:r>
              <a:rPr lang="ru-RU" sz="1600" dirty="0"/>
              <a:t> представляет собой систему хранения файлов в </a:t>
            </a:r>
            <a:r>
              <a:rPr lang="ru-RU" sz="1600" dirty="0" smtClean="0"/>
              <a:t>каталогах </a:t>
            </a:r>
            <a:r>
              <a:rPr lang="ru-RU" sz="1600" dirty="0"/>
              <a:t>(иногда </a:t>
            </a:r>
            <a:endParaRPr lang="ru-RU" sz="1600" dirty="0" smtClean="0"/>
          </a:p>
          <a:p>
            <a:endParaRPr lang="ru-RU" sz="1600" dirty="0" smtClean="0"/>
          </a:p>
          <a:p>
            <a:endParaRPr lang="ru-RU" sz="1600" dirty="0" smtClean="0"/>
          </a:p>
          <a:p>
            <a:endParaRPr lang="ru-RU" sz="1600" dirty="0" smtClean="0"/>
          </a:p>
          <a:p>
            <a:pPr>
              <a:buNone/>
            </a:pPr>
            <a:r>
              <a:rPr lang="ru-RU" sz="1600" dirty="0" smtClean="0"/>
              <a:t>называемые </a:t>
            </a:r>
            <a:r>
              <a:rPr lang="ru-RU" sz="1600" dirty="0"/>
              <a:t>директориями или папками</a:t>
            </a:r>
            <a:r>
              <a:rPr lang="ru-RU" sz="1600" dirty="0" smtClean="0"/>
              <a:t>) на </a:t>
            </a:r>
            <a:r>
              <a:rPr lang="ru-RU" sz="1600" dirty="0"/>
              <a:t>запоминающем устройстве, например, диске. </a:t>
            </a:r>
            <a:r>
              <a:rPr lang="ru-RU" sz="1600" dirty="0" smtClean="0"/>
              <a:t> </a:t>
            </a:r>
          </a:p>
          <a:p>
            <a:r>
              <a:rPr lang="ru-RU" sz="1600" dirty="0" smtClean="0"/>
              <a:t>Способ</a:t>
            </a:r>
            <a:r>
              <a:rPr lang="ru-RU" sz="1600" dirty="0"/>
              <a:t>, которым данные </a:t>
            </a:r>
            <a:r>
              <a:rPr lang="ru-RU" sz="1600" b="1" dirty="0"/>
              <a:t>организованы</a:t>
            </a:r>
            <a:r>
              <a:rPr lang="ru-RU" sz="1600" dirty="0"/>
              <a:t> в файлы, называется </a:t>
            </a:r>
            <a:r>
              <a:rPr lang="ru-RU" sz="1600" b="1" dirty="0"/>
              <a:t>форматом файла</a:t>
            </a:r>
            <a:r>
              <a:rPr lang="ru-RU" sz="1600" b="1" dirty="0" smtClean="0"/>
              <a:t>.</a:t>
            </a:r>
            <a:endParaRPr lang="ru-RU" sz="1600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b="1" dirty="0" smtClean="0"/>
              <a:t>Файл</a:t>
            </a:r>
            <a:br>
              <a:rPr lang="ru-RU" sz="4400" b="1" dirty="0" smtClean="0"/>
            </a:br>
            <a:r>
              <a:rPr lang="ru-RU" sz="4400" b="1" dirty="0" smtClean="0"/>
              <a:t>Форматы файлов</a:t>
            </a:r>
            <a:endParaRPr lang="ru-RU" sz="4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-22126" y="20266"/>
            <a:ext cx="5577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Лекция 3: Кодирование и шифрование информации</a:t>
            </a:r>
            <a:r>
              <a:rPr lang="ru-RU" sz="1600" b="1" dirty="0" smtClean="0">
                <a:solidFill>
                  <a:schemeClr val="bg1"/>
                </a:solidFill>
              </a:rPr>
              <a:t>.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821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0" y="1484784"/>
            <a:ext cx="9144000" cy="53732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 dirty="0" smtClean="0"/>
              <a:t>Текстовые </a:t>
            </a:r>
            <a:r>
              <a:rPr lang="ru-RU" sz="1600" b="1" dirty="0"/>
              <a:t>файлы</a:t>
            </a:r>
            <a:r>
              <a:rPr lang="ru-RU" sz="1600" dirty="0"/>
              <a:t> - наиболее распространенный тип данных во всем компьютерном мире. Для хранения каждого символа чаще всего отводится один байт, а кодирование текстовых файлов выполняют с помощью специальных таблиц, в которых каждому символу соответствует определенное число, не превышающее 255. </a:t>
            </a:r>
            <a:endParaRPr lang="ru-RU" sz="1600" dirty="0" smtClean="0"/>
          </a:p>
          <a:p>
            <a:pPr marL="0" indent="0">
              <a:buNone/>
            </a:pPr>
            <a:endParaRPr lang="ru-RU" sz="1400" dirty="0" smtClean="0"/>
          </a:p>
          <a:p>
            <a:pPr marL="0" indent="0" algn="r">
              <a:buNone/>
            </a:pPr>
            <a:r>
              <a:rPr lang="ru-RU" sz="1400" b="1" i="1" dirty="0" smtClean="0"/>
              <a:t>Файл</a:t>
            </a:r>
            <a:r>
              <a:rPr lang="ru-RU" sz="1400" b="1" i="1" dirty="0"/>
              <a:t>, для кодировки которого используется только 127 первых чисел, называется ASCII-файлом (сокращение от American Standard Code for Information Interchange - американский стандартный код для обмена информацией), но в таком файле не могут быть представлены буквы, отличные от латиницы (в том числе и русские). </a:t>
            </a:r>
            <a:endParaRPr lang="ru-RU" sz="1400" b="1" i="1" dirty="0" smtClean="0"/>
          </a:p>
          <a:p>
            <a:pPr marL="0" indent="0" algn="r">
              <a:buNone/>
            </a:pPr>
            <a:endParaRPr lang="ru-RU" sz="1400" b="1" i="1" dirty="0" smtClean="0"/>
          </a:p>
          <a:p>
            <a:pPr marL="0" indent="0">
              <a:buNone/>
            </a:pPr>
            <a:r>
              <a:rPr lang="ru-RU" sz="1400" b="1" i="1" dirty="0" smtClean="0"/>
              <a:t>Большинство </a:t>
            </a:r>
            <a:r>
              <a:rPr lang="ru-RU" sz="1400" b="1" i="1" dirty="0"/>
              <a:t>национальных алфавитов можно закодировать с помощью восьмибитной таблицы. Для русского языка наиболее популярны на данный момент три кодировки: Koi8-R, Windows-1251 и, так называемая, альтернативная (alt) </a:t>
            </a:r>
            <a:r>
              <a:rPr lang="ru-RU" sz="1400" b="1" i="1" dirty="0" smtClean="0"/>
              <a:t>кодировка.</a:t>
            </a:r>
          </a:p>
          <a:p>
            <a:pPr marL="0" indent="0" algn="r">
              <a:buNone/>
            </a:pPr>
            <a:r>
              <a:rPr lang="ru-RU" sz="1400" b="1" i="1" dirty="0" smtClean="0"/>
              <a:t>Такие </a:t>
            </a:r>
            <a:r>
              <a:rPr lang="ru-RU" sz="1400" b="1" i="1" dirty="0"/>
              <a:t>языки, как китайский, содержат значительно больше 256 символов, поэтому для кодирования каждого из них используют несколько </a:t>
            </a:r>
            <a:r>
              <a:rPr lang="ru-RU" sz="1400" b="1" i="1" dirty="0" smtClean="0"/>
              <a:t>байтов.</a:t>
            </a:r>
          </a:p>
          <a:p>
            <a:pPr marL="0" indent="0" algn="r">
              <a:buNone/>
            </a:pPr>
            <a:r>
              <a:rPr lang="ru-RU" sz="1600" b="1" dirty="0" smtClean="0"/>
              <a:t> </a:t>
            </a:r>
          </a:p>
          <a:p>
            <a:pPr marL="0" indent="0">
              <a:buNone/>
            </a:pPr>
            <a:r>
              <a:rPr lang="ru-RU" sz="1600" b="1" dirty="0" smtClean="0"/>
              <a:t>Одной </a:t>
            </a:r>
            <a:r>
              <a:rPr lang="ru-RU" sz="1600" b="1" dirty="0"/>
              <a:t>из попыток обобщения такого подхода является стандарт Unicode, в котором для кодирования символов используется диапазон чисел от нуля до 65 536. Такой широкий диапазон позволяет представлять в численном виде символы языка людей из любого уголка планеты</a:t>
            </a:r>
            <a:r>
              <a:rPr lang="ru-RU" sz="1600" b="1" dirty="0" smtClean="0"/>
              <a:t>.</a:t>
            </a:r>
            <a:endParaRPr lang="ru-RU" sz="1600" b="1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2 Типа файлов: </a:t>
            </a:r>
            <a:br>
              <a:rPr lang="ru-RU" b="1" dirty="0" smtClean="0"/>
            </a:br>
            <a:r>
              <a:rPr lang="ru-RU" b="1" dirty="0" smtClean="0"/>
              <a:t>текстовые и двоичные</a:t>
            </a:r>
            <a:endParaRPr lang="ru-RU" b="1" dirty="0"/>
          </a:p>
        </p:txBody>
      </p:sp>
      <p:sp>
        <p:nvSpPr>
          <p:cNvPr id="4" name="TextBox 3"/>
          <p:cNvSpPr txBox="1"/>
          <p:nvPr/>
        </p:nvSpPr>
        <p:spPr>
          <a:xfrm>
            <a:off x="-22126" y="20266"/>
            <a:ext cx="5577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Лекция 3: Кодирование и шифрование информации</a:t>
            </a:r>
            <a:r>
              <a:rPr lang="ru-RU" sz="1600" b="1" dirty="0" smtClean="0">
                <a:solidFill>
                  <a:schemeClr val="bg1"/>
                </a:solidFill>
              </a:rPr>
              <a:t>.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12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048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ru-RU" dirty="0" smtClean="0"/>
              <a:t>В кодах </a:t>
            </a:r>
            <a:r>
              <a:rPr lang="en-US" dirty="0" smtClean="0"/>
              <a:t>ASC: </a:t>
            </a:r>
            <a:endParaRPr lang="ru-RU" dirty="0" smtClean="0"/>
          </a:p>
          <a:p>
            <a:pPr marL="0" indent="0" algn="ctr">
              <a:buNone/>
            </a:pPr>
            <a:r>
              <a:rPr lang="en-US" dirty="0" smtClean="0"/>
              <a:t>1 </a:t>
            </a:r>
            <a:r>
              <a:rPr lang="ru-RU" dirty="0" smtClean="0"/>
              <a:t>символ = 8 бит = 1 байт</a:t>
            </a:r>
          </a:p>
          <a:p>
            <a:pPr marL="0" indent="0">
              <a:buNone/>
            </a:pPr>
            <a:r>
              <a:rPr lang="ru-RU" dirty="0" smtClean="0"/>
              <a:t>В международном стандарте </a:t>
            </a:r>
            <a:r>
              <a:rPr lang="en-US" dirty="0" smtClean="0"/>
              <a:t>Unicode:</a:t>
            </a:r>
          </a:p>
          <a:p>
            <a:pPr marL="0" indent="0" algn="ctr">
              <a:buNone/>
            </a:pPr>
            <a:r>
              <a:rPr lang="en-US" dirty="0" smtClean="0"/>
              <a:t>1 </a:t>
            </a:r>
            <a:r>
              <a:rPr lang="ru-RU" dirty="0" smtClean="0"/>
              <a:t>символ = 16 бит = 2 байта</a:t>
            </a:r>
          </a:p>
          <a:p>
            <a:pPr marL="0" indent="0" algn="ctr">
              <a:buNone/>
            </a:pP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Кодировка. </a:t>
            </a:r>
            <a:r>
              <a:rPr lang="en-US" dirty="0" smtClean="0"/>
              <a:t>Unicode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67544" y="4257962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Задача 2: Сколько битов нужно для того, чтобы закодировать  слово </a:t>
            </a:r>
            <a:r>
              <a:rPr lang="en-US" b="1" dirty="0"/>
              <a:t> </a:t>
            </a:r>
            <a:r>
              <a:rPr lang="ru-RU" b="1" dirty="0" smtClean="0"/>
              <a:t>ИНФРМАТИКА в кодировках </a:t>
            </a:r>
            <a:r>
              <a:rPr lang="en-US" b="1" dirty="0" smtClean="0"/>
              <a:t>ASC </a:t>
            </a:r>
            <a:r>
              <a:rPr lang="ru-RU" b="1" dirty="0" smtClean="0"/>
              <a:t>и </a:t>
            </a:r>
            <a:r>
              <a:rPr lang="en-US" b="1" dirty="0" smtClean="0"/>
              <a:t>Unicode.</a:t>
            </a:r>
            <a:endParaRPr lang="ru-RU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27584" y="5301208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11 </a:t>
            </a:r>
            <a:r>
              <a:rPr lang="ru-RU" sz="2400" b="1" dirty="0" smtClean="0"/>
              <a:t>символов  * 8 бит = 88 бит (11 байтов)</a:t>
            </a:r>
          </a:p>
          <a:p>
            <a:pPr algn="ctr"/>
            <a:endParaRPr lang="ru-RU" sz="2400" b="1" dirty="0"/>
          </a:p>
          <a:p>
            <a:pPr algn="ctr"/>
            <a:r>
              <a:rPr lang="ru-RU" sz="2400" b="1" dirty="0" smtClean="0"/>
              <a:t>11 символов * 16 бит = 176 бит (22 байта)</a:t>
            </a:r>
            <a:endParaRPr lang="ru-RU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-22126" y="20266"/>
            <a:ext cx="5577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Лекция 3: Кодирование и шифрование информации</a:t>
            </a:r>
            <a:r>
              <a:rPr lang="ru-RU" sz="1600" b="1" dirty="0" smtClean="0">
                <a:solidFill>
                  <a:schemeClr val="bg1"/>
                </a:solidFill>
              </a:rPr>
              <a:t>.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59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dirty="0"/>
              <a:t>Но чисто текстовые файлы встречаются все реже. Люди хотят, чтобы документы содержали рисунки и диаграммы и использовали различные шрифты. В результате появляются форматы, представляющие собой различные комбинации текстовых, графических и других форм данных.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b="1" dirty="0" smtClean="0"/>
              <a:t>Двоичные</a:t>
            </a:r>
            <a:r>
              <a:rPr lang="ru-RU" dirty="0" smtClean="0"/>
              <a:t> </a:t>
            </a:r>
            <a:r>
              <a:rPr lang="ru-RU" dirty="0"/>
              <a:t>файлы, в отличие от текстовых, не так просто просмотреть и в них, обычно, нет знакомых нам слов - лишь множество непонятных символов. Эти файлы не предназначены непосредственно для чтения человеком. Примерами двоичных файлов являются исполняемые программы и файлы с графическими изображениями.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Двоичные файлы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-22126" y="20266"/>
            <a:ext cx="5577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Лекция 3: Кодирование и шифрование информации</a:t>
            </a:r>
            <a:r>
              <a:rPr lang="ru-RU" sz="1600" b="1" dirty="0" smtClean="0">
                <a:solidFill>
                  <a:schemeClr val="bg1"/>
                </a:solidFill>
              </a:rPr>
              <a:t>.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700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0" y="4505326"/>
            <a:ext cx="9144000" cy="2020019"/>
          </a:xfrm>
        </p:spPr>
        <p:txBody>
          <a:bodyPr>
            <a:noAutofit/>
          </a:bodyPr>
          <a:lstStyle/>
          <a:p>
            <a:r>
              <a:rPr lang="ru-RU" sz="2800" i="1" dirty="0" smtClean="0">
                <a:effectLst/>
                <a:latin typeface="+mn-lt"/>
              </a:rPr>
              <a:t>На следующем занятии…</a:t>
            </a:r>
            <a:r>
              <a:rPr lang="ru-RU" sz="2800" i="1" dirty="0" smtClean="0">
                <a:solidFill>
                  <a:schemeClr val="bg1"/>
                </a:solidFill>
                <a:effectLst/>
                <a:latin typeface="+mn-lt"/>
              </a:rPr>
              <a:t/>
            </a:r>
            <a:br>
              <a:rPr lang="ru-RU" sz="2800" i="1" dirty="0" smtClean="0">
                <a:solidFill>
                  <a:schemeClr val="bg1"/>
                </a:solidFill>
                <a:effectLst/>
                <a:latin typeface="+mn-lt"/>
              </a:rPr>
            </a:br>
            <a:r>
              <a:rPr lang="ru-RU" sz="2800" i="1" dirty="0">
                <a:solidFill>
                  <a:schemeClr val="bg1"/>
                </a:solidFill>
                <a:effectLst/>
                <a:latin typeface="+mn-lt"/>
              </a:rPr>
              <a:t/>
            </a:r>
            <a:br>
              <a:rPr lang="ru-RU" sz="2800" i="1" dirty="0">
                <a:solidFill>
                  <a:schemeClr val="bg1"/>
                </a:solidFill>
                <a:effectLst/>
                <a:latin typeface="+mn-lt"/>
              </a:rPr>
            </a:br>
            <a:r>
              <a:rPr lang="ru-RU" sz="2800" i="1" dirty="0" smtClean="0">
                <a:solidFill>
                  <a:schemeClr val="bg1"/>
                </a:solidFill>
                <a:effectLst/>
                <a:latin typeface="+mn-lt"/>
              </a:rPr>
              <a:t>Лекция 4: Системы счисления и действия в них.</a:t>
            </a:r>
            <a:r>
              <a:rPr lang="ru-RU" sz="2800" b="1" dirty="0">
                <a:effectLst/>
                <a:latin typeface="+mn-lt"/>
              </a:rPr>
              <a:t/>
            </a:r>
            <a:br>
              <a:rPr lang="ru-RU" sz="2800" b="1" dirty="0">
                <a:effectLst/>
                <a:latin typeface="+mn-lt"/>
              </a:rPr>
            </a:br>
            <a:endParaRPr lang="ru-RU" sz="2800" i="1" noProof="0" dirty="0"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3" name="AutoShape 2" descr="data:image/jpeg;base64,/9j/4AAQSkZJRgABAQAAAQABAAD/2wCEAAkGBxQQEBIQEBISERIUFhISFRAWEA8QEw8QFBMWFhQSExYZHCggGBsmGxUXIT0hJykrNi4uFx8zODMsNyg5LiwBCgoKDg0OGxAQGywkICUvNCwxLSwyLC0tLzQsLCwvLCwvLC0sLCwsLDQvLy8sLCwsLCwsLCwsLCwsLCwtLCwsLP/AABEIAMQBAQMBEQACEQEDEQH/xAAcAAEAAQUBAQAAAAAAAAAAAAAABwEDBAUGAgj/xABFEAACAQIBBQoLBQgCAwAAAAAAAQIDEQQFBhIhMQcWQVFUYXGRk9ETFSIyM1NygaGxshQ0UnPBFyNCYoKiwtLw8SQl4f/EABoBAQADAQEBAAAAAAAAAAAAAAAEBQYCAwH/xAA1EQEAAQICBQsEAgMBAQEAAAAAAQIDBBEFFCFSkRITFTFBUXGBobHRMjNhwTTwIkLhI0Mk/9oADAMBAAIRAxEAPwCcQAAAAAAAAAAAAAAAAAAAAAAAAAAAAAAAAAAAAAAAAAAAAAAAAAAAAAAAAAAAAAAAAAAAAAAAAAAAAAAAAAAAAAAAAAAAAAAAAAAAAAAAAAAAAAAAAAAAAAAAAAAAAAAAAAAAAAAAAAAAAAAAAAAAAAAAAAAAADHyjNxo1WnZqE2mtTTUXZo6o21Q4r2Uyg1ZyYvlWI7afeaTVrO7HBlNbv788TfJi+VV+2n3jVrO7HA1u/vzxN8mL5VX7afeNWs7scDW7+/PE3yYvlVftp941azuxwNbv788TfJi+VV+2n3jVrO7HA1u/vzxN8mL5VX7afeNWs7scDW7+/PE3yYvlVftp941azuxwNbv788TfJi+VV+2n3jVrO7HA1u/vzxN8mL5VX7afeNWs7scDW7+/PE3yYvlVftp941azuxwNbv788WxyVnzi6Ek5VHXhwwqWd1zT85Pr6Dyu4GzXGyMp/D3s6Sv0TtnOPz8pdyXlGOIpwqQ2SipLjs1fXzlBXTNFU0z2NLRXFdMVR1St5fpylhaypylCehJxnGTjJTirxs1zo6szEXImY2ZuL9M1W6opnKckK75MXyqv20+80WrWd2ODLa3f354m+TF8qr9tPvGrWd2OBrd/fnib5MXyqv20+8atZ3Y4Gt39+eJvkxfKq/bT7xq1ndjga3f354m+TF8qr9tPvGrWd2OBrd/fnib5MXyqv20+8atZ3Y4Gt39+eJvkxfKq/bT7xq1ndjga3f354m+TF8qr9tPvGrWd2OBrd/fnib5MXyqv20+8atZ3Y4Gt39+eJvkxfKq/bT7xq1ndjga3f354uozAy/WlXmq1apUWhqU5ykk9Ja0nwlfpG1RRRE0xEbVnou9cuV1RVVM7P2k+jPSSZUrt7AAAAAAAAxMrfd635dT6Wd2/rjxcXPonwfPaNUxioAAAAAAAAAAAlLc6xL8BTjxaS/uZnMbGV+r+9jVaPnPDU/3tl3NdXjJcz+RFhLl85o1rFSqAAAAAAAAAAdBmV94fs/5IrNKfbp8f0t9D/cq8P2mbAejiUq/ZAAAAAAAAGJlb7vW/LqfSzu39ceLi59E+CAMNh5VHaKv8l0mlu3qLUZ1yyVmxcvVcmiM2/yfmy5edd8y1LvKm7pOudluMvf+8V1Z0TRTtuTn+I2R8+zo8HmmvwLqv8SFViLtXXVKwow1mj6aY4NnTzW/l+B5Zy9soVqZqJ7Yp+5H2Kqo6pfJppnrhrMZmXB/wW515PyJFGMv0f7Z+O1FuYHD19dMR4bHNZTzUqU7uHlr8L1S93Ayws6Spq2XIy/PYrL+iaqdtqc/x2uelFp2as1tT1NMs4mJjOFRMTE5SofXwAASVud+ih0y+pmcx336vL2hqdHfxqfP3lIVTzX0P5EWE2XzlHYa1iZVAAAAADe5CyOq0byV7vVra1Lo5ypxuMroucmicsutd6PwNu5a5dyM8+rrb5Zmx/C+uXeQ9fxG96R8J3RuG3fWfk3mR/C+uXeNfv73pHwdG4bd9Z+Wuy/mx4Gi6sIvyWm9bfkvV+qJWDxlyu7ybk9fgh47AWqLU124ymPHqYuZX3h+z/kj10p9unx/Tx0P9yrw/aZsB6OJSr9kAAAAAAAAWcXS06c4bNKMo34rqx9icpzfKozjJylDNiENGFONoLrfO3ws6uXKrlXKqlxatUWqeTRGUOiweS4QWw4ejNjFLYgKTqxj5zS6WkfYiZfJmI63qMr61rPj6NAY+IwUZrWgOJztzPVROdNJVFsfBL+WXeTMLi6rM5T9KDjMFTfpzjZV3/qUZVabjJxkmmm009qa2o0FNUVRnDMVUzTM0z1vJ9fACStzv0UOmX1MzmO+/V5e0NTo7+NT5+8pCqea+h/Iiwmy+co7DWsTKoAAAArCLbSW1tJdLOaqopiZnsdUUzVVFMdcpWzPyckoq2pJGWrrmuqap7Wxt0RboiiOx2qpriXUcuzQXEuoDGyjgo1aU6ckrSi4vVwNWZ9pqmmYmOxzVTFUTTPaiPNfCypYyrSl50LxfPaSVy20hXFdmiqO2f0ptGW5t366Z7I/aX8B6OJULtkAAAAAAAAAKWApUmopyk0kk223ZJLW22fYjPZD5M5RnKKM6s/ataUqeElKlRWrwi8mpV577YLmWvj4ld4bAU0Ryrm2fSGfxekq655NvZHf2z8OMqzcm5Sbk3tbbbfS2WEREbIVc1TM5zK/gMoVaEtKjUnTf8smk+lbH7zmu3RXGVUZu7d6u3OdMzCTsy89vtLVDEWVa3kyWpVUturglzFLjMHzX+dHV7L/AAOP57/Cv6vd2yZXrNScE1ZgRdulZB8HJYmC1NqM+n+GX6dRbaNv/wDynxhSaVw/Vdjwn9T+nCFupACStzv0UOmX1MzmO+/V5e0NTo7+NT5+8pCqea+h/Iiwmy+co7DWsTKoAAAA2mbmF8JWT4I6/e9S/Ur9I3eTa5Pes9FWeXe5U/6plyDhtCFyiaNtGwKgAOMx2R9HKM6sVqqUrv24Tin8HHqZIqucqxFHdPvEotNrk4ia47Y9ph1eBXkIjpTIAAAAAAAAAAOJ3U8qulhoYeLtKu3pflQs5L3txXRcsdHWuVcmuez3VelL00W4ojt9kTl4zoAA90KzhKM4u0otST4mndHNVMVRMT1S6ormiqKo64TlmzlRYijCf4op24nwrrMvdom3XNE9jYWrkXKIrjtbk4ejWZx5PWIw1Wk9sotLmlti+ux6WrnN1xV3PK9bi5bmie2ECGpY4Aknc6f7qHTL6mZ3Hx/71eXs1Gjf41Pn7ykSS1MiJz51r0nCUoPbFuL6Yuz+RrKZ5URMMXXTNNUxPY8H1yAAAHcZkZP1KVtcnf3cHwM9j7vLvTHds+Wn0ba5uxE9s7fhKVCGjFIhp7R59ZS+z4GrJO0prwMeB6U9TtzqOk/cSsHb5d6I7tvBEx13m7FU9+zitZmZa+0YWjpO81Hwcvahqu+lWfvOcXb5u7MefF9wV3nbNNXlwdKR0paq0VJ3A9042VgPQAAAAAAAAABEW6piNLHRhwQpQVueTlJ/NdRe6NpytZ98s7parO9Ed0OOLBVgAABJG5riv3Wj+Gcl12l+pQaRpyvZ98f8aXRdWeHy7pmP3+0jEFYqSQHz9lqloYmvD8NWrH3KbSNRZnO3TP4j2Y/ERldqj8z7sM9Xi7Dc+yvGnU8DN6Ok7wbdk5PU4/8AOcqtI4eav/Snz+V1orFU0xNqry+EuRd1cp14ivPnNWarzr0FpRm9KUNSam9slxp7ekt8HjaaaYoubMuqVJjtH11Vzctbc+uHGVcNOPnQlHpi0WVN63V9NUT5qmuxdo21UzHktHo8gC7haOnOMFwu3u4TyvXObomvueuHtc7cpo70v5p4KyTtsMvnnOctjllGUOqAi/dZylpVqWGT1U4upL256op86iv7y50Zbypmvv2KHS93OqLcdm1r9zvKGhVlSb1S8tdK1P4W6j5pO3sivydaIu7arc+KXqcrpMp149AAAAAAAAAAAABDO6Uv/Y1PZpfQjQaP+xHmzOlI/wD0T4Q5cmq8AAAO53Onql7b+mJRaT+7Hh+5aLRH2Z8f1CVI7EV60VAgXOl/+direuq/CbNNhvs0+EMji5zv1+MtWe6OAh2+amNx6tFV9Gn+GrHwrtzLaui6KbFXMLnsjOfxs/56L7B28ZltnKPztn59YSNTh4WCU7OVtclHRT913brKycuxbxnltcnn7kdU8HUqLgdP4ziiXgPvx5+yFpL+NV5e6LjQsuAb7NPB6dRy4tS6Xt/5zlVpO7lEW47dq50RZzmq5PZs+UxZIoaFNFOvWbOSSbbslrb4kuECAMu5QeJxNau/45trmgtUF7opI1Fm3zduKe5j8Rd527VX3reS8V4GtTqfhkr+y9Uvg2fL9vnLc0977hrvNXaa+7+ynXI9fTprhMw17PAAAAAAAAAAAACJt1fDOOLhU4J00v6oN3+Eol3oyvO3NPdPuz+l6MrkVd8eziiyVIAAASDuf0LQi+Nt/Gy+RnsfXyr8/jY1GjaOTh4/O1JiIacqwPnrKeI8LXq1FsnUqT90pt/qaq3TyaIjuhjb1XKuVVR2zLGO3m3+bGTfCPTavrsubjZUaSvzE81HmvNFYaMpu1eEfKTMk5BUUmyoXTjs8c8KsK08NhJunCm3CVRW05zWqSTfmpPVq4tpdYPBUciK7kZ5qLHaQriuaLc5ZdrjMTjKlXXUqVKj45zlP5ssqaKafpiIVNV2uv6pmVg6cAEjZk5OtGN1r2vpZmcVd5y7NTXYSzzVmmnt7fNI0I2SR4JDBzgw062GrUqUlCU4uGk7tKMtUtn8tz0s1xRXFVXY8r1FVduaaZyzRJi80KtN204y6FItelKN2VP0PXvQsb2avGupjpSjdl86Hr3oSVmbGcKUIT1tJRvr121L4WKm7VFVc1U9UrqzRVRbimqc5jY6g4egAAAAAAAAAAAOU3Q8jPE4a8FepTenFcMtXlR96+KRLwV/mrm3qnYhY/DzetbOuNsIcNEywAAu4Wg6k1BcPwXCzyvXYtUTVL2w9mq9ciiEuZo4HRjHVZJLqRmKqpqmZnta+mmKYimOqHWnx9aTPLKf2bBVql7ScfBw49Ofkq3Qrv8ApJGFtc5diPNFxl7mrNVXlxQYaVkwCRNz+inTg+eX1MzuP+/V5ezU6N/jU+fvKSUrIiJr50rVXOUpvbJuT6W7s1kRlGTF11TVVMy8n1yAZeS8P4SrGPBe76ERsXd5u1M9vVxS8DZ529EdkbZ8kx5sYTRjczbVugApJXAxamT4Sd2gPPiunxAXqOFjDYBfAAAAAAAAAAAADxVhpJpgRxnZmbpTlVo+RJ63G3kyfHzMsMNj6rccmvbHqrMXo2m7PKo2T6S4utkStB2cL86aZY04+xP+3uqqtG4iJ+nPzhWhkWrJ61o9Ov4I4uaRs0x/jt/v5elvRV+qf8tn9/Drs3c3dFrV0t7WVGIxNd6rOrgvMNhaMPTlT5ykXAYVU4pHgkMoCIN0bOBYquqNN3o0W1dbKlXZKS40ti9/GX2Aw/N0cqrrn2ZzSWK5yvkU9Ue7kCerACStzv0UOmX1MzmO+/V5e0NTo7+NT5+8pCqbH0P5EWE2XzlHYa1iZVAAdRmZgtKTnba7LoX/AN+RS6Tu51RRHZtaDRNnKibk9uzh/fRLuAo6EEisWy/VqKMXKTskm2+JJXbPsRnOUPkzlGco2luoyu7YWNuC9Zp24L+SW3Rcb3opJ0xt+j1U/ajPkse2l/qfei43vT/p0xO56/8AD9qM+Sx7aX+o6Lje9P8Ap0xO56/8eqe6jK60sNFRurtVW2lfW0tE+TouMtlXo+xpjbtp9Ui0MRGavF3T1p8aKhdroAAAAAAAACxjqrhSqTW2MJyXSoto6ojOqIc1zlTMw0Ga2eNLGxUZWpV+Gk3qk+Om+Fc21fEk4nCV2Zz647/lEwuNovxl1Vd3w6YiJrxUpKSs0Brq+RYSAt08gwT4ANjQwsYbEBdnNRTlJpJa220kkuFsRGfU+TMRtlG+eufSnGWHwctTvGddarrhjT/26uMt8Jgcp5dzh8/ClxukYmORanxn4+UdlspAABJW536KHTL6mZzHffq8vaGp0d/Gp8/eUhVPNfQ/kRYTZfOUdhrWJlUCsY3aS2vV7z5MxEZy+00zVMRCUszcnaKiuJL/ALMtduTcrmqe1sbVuLduKI7HdJHD0cxujZS8BgZxTtKs1RXRK7n/AGpr3omYC3y70T3bUHSN3m7E/nYhk0LLgAABK251lTwlCMZO7h+7fQvN+DRncdb5F6fzt/vm1Oj7vOWI742f3ydwRE0AAAAAAAAxcq/d635dT6Wd2/rjxcXPonwfPcXazWp8fEzVMZnlLqcj5+YrDpRlJV4LgqX0kuaa19dyDdwFqvbGyfx8LGzpO9b2VbY/PXxdTg906g7eFo1YP+VwqR+Li/gQqtGVx9MxKfRpe3P1RMerp8h5fo4yMp0XK0XotSi4tO1yHesV2ZyqT7GIovRnQ2p4vdbxMpKEnBJyUZOKexytqT959jLOM3yrPLYgrLWceIxnp6jcdvgo+RTX9K29LuaW1hrdr6Y82Tv4u7e+qdnd2NUe6MAAAElbnfoodMvqZnMd9+ry9oanR38anz95SFU819D+RFhNl85R2GtYmVQL+CrKFSM5JyS122a+A8b9uq5bmiJyze+Gu02rkV1Rnk7bJef9OgrfZ5vn8JFfoVnRdW9C36Yo3ZbD9qNPk0+0j3DoureOmKN2XK555z+MJU3GDpwpqVouSk3KTV3q5kviTcJheYic5zmVfjcZrExlGUQ5wmIIAAAdVufYpwrzjwNJ+9O36lVpSmOTTV+VzoeqeVVT+M0w0Z3imU69ewAAAAAAAMTK33et+XU+lndv648XFz6J8Hz2jVMYqAA63c7yj4OtOlfVNRkumN7/AAfwKvSdvOmmvu/a50Rcyqqont28EvUpXimUy9emgItzqzMfhZ1aD0VJuTg07KT2uLWxcxZ2NI8imKa4z/KoxOi4rqmq3OWfZLmnm9Wva0et9xK6Ss90/wB80Tom/wB8evwyaWbMrNyb1JvUrbDwq0nMzEU08UinRFMRM11cGgLdRgEmbnsbUqfvfXJszeNnO/V/exqsBTlh6f72u/rytGT4k38CPHWlz1PnNGsYqVQAAAAAAAAADoMyvvD9n/JFZpT7dPj+lvof7lXh+0zYD0cSlX7IAAAAAAAAxspQcqNWK1twmkuNuLSR1ROVUS5rjOmYhBdfIOIp6p0mn7UH8maDXrG97/DMdHYnd9Y+VrxVW9W+uPeNesb3pPwdHYnd9Y+TxVW9W+uPeNesb3pPwdHYnd9Y+V7CYHEU5xnCDUotNa47efWcV4vDV0zTVVsnx+HdvBYu3VFdNO2PzHymTNvHurRi5wdOXDFtOz5mtqKOumKasqZzjvaO3VVVTE1RlPc3Bw7Wq1BS2oDDlkeDApXyXBU5pK7cZJbNtnY+07Jh8q6pQpXyDiKeqdJp+1B/Jmh16xve/wAMv0did31j5XMHkKpNrSWiuLazwvaStxH/AJ7Z9Eixoq5VOdzZHqlDNXJ+go6rJW1cSRSTMzOctBERTERHU3OX9P7LXVGLnUcJRjFOK8qS0U7tpar39x6WeTzkcrqzed/lc3VyYznJCVfIdeDtKk0/ag/ky+16xve/wzfR2J3fWPla8VVvVvrj3jXrG96T8HR2J3fWPk8VVvVvrj3jXrG96T8HR2J3fWPk8VVvVvrj3jXrG96T8HR2J3fWPk8VVvVvrj3jXrG96T8HR2J3fWPk8VVvVvrj3jXrG96T8HR2J3fWPk8VVvVvrj3jXrG96T8HR2J3fWPk8VVvVvrj3jXrG96T8HR2J3fWPk8VVvVvrj3jXrG96T8HR2J3fWPk8VVvVvrj3jXrG96T8HR2J3fWPlvM0sFUhXbnFpaNuDbdEHH4i3doiKJz2/lY6Nwt2zXM1xls/CXsB6OJVrhkAAAAAAAAUaA1mKyPGbu7AWN78eYBvfjzAN78eYDOweB8HsAzQAACjQGsxWSI1Hd2A80chwi76gNnSpKKsgKzjdWA1eIyLGbu7AWt78eYBvfjzAN78eYBvfjzAN78eYBvfjzAN78eYBvfjzAN78eYC5QyJGLvqA2tONlYD0AAAAAAAAAAAAAAAAAAAAAAAAAAAAAAAAAAAAAAAAAAAAAAAAAAAAAAAAAAAAAAAAAAAAAAAAAAAAAAAAAAAAAAAAAAAAAAAAAAAAAAAAAAAAAAAAAAAAAAAAAAAAAAAAAAAAAAAAAAAAAAAAAAAAAAAAAAAAAAAAAAAAAAAAAAAAAAAAAAAAAAAAAAAAAAAAAAAAB//9k="/>
          <p:cNvSpPr>
            <a:spLocks noChangeAspect="1" noChangeArrowheads="1"/>
          </p:cNvSpPr>
          <p:nvPr/>
        </p:nvSpPr>
        <p:spPr bwMode="auto">
          <a:xfrm>
            <a:off x="155575" y="-1790699"/>
            <a:ext cx="4895851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pic>
        <p:nvPicPr>
          <p:cNvPr id="17412" name="Picture 4" descr="http://2013womensleadershipconference.com/wp-content/uploads/2011/12/q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620689"/>
            <a:ext cx="4895851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608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1928</Words>
  <Application>Microsoft Office PowerPoint</Application>
  <PresentationFormat>Экран (4:3)</PresentationFormat>
  <Paragraphs>197</Paragraphs>
  <Slides>17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0" baseType="lpstr">
      <vt:lpstr>Arial</vt:lpstr>
      <vt:lpstr>Calibri</vt:lpstr>
      <vt:lpstr>Тема Office</vt:lpstr>
      <vt:lpstr>Наука Кpиптология. Одна из наиболее важных задач (всего общества) – задача кодирования сообщений и шифрования информации</vt:lpstr>
      <vt:lpstr>Кодирование и Шифрование Слайд2: Шифрование</vt:lpstr>
      <vt:lpstr>Кодирование и Шифрование Слайд2: Шифрование</vt:lpstr>
      <vt:lpstr>Шифры перестановки / замены</vt:lpstr>
      <vt:lpstr>1310240611</vt:lpstr>
      <vt:lpstr>РАМИТОКОНАФ</vt:lpstr>
      <vt:lpstr>Надежность</vt:lpstr>
      <vt:lpstr>Кодирование и Шифрование Слайд1: Кодирование информации</vt:lpstr>
      <vt:lpstr>Кодирование и Шифрование Слайд2: Кодирование информации</vt:lpstr>
      <vt:lpstr>Единицы измерения информации</vt:lpstr>
      <vt:lpstr>1 Байт (byte) = 8 Бит (bit)</vt:lpstr>
      <vt:lpstr>Примеры решения задач по теме: «Системы счисления»</vt:lpstr>
      <vt:lpstr>Файл Форматы файлов</vt:lpstr>
      <vt:lpstr>2 Типа файлов:  текстовые и двоичные</vt:lpstr>
      <vt:lpstr>Кодировка. Unicode.</vt:lpstr>
      <vt:lpstr>Двоичные файлы</vt:lpstr>
      <vt:lpstr>На следующем занятии…  Лекция 4: Системы счисления и действия в них.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Проверочная работа</dc:title>
  <dc:creator>Владимир Биллиг</dc:creator>
  <cp:lastModifiedBy>Diablo</cp:lastModifiedBy>
  <cp:revision>4</cp:revision>
  <dcterms:created xsi:type="dcterms:W3CDTF">2013-10-20T11:48:16Z</dcterms:created>
  <dcterms:modified xsi:type="dcterms:W3CDTF">2017-12-03T17:35:46Z</dcterms:modified>
</cp:coreProperties>
</file>