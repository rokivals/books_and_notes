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36C24FD-70AE-472C-A800-2E3DA0897A9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Раздел без заголовка" id="{7368E5B9-74D8-4D44-B510-5F5C5CA36E7A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717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62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78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46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1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64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36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69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83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6888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56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886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1952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450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259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042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C6ABE69-7190-470A-952D-0C77A54D2D06}" type="datetimeFigureOut">
              <a:rPr lang="ru-RU" smtClean="0"/>
              <a:t>03.10.2017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5A47292-5AC2-4588-AD05-15610AF2C3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482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BE71D-78D2-446A-BCFE-AD40755AAF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История криптографии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5881CC-3F2F-4359-BA95-EA30B4EF4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4452" y="5446643"/>
            <a:ext cx="4622782" cy="424070"/>
          </a:xfrm>
        </p:spPr>
        <p:txBody>
          <a:bodyPr>
            <a:normAutofit fontScale="92500"/>
          </a:bodyPr>
          <a:lstStyle/>
          <a:p>
            <a:r>
              <a:rPr lang="ru-RU" dirty="0"/>
              <a:t>Подготовил</a:t>
            </a:r>
            <a:r>
              <a:rPr lang="en-US" dirty="0"/>
              <a:t>:</a:t>
            </a:r>
            <a:r>
              <a:rPr lang="ru-RU" dirty="0"/>
              <a:t> Артамонов Марк 10 </a:t>
            </a:r>
            <a:r>
              <a:rPr lang="en-US" dirty="0"/>
              <a:t>“</a:t>
            </a:r>
            <a:r>
              <a:rPr lang="ru-RU" dirty="0"/>
              <a:t>Б</a:t>
            </a:r>
            <a:r>
              <a:rPr lang="en-US" dirty="0"/>
              <a:t>”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768061"/>
      </p:ext>
    </p:extLst>
  </p:cSld>
  <p:clrMapOvr>
    <a:masterClrMapping/>
  </p:clrMapOvr>
  <p:transition spd="med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B4383-3A3E-4B43-AD7D-8511A2EA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криптографии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C55E5-4303-4F08-8345-FC69D2C12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 древнем мире</a:t>
            </a:r>
          </a:p>
          <a:p>
            <a:r>
              <a:rPr lang="ru-RU" sz="2400" dirty="0"/>
              <a:t>В средние века</a:t>
            </a:r>
          </a:p>
          <a:p>
            <a:r>
              <a:rPr lang="ru-RU" sz="2400" dirty="0"/>
              <a:t>Первая мировая война</a:t>
            </a:r>
          </a:p>
          <a:p>
            <a:r>
              <a:rPr lang="ru-RU" sz="2400" dirty="0"/>
              <a:t>Вторая мировая война</a:t>
            </a:r>
          </a:p>
          <a:p>
            <a:r>
              <a:rPr lang="ru-RU" sz="2400" dirty="0"/>
              <a:t>Математическая криптография</a:t>
            </a:r>
          </a:p>
        </p:txBody>
      </p:sp>
    </p:spTree>
    <p:extLst>
      <p:ext uri="{BB962C8B-B14F-4D97-AF65-F5344CB8AC3E}">
        <p14:creationId xmlns:p14="http://schemas.microsoft.com/office/powerpoint/2010/main" val="4997609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63B7B-A5E0-49E7-BC29-E9D453F7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Криптография древнего мира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F1DE3B-48D1-4616-95CA-17B25FD28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Древняя Индия </a:t>
            </a:r>
          </a:p>
          <a:p>
            <a:r>
              <a:rPr lang="ru-RU" sz="2400" dirty="0"/>
              <a:t>Древний Египет</a:t>
            </a:r>
          </a:p>
          <a:p>
            <a:r>
              <a:rPr lang="en-US" sz="2400" dirty="0"/>
              <a:t>“</a:t>
            </a:r>
            <a:r>
              <a:rPr lang="ru-RU" sz="2400" dirty="0" err="1"/>
              <a:t>Атбаш</a:t>
            </a:r>
            <a:r>
              <a:rPr lang="en-US" sz="2400" dirty="0"/>
              <a:t>”</a:t>
            </a:r>
            <a:endParaRPr lang="ru-RU" sz="2400" dirty="0"/>
          </a:p>
        </p:txBody>
      </p:sp>
      <p:pic>
        <p:nvPicPr>
          <p:cNvPr id="1026" name="Picture 2" descr="http://novostiliteratury.ru/wp-content/uploads/2015/02/%D0%92-%D0%92%D0%B0%D1%88%D0%B8%D0%BD%D0%B3%D1%82%D0%BE%D0%BD%D0%B5-%D1%81%D0%BE%D0%B7%D0%B4%D0%B0%D0%B4%D1%83%D1%82-%D0%9C%D1%83%D0%B7%D0%B5%D0%B9-%D0%91%D0%B8%D0%B1%D0%BB%D0%B8%D0%B8.jpg">
            <a:extLst>
              <a:ext uri="{FF2B5EF4-FFF2-40B4-BE49-F238E27FC236}">
                <a16:creationId xmlns:a16="http://schemas.microsoft.com/office/drawing/2014/main" id="{9FAE565E-51D6-41D3-8BF7-254F19683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939" y="2514600"/>
            <a:ext cx="4416505" cy="294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novostiliteratury.ru/wp-content/uploads/2015/02/%D0%92-%D0%92%D0%B0%D1%88%D0%B8%D0%BD%D0%B3%D1%82%D0%BE%D0%BD%D0%B5-%D1%81%D0%BE%D0%B7%D0%B4%D0%B0%D0%B4%D1%83%D1%82-%D0%9C%D1%83%D0%B7%D0%B5%D0%B9-%D0%91%D0%B8%D0%B1%D0%BB%D0%B8%D0%B8.jpg">
            <a:extLst>
              <a:ext uri="{FF2B5EF4-FFF2-40B4-BE49-F238E27FC236}">
                <a16:creationId xmlns:a16="http://schemas.microsoft.com/office/drawing/2014/main" id="{CDD3F162-0717-4A9C-922F-B46DA75D4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339" y="2667000"/>
            <a:ext cx="4416505" cy="294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826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4C066-3C1E-4C14-A470-5C2B9A4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Криптография Древнего мира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0612D-2772-4080-91F7-66074E38B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Скитала</a:t>
            </a:r>
            <a:r>
              <a:rPr lang="ru-RU" dirty="0"/>
              <a:t> - шрифт древней Спарты</a:t>
            </a:r>
          </a:p>
          <a:p>
            <a:r>
              <a:rPr lang="ru-RU" dirty="0"/>
              <a:t>Диск Энея</a:t>
            </a:r>
          </a:p>
          <a:p>
            <a:r>
              <a:rPr lang="ru-RU" dirty="0"/>
              <a:t>Линейка Энея</a:t>
            </a:r>
          </a:p>
          <a:p>
            <a:r>
              <a:rPr lang="ru-RU" dirty="0"/>
              <a:t>Книжный шифр Энея</a:t>
            </a:r>
          </a:p>
          <a:p>
            <a:r>
              <a:rPr lang="ru-RU" dirty="0"/>
              <a:t>Квадрат </a:t>
            </a:r>
            <a:r>
              <a:rPr lang="ru-RU" dirty="0" err="1"/>
              <a:t>Полибея</a:t>
            </a:r>
            <a:endParaRPr lang="ru-RU" dirty="0"/>
          </a:p>
          <a:p>
            <a:r>
              <a:rPr lang="ru-RU" dirty="0"/>
              <a:t>Шифр Цезаря</a:t>
            </a:r>
          </a:p>
          <a:p>
            <a:endParaRPr lang="ru-RU" dirty="0"/>
          </a:p>
        </p:txBody>
      </p:sp>
      <p:pic>
        <p:nvPicPr>
          <p:cNvPr id="2050" name="Picture 2" descr="http://geum.ru/next/images/359653-nomer-5988e787.png">
            <a:extLst>
              <a:ext uri="{FF2B5EF4-FFF2-40B4-BE49-F238E27FC236}">
                <a16:creationId xmlns:a16="http://schemas.microsoft.com/office/drawing/2014/main" id="{74830381-7CAB-4FE1-B4B3-04BD17936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799" y="2130595"/>
            <a:ext cx="2740097" cy="156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pvsm.ru/images/smeshannoe-shifrovanie-testa-na-C-2.jpg">
            <a:extLst>
              <a:ext uri="{FF2B5EF4-FFF2-40B4-BE49-F238E27FC236}">
                <a16:creationId xmlns:a16="http://schemas.microsoft.com/office/drawing/2014/main" id="{00360F2F-CC6E-41C6-83EA-064624CDE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488" y="3786145"/>
            <a:ext cx="2470681" cy="222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9261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C11B4-2E03-4B55-A3B6-69F63258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dirty="0"/>
              <a:t>Криптография в арабских странах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CB8356-9BEF-46F5-BA24-02C02D06E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815978" cy="3124201"/>
          </a:xfrm>
        </p:spPr>
        <p:txBody>
          <a:bodyPr/>
          <a:lstStyle/>
          <a:p>
            <a:r>
              <a:rPr lang="ru-RU" dirty="0"/>
              <a:t>С </a:t>
            </a:r>
            <a:r>
              <a:rPr lang="en-US" dirty="0"/>
              <a:t>VIII </a:t>
            </a:r>
            <a:r>
              <a:rPr lang="ru-RU" dirty="0"/>
              <a:t>до </a:t>
            </a:r>
            <a:r>
              <a:rPr lang="en-US" dirty="0"/>
              <a:t>XV </a:t>
            </a:r>
            <a:r>
              <a:rPr lang="ru-RU" dirty="0"/>
              <a:t>века</a:t>
            </a:r>
          </a:p>
          <a:p>
            <a:r>
              <a:rPr lang="ru-RU" dirty="0"/>
              <a:t>Первое упоминание об </a:t>
            </a:r>
            <a:r>
              <a:rPr lang="en-US" dirty="0"/>
              <a:t>“</a:t>
            </a:r>
            <a:r>
              <a:rPr lang="ru-RU" dirty="0"/>
              <a:t>атаке на основе открытого текста</a:t>
            </a:r>
            <a:r>
              <a:rPr lang="en-US" dirty="0"/>
              <a:t>”</a:t>
            </a:r>
            <a:endParaRPr lang="ru-RU" dirty="0"/>
          </a:p>
          <a:p>
            <a:r>
              <a:rPr lang="ru-RU" dirty="0"/>
              <a:t>Первое упоминание о частотном криптоанализе, таблицы частотности букв арабского языка</a:t>
            </a:r>
          </a:p>
        </p:txBody>
      </p:sp>
      <p:pic>
        <p:nvPicPr>
          <p:cNvPr id="3076" name="Picture 4" descr="http://umma.kiev.ua/uploads/mediabank/preview/2012/09/04/7ddba13c1e61394d3a0c52bfafdcb45b781ccae4.jpg">
            <a:extLst>
              <a:ext uri="{FF2B5EF4-FFF2-40B4-BE49-F238E27FC236}">
                <a16:creationId xmlns:a16="http://schemas.microsoft.com/office/drawing/2014/main" id="{46F88916-7042-4BDB-8992-9FC8EFA47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391" y="2514600"/>
            <a:ext cx="4597204" cy="3179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0781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A6E16-C502-40E3-8DF1-BFD0F206E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Криптография в средние века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FA221-F851-48AF-8ED3-38A98C062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639" y="1642244"/>
            <a:ext cx="9905998" cy="3124201"/>
          </a:xfrm>
        </p:spPr>
        <p:txBody>
          <a:bodyPr/>
          <a:lstStyle/>
          <a:p>
            <a:r>
              <a:rPr lang="ru-RU" dirty="0"/>
              <a:t>1452 г - Первая криптографическая организация (Венеция, Италия)</a:t>
            </a:r>
          </a:p>
          <a:p>
            <a:r>
              <a:rPr lang="ru-RU" dirty="0"/>
              <a:t>1550 г –</a:t>
            </a:r>
            <a:r>
              <a:rPr lang="ru-RU" dirty="0" err="1"/>
              <a:t>Джероламо</a:t>
            </a:r>
            <a:r>
              <a:rPr lang="ru-RU" dirty="0"/>
              <a:t> Кардано, решетка</a:t>
            </a:r>
          </a:p>
        </p:txBody>
      </p:sp>
      <p:pic>
        <p:nvPicPr>
          <p:cNvPr id="4098" name="Picture 2" descr="https://upload.wikimedia.org/wikipedia/commons/6/62/CardanGrille.png">
            <a:extLst>
              <a:ext uri="{FF2B5EF4-FFF2-40B4-BE49-F238E27FC236}">
                <a16:creationId xmlns:a16="http://schemas.microsoft.com/office/drawing/2014/main" id="{3B4BB807-C83C-4FF9-AA72-2995866EE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2" y="3547244"/>
            <a:ext cx="3908253" cy="2658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609746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175FD-2ECF-49D5-BFB4-D2567E6B9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Криптография в средние века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E9C1AD-4A93-4110-AA4F-3C14F2667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92792"/>
            <a:ext cx="9905998" cy="3124201"/>
          </a:xfrm>
        </p:spPr>
        <p:txBody>
          <a:bodyPr/>
          <a:lstStyle/>
          <a:p>
            <a:r>
              <a:rPr lang="ru-RU" dirty="0"/>
              <a:t>1580 г –Френсис Бекон, двоичный способ кодирования</a:t>
            </a:r>
          </a:p>
        </p:txBody>
      </p:sp>
      <p:pic>
        <p:nvPicPr>
          <p:cNvPr id="5122" name="Picture 2" descr="http://ok-t.ru/studopedia/baza14/101448421545.files/image045.png">
            <a:extLst>
              <a:ext uri="{FF2B5EF4-FFF2-40B4-BE49-F238E27FC236}">
                <a16:creationId xmlns:a16="http://schemas.microsoft.com/office/drawing/2014/main" id="{8FCAD2FE-F5D2-4F89-AAFF-989A7C2FD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59" y="4195184"/>
            <a:ext cx="10728920" cy="205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085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80042-BCE3-46E3-8EF3-B5F6B081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Криптография в средние века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649A08-5A2A-4ED7-BD62-55FC4057E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537683" cy="3124201"/>
          </a:xfrm>
        </p:spPr>
        <p:txBody>
          <a:bodyPr/>
          <a:lstStyle/>
          <a:p>
            <a:r>
              <a:rPr lang="ru-RU" dirty="0"/>
              <a:t>1585 г – Шифр </a:t>
            </a:r>
            <a:r>
              <a:rPr lang="ru-RU" dirty="0" err="1"/>
              <a:t>Виженера</a:t>
            </a:r>
            <a:endParaRPr lang="ru-RU" dirty="0"/>
          </a:p>
          <a:p>
            <a:r>
              <a:rPr lang="ru-RU" dirty="0"/>
              <a:t>Использование другого открытого текста в качестве ключа</a:t>
            </a:r>
          </a:p>
          <a:p>
            <a:r>
              <a:rPr lang="ru-RU" dirty="0"/>
              <a:t>Использование результат шифрования в качестве ключа</a:t>
            </a:r>
          </a:p>
        </p:txBody>
      </p:sp>
      <p:pic>
        <p:nvPicPr>
          <p:cNvPr id="6146" name="Picture 2" descr="http://dic.academic.ru/pictures/wiki/files/86/Vigenere.jpg">
            <a:extLst>
              <a:ext uri="{FF2B5EF4-FFF2-40B4-BE49-F238E27FC236}">
                <a16:creationId xmlns:a16="http://schemas.microsoft.com/office/drawing/2014/main" id="{DEA85A24-7C96-4040-85EA-B27AD8D61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794" y="2115542"/>
            <a:ext cx="3271617" cy="422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897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1AD63-8A2C-4D6F-88F8-BA317212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30087"/>
            <a:ext cx="10056674" cy="1984513"/>
          </a:xfrm>
        </p:spPr>
        <p:txBody>
          <a:bodyPr/>
          <a:lstStyle/>
          <a:p>
            <a:r>
              <a:rPr lang="ru-RU" dirty="0"/>
              <a:t>Криптография в </a:t>
            </a:r>
            <a:r>
              <a:rPr lang="en-US" dirty="0"/>
              <a:t>XX</a:t>
            </a:r>
            <a:r>
              <a:rPr lang="ru-RU" dirty="0"/>
              <a:t> веке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DF111F-4C0D-49AE-8D15-CA6E91E78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932584"/>
          </a:xfrm>
        </p:spPr>
        <p:txBody>
          <a:bodyPr>
            <a:normAutofit fontScale="85000" lnSpcReduction="10000"/>
          </a:bodyPr>
          <a:lstStyle/>
          <a:p>
            <a:r>
              <a:rPr lang="ru-RU" sz="3400" dirty="0"/>
              <a:t>Шесть принципов </a:t>
            </a:r>
            <a:r>
              <a:rPr lang="ru-RU" sz="3400" dirty="0" err="1"/>
              <a:t>Керкгоффса</a:t>
            </a:r>
            <a:r>
              <a:rPr lang="en-US" sz="3400" dirty="0"/>
              <a:t>:</a:t>
            </a:r>
            <a:endParaRPr lang="ru-RU" sz="3400" dirty="0"/>
          </a:p>
          <a:p>
            <a:r>
              <a:rPr lang="ru-RU" dirty="0">
                <a:effectLst/>
              </a:rPr>
              <a:t>Система должна быть физически, если не математически, </a:t>
            </a:r>
            <a:r>
              <a:rPr lang="ru-RU" dirty="0" err="1">
                <a:effectLst/>
              </a:rPr>
              <a:t>невскрываемой</a:t>
            </a:r>
            <a:r>
              <a:rPr lang="ru-RU" dirty="0">
                <a:effectLst/>
              </a:rPr>
              <a:t>;</a:t>
            </a:r>
          </a:p>
          <a:p>
            <a:r>
              <a:rPr lang="ru-RU" dirty="0">
                <a:effectLst/>
              </a:rPr>
              <a:t>Нужно, чтобы не требовалось сохранение системы в тайне; попадание системы в руки врага не должно причинять неудобств;</a:t>
            </a:r>
          </a:p>
          <a:p>
            <a:r>
              <a:rPr lang="ru-RU" dirty="0">
                <a:effectLst/>
              </a:rPr>
              <a:t>Хранение и передача ключа должны быть осуществимы без помощи бумажных записей; корреспонденты должны располагать возможностью менять ключ по своему усмотрению;</a:t>
            </a:r>
          </a:p>
          <a:p>
            <a:r>
              <a:rPr lang="ru-RU" dirty="0">
                <a:effectLst/>
              </a:rPr>
              <a:t>Система должна быть пригодной для сообщения через телеграф;</a:t>
            </a:r>
          </a:p>
          <a:p>
            <a:r>
              <a:rPr lang="ru-RU" dirty="0">
                <a:effectLst/>
              </a:rPr>
              <a:t>Система должна быть легко переносимой, работа с ней не должна требовать участия нескольких лиц одновременно;</a:t>
            </a:r>
          </a:p>
          <a:p>
            <a:r>
              <a:rPr lang="ru-RU" dirty="0">
                <a:effectLst/>
              </a:rPr>
              <a:t>Наконец, от системы требуется, учитывая возможные обстоятельства её применения, чтобы она была проста в использовании, не требовала значительного умственного напряжения или соблюдения большого количества правил.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68226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E553AA-89C5-47C4-9907-110B88E12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Криптография в </a:t>
            </a:r>
            <a:r>
              <a:rPr lang="en-US" dirty="0"/>
              <a:t>XX</a:t>
            </a:r>
            <a:r>
              <a:rPr lang="ru-RU" dirty="0"/>
              <a:t> веке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12540D-4054-4D0D-9221-2C57E934A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1914 год – </a:t>
            </a:r>
            <a:r>
              <a:rPr lang="en-US" dirty="0"/>
              <a:t>“Room 40”</a:t>
            </a:r>
            <a:r>
              <a:rPr lang="ru-RU" dirty="0"/>
              <a:t>, Англия</a:t>
            </a:r>
          </a:p>
          <a:p>
            <a:r>
              <a:rPr lang="ru-RU" dirty="0"/>
              <a:t>1914 год – </a:t>
            </a:r>
            <a:r>
              <a:rPr lang="en-US" dirty="0"/>
              <a:t>“MI-8”</a:t>
            </a:r>
            <a:r>
              <a:rPr lang="ru-RU" dirty="0"/>
              <a:t>, США</a:t>
            </a:r>
          </a:p>
          <a:p>
            <a:r>
              <a:rPr lang="ru-RU" dirty="0"/>
              <a:t>1919 год – </a:t>
            </a:r>
            <a:r>
              <a:rPr lang="en-US" dirty="0"/>
              <a:t>“</a:t>
            </a:r>
            <a:r>
              <a:rPr lang="en-US" dirty="0" err="1"/>
              <a:t>Biuro</a:t>
            </a:r>
            <a:r>
              <a:rPr lang="en-US" dirty="0"/>
              <a:t> </a:t>
            </a:r>
            <a:r>
              <a:rPr lang="en-US" dirty="0" err="1"/>
              <a:t>Szyfrow</a:t>
            </a:r>
            <a:r>
              <a:rPr lang="en-US" dirty="0"/>
              <a:t>”</a:t>
            </a:r>
            <a:endParaRPr lang="ru-RU" dirty="0"/>
          </a:p>
        </p:txBody>
      </p:sp>
      <p:pic>
        <p:nvPicPr>
          <p:cNvPr id="11266" name="Picture 2" descr="https://upload.wikimedia.org/wikipedia/commons/6/6e/WormwoodScrubsEntrance.jpg">
            <a:extLst>
              <a:ext uri="{FF2B5EF4-FFF2-40B4-BE49-F238E27FC236}">
                <a16:creationId xmlns:a16="http://schemas.microsoft.com/office/drawing/2014/main" id="{44F8CC49-1C13-4BAC-BAD2-D6CB43C3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305" y="2201516"/>
            <a:ext cx="3041374" cy="4055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19136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9A6253-9261-4AF4-8A2F-71E9708A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Первая мировая война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BBDAC1-9AFE-4C08-95EC-2986A33F6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1883"/>
            <a:ext cx="5163134" cy="3549318"/>
          </a:xfrm>
        </p:spPr>
        <p:txBody>
          <a:bodyPr/>
          <a:lstStyle/>
          <a:p>
            <a:r>
              <a:rPr lang="ru-RU" dirty="0"/>
              <a:t>Криптография как инструмент войны</a:t>
            </a:r>
          </a:p>
          <a:p>
            <a:r>
              <a:rPr lang="ru-RU" dirty="0"/>
              <a:t>Телеграмма </a:t>
            </a:r>
            <a:r>
              <a:rPr lang="ru-RU" dirty="0" err="1"/>
              <a:t>Циммермана</a:t>
            </a:r>
            <a:endParaRPr lang="ru-RU" dirty="0"/>
          </a:p>
        </p:txBody>
      </p:sp>
      <p:pic>
        <p:nvPicPr>
          <p:cNvPr id="7172" name="Picture 4" descr="http://static.espreso.tv/uploads/article/149174/images/im578x383-Ztel1b.jpg">
            <a:extLst>
              <a:ext uri="{FF2B5EF4-FFF2-40B4-BE49-F238E27FC236}">
                <a16:creationId xmlns:a16="http://schemas.microsoft.com/office/drawing/2014/main" id="{103062A2-855F-4CC1-B5B1-A1CA2313E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758" y="2241882"/>
            <a:ext cx="3217399" cy="397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316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2E4E9-608D-4D89-8223-4A8DE9271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Вторая мировая война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C0DB3-33AC-4815-AC7F-C8A6AC77D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6125661" cy="3124201"/>
          </a:xfrm>
        </p:spPr>
        <p:txBody>
          <a:bodyPr/>
          <a:lstStyle/>
          <a:p>
            <a:r>
              <a:rPr lang="ru-RU" dirty="0" err="1"/>
              <a:t>Энигма</a:t>
            </a:r>
            <a:endParaRPr lang="ru-RU" dirty="0"/>
          </a:p>
          <a:p>
            <a:r>
              <a:rPr lang="ru-RU" dirty="0"/>
              <a:t>Секретность</a:t>
            </a:r>
          </a:p>
          <a:p>
            <a:pPr marL="0" indent="0">
              <a:buNone/>
            </a:pPr>
            <a:r>
              <a:rPr lang="ru-RU" dirty="0"/>
              <a:t>      -  бомбардировка Ковентри 14 февраля 1940 года</a:t>
            </a:r>
          </a:p>
        </p:txBody>
      </p:sp>
      <p:pic>
        <p:nvPicPr>
          <p:cNvPr id="8194" name="Picture 2" descr="https://upload.wikimedia.org/wikipedia/commons/3/3c/Four-rotor-enigma.jpg">
            <a:extLst>
              <a:ext uri="{FF2B5EF4-FFF2-40B4-BE49-F238E27FC236}">
                <a16:creationId xmlns:a16="http://schemas.microsoft.com/office/drawing/2014/main" id="{61F79CEA-5893-4640-A3E1-B62827FB0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569" y="2514600"/>
            <a:ext cx="3368842" cy="320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011425"/>
      </p:ext>
    </p:extLst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61B8F-2280-4807-8437-30896394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криптография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094ED5-0EEC-437D-A910-6DCACCE46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1960 – появление блочных шифров</a:t>
            </a:r>
          </a:p>
          <a:p>
            <a:r>
              <a:rPr lang="ru-RU" dirty="0"/>
              <a:t>1967 – </a:t>
            </a:r>
            <a:r>
              <a:rPr lang="en-US" dirty="0"/>
              <a:t>“</a:t>
            </a:r>
            <a:r>
              <a:rPr lang="ru-RU" dirty="0"/>
              <a:t>Взломщики кодов</a:t>
            </a:r>
            <a:r>
              <a:rPr lang="en-US" dirty="0"/>
              <a:t>”</a:t>
            </a:r>
            <a:r>
              <a:rPr lang="ru-RU" dirty="0"/>
              <a:t> Дэвид Кан</a:t>
            </a:r>
          </a:p>
        </p:txBody>
      </p:sp>
      <p:pic>
        <p:nvPicPr>
          <p:cNvPr id="9218" name="Picture 2" descr="Издание">
            <a:extLst>
              <a:ext uri="{FF2B5EF4-FFF2-40B4-BE49-F238E27FC236}">
                <a16:creationId xmlns:a16="http://schemas.microsoft.com/office/drawing/2014/main" id="{5E829745-68AF-4376-BA71-9E081BD41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409" y="2228809"/>
            <a:ext cx="2453028" cy="389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9528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>
        <p14:shred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A79D81-2EE8-44CE-BF90-83D54001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криптография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EAC8CA-4178-4A52-9919-5EBB70829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924877"/>
            <a:ext cx="4585619" cy="4012097"/>
          </a:xfrm>
        </p:spPr>
        <p:txBody>
          <a:bodyPr/>
          <a:lstStyle/>
          <a:p>
            <a:r>
              <a:rPr lang="ru-RU" dirty="0"/>
              <a:t>1976 год – официальное принятие шифра </a:t>
            </a:r>
            <a:r>
              <a:rPr lang="en-US" dirty="0"/>
              <a:t>DES</a:t>
            </a:r>
            <a:r>
              <a:rPr lang="ru-RU" dirty="0"/>
              <a:t> в качестве стандарта</a:t>
            </a:r>
          </a:p>
        </p:txBody>
      </p:sp>
      <p:pic>
        <p:nvPicPr>
          <p:cNvPr id="10244" name="Picture 4" descr="http://h.120-bal.ru/pars_docs/refs/17/16138/16138_html_5b981a10.png">
            <a:extLst>
              <a:ext uri="{FF2B5EF4-FFF2-40B4-BE49-F238E27FC236}">
                <a16:creationId xmlns:a16="http://schemas.microsoft.com/office/drawing/2014/main" id="{1DAB4A81-BAF4-497D-AE2F-9C0F0838D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2612" y="2124489"/>
            <a:ext cx="2849218" cy="4202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319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vortex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7F8182-6C9B-48EF-85F6-16B85347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161" y="2372139"/>
            <a:ext cx="9905998" cy="1905000"/>
          </a:xfrm>
        </p:spPr>
        <p:txBody>
          <a:bodyPr/>
          <a:lstStyle/>
          <a:p>
            <a:pPr algn="ctr"/>
            <a:r>
              <a:rPr lang="ru-RU" dirty="0"/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173829679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Сетк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TM03457485[[fn=Сетчатая]]</Template>
  <TotalTime>88</TotalTime>
  <Words>340</Words>
  <Application>Microsoft Office PowerPoint</Application>
  <PresentationFormat>Широкоэкранный</PresentationFormat>
  <Paragraphs>57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Сетка</vt:lpstr>
      <vt:lpstr>История криптографии</vt:lpstr>
      <vt:lpstr>История криптографии</vt:lpstr>
      <vt:lpstr>Криптография древнего мира</vt:lpstr>
      <vt:lpstr>Криптография Древнего мира</vt:lpstr>
      <vt:lpstr>Криптография в арабских странах </vt:lpstr>
      <vt:lpstr>Криптография в средние века</vt:lpstr>
      <vt:lpstr>Криптография в средние века</vt:lpstr>
      <vt:lpstr>Криптография в средние века</vt:lpstr>
      <vt:lpstr>Криптография в XX веке</vt:lpstr>
      <vt:lpstr>Криптография в XX веке</vt:lpstr>
      <vt:lpstr>Первая мировая война</vt:lpstr>
      <vt:lpstr>Вторая мировая война</vt:lpstr>
      <vt:lpstr>Математическая криптография</vt:lpstr>
      <vt:lpstr>Математическая криптография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криптографии</dc:title>
  <dc:creator>Mark Artamonov</dc:creator>
  <cp:lastModifiedBy>Mark Artamonov</cp:lastModifiedBy>
  <cp:revision>10</cp:revision>
  <dcterms:created xsi:type="dcterms:W3CDTF">2017-10-03T14:23:01Z</dcterms:created>
  <dcterms:modified xsi:type="dcterms:W3CDTF">2017-10-03T15:51:41Z</dcterms:modified>
</cp:coreProperties>
</file>