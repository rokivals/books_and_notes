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63" r:id="rId2"/>
    <p:sldId id="264"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Lst>
  <p:sldSz cx="9144000" cy="5143500" type="screen16x9"/>
  <p:notesSz cx="6858000" cy="9144000"/>
  <p:embeddedFontLst>
    <p:embeddedFont>
      <p:font typeface="Old Standard TT" panose="020B0604020202020204" charset="0"/>
      <p:regular r:id="rId21"/>
      <p:bold r:id="rId22"/>
      <p: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5F9895-1A9F-4267-948F-A506CD65F050}">
  <a:tblStyle styleId="{E15F9895-1A9F-4267-948F-A506CD65F050}"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7" d="100"/>
          <a:sy n="147" d="100"/>
        </p:scale>
        <p:origin x="56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extLst>
      <p:ext uri="{BB962C8B-B14F-4D97-AF65-F5344CB8AC3E}">
        <p14:creationId xmlns:p14="http://schemas.microsoft.com/office/powerpoint/2010/main" val="2473971671"/>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Shape 10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4" name="Shape 10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57463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Shape 1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2" name="Shape 11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452900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Shape 11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0" name="Shape 12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549727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Shape 12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8" name="Shape 128"/>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237128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Shape 1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6" name="Shape 136"/>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855645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Shape 14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4" name="Shape 144"/>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448065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Shape 1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2" name="Shape 15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614695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Shape 1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0" name="Shape 16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514343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Shape 1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3" name="Shape 17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4668804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Shape 17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9" name="Shape 17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167773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Shape 18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7" name="Shape 187"/>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820482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Shape 1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5" name="Shape 19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464021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3" name="Shape 20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40937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9" name="Shape 209"/>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020846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Shape 21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5" name="Shape 21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221397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Shape 22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3" name="Shape 223"/>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6833251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Shape 23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2" name="Shape 23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823103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Shape 23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0" name="Shape 24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079867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cSld name="Section header">
    <p:bg>
      <p:bgPr>
        <a:solidFill>
          <a:schemeClr val="dk1"/>
        </a:solidFill>
        <a:effectLst/>
      </p:bgPr>
    </p:bg>
    <p:spTree>
      <p:nvGrpSpPr>
        <p:cNvPr id="1" name="Shape 15"/>
        <p:cNvGrpSpPr/>
        <p:nvPr/>
      </p:nvGrpSpPr>
      <p:grpSpPr>
        <a:xfrm>
          <a:off x="0" y="0"/>
          <a:ext cx="0" cy="0"/>
          <a:chOff x="0" y="0"/>
          <a:chExt cx="0" cy="0"/>
        </a:xfrm>
      </p:grpSpPr>
      <p:cxnSp>
        <p:nvCxnSpPr>
          <p:cNvPr id="16" name="Shape 16"/>
          <p:cNvCxnSpPr/>
          <p:nvPr/>
        </p:nvCxnSpPr>
        <p:spPr>
          <a:xfrm>
            <a:off x="641934" y="3597500"/>
            <a:ext cx="390299" cy="0"/>
          </a:xfrm>
          <a:prstGeom prst="straightConnector1">
            <a:avLst/>
          </a:prstGeom>
          <a:noFill/>
          <a:ln w="28575" cap="flat" cmpd="sng">
            <a:solidFill>
              <a:schemeClr val="lt2"/>
            </a:solidFill>
            <a:prstDash val="solid"/>
            <a:round/>
            <a:headEnd type="none" w="med" len="med"/>
            <a:tailEnd type="none" w="med" len="med"/>
          </a:ln>
        </p:spPr>
      </p:cxnSp>
      <p:sp>
        <p:nvSpPr>
          <p:cNvPr id="17" name="Shape 17"/>
          <p:cNvSpPr txBox="1">
            <a:spLocks noGrp="1"/>
          </p:cNvSpPr>
          <p:nvPr>
            <p:ph type="title"/>
          </p:nvPr>
        </p:nvSpPr>
        <p:spPr>
          <a:xfrm>
            <a:off x="512700" y="1893300"/>
            <a:ext cx="8118600" cy="1522800"/>
          </a:xfrm>
          <a:prstGeom prst="rect">
            <a:avLst/>
          </a:prstGeom>
        </p:spPr>
        <p:txBody>
          <a:bodyPr lIns="91425" tIns="91425" rIns="91425" bIns="91425" anchor="b" anchorCtr="0"/>
          <a:lstStyle>
            <a:lvl1pPr lvl="0">
              <a:spcBef>
                <a:spcPts val="0"/>
              </a:spcBef>
              <a:buClr>
                <a:schemeClr val="accent1"/>
              </a:buClr>
              <a:buSzPct val="100000"/>
              <a:defRPr sz="6000">
                <a:solidFill>
                  <a:schemeClr val="accent1"/>
                </a:solidFill>
              </a:defRPr>
            </a:lvl1pPr>
            <a:lvl2pPr lvl="1">
              <a:spcBef>
                <a:spcPts val="0"/>
              </a:spcBef>
              <a:buClr>
                <a:schemeClr val="accent1"/>
              </a:buClr>
              <a:buSzPct val="100000"/>
              <a:defRPr sz="6000">
                <a:solidFill>
                  <a:schemeClr val="accent1"/>
                </a:solidFill>
              </a:defRPr>
            </a:lvl2pPr>
            <a:lvl3pPr lvl="2">
              <a:spcBef>
                <a:spcPts val="0"/>
              </a:spcBef>
              <a:buClr>
                <a:schemeClr val="accent1"/>
              </a:buClr>
              <a:buSzPct val="100000"/>
              <a:defRPr sz="6000">
                <a:solidFill>
                  <a:schemeClr val="accent1"/>
                </a:solidFill>
              </a:defRPr>
            </a:lvl3pPr>
            <a:lvl4pPr lvl="3">
              <a:spcBef>
                <a:spcPts val="0"/>
              </a:spcBef>
              <a:buClr>
                <a:schemeClr val="accent1"/>
              </a:buClr>
              <a:buSzPct val="100000"/>
              <a:defRPr sz="6000">
                <a:solidFill>
                  <a:schemeClr val="accent1"/>
                </a:solidFill>
              </a:defRPr>
            </a:lvl4pPr>
            <a:lvl5pPr lvl="4">
              <a:spcBef>
                <a:spcPts val="0"/>
              </a:spcBef>
              <a:buClr>
                <a:schemeClr val="accent1"/>
              </a:buClr>
              <a:buSzPct val="100000"/>
              <a:defRPr sz="6000">
                <a:solidFill>
                  <a:schemeClr val="accent1"/>
                </a:solidFill>
              </a:defRPr>
            </a:lvl5pPr>
            <a:lvl6pPr lvl="5">
              <a:spcBef>
                <a:spcPts val="0"/>
              </a:spcBef>
              <a:buClr>
                <a:schemeClr val="accent1"/>
              </a:buClr>
              <a:buSzPct val="100000"/>
              <a:defRPr sz="6000">
                <a:solidFill>
                  <a:schemeClr val="accent1"/>
                </a:solidFill>
              </a:defRPr>
            </a:lvl6pPr>
            <a:lvl7pPr lvl="6">
              <a:spcBef>
                <a:spcPts val="0"/>
              </a:spcBef>
              <a:buClr>
                <a:schemeClr val="accent1"/>
              </a:buClr>
              <a:buSzPct val="100000"/>
              <a:defRPr sz="6000">
                <a:solidFill>
                  <a:schemeClr val="accent1"/>
                </a:solidFill>
              </a:defRPr>
            </a:lvl7pPr>
            <a:lvl8pPr lvl="7">
              <a:spcBef>
                <a:spcPts val="0"/>
              </a:spcBef>
              <a:buClr>
                <a:schemeClr val="accent1"/>
              </a:buClr>
              <a:buSzPct val="100000"/>
              <a:defRPr sz="6000">
                <a:solidFill>
                  <a:schemeClr val="accent1"/>
                </a:solidFill>
              </a:defRPr>
            </a:lvl8pPr>
            <a:lvl9pPr lvl="8">
              <a:spcBef>
                <a:spcPts val="0"/>
              </a:spcBef>
              <a:buClr>
                <a:schemeClr val="accent1"/>
              </a:buClr>
              <a:buSzPct val="100000"/>
              <a:defRPr sz="6000">
                <a:solidFill>
                  <a:schemeClr val="accent1"/>
                </a:solidFill>
              </a:defRPr>
            </a:lvl9pPr>
          </a:lstStyle>
          <a:p>
            <a:endParaRPr/>
          </a:p>
        </p:txBody>
      </p:sp>
      <p:sp>
        <p:nvSpPr>
          <p:cNvPr id="18" name="Shape 18"/>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ru">
                <a:solidFill>
                  <a:schemeClr val="accent1"/>
                </a:solidFill>
              </a:rPr>
              <a:t>‹#›</a:t>
            </a:fld>
            <a:endParaRPr lang="ru">
              <a:solidFill>
                <a:schemeClr val="accent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a:off x="0" y="5045700"/>
            <a:ext cx="9144000" cy="978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21" name="Shape 21"/>
          <p:cNvSpPr txBox="1">
            <a:spLocks noGrp="1"/>
          </p:cNvSpPr>
          <p:nvPr>
            <p:ph type="title"/>
          </p:nvPr>
        </p:nvSpPr>
        <p:spPr>
          <a:xfrm>
            <a:off x="311700" y="445025"/>
            <a:ext cx="8520600" cy="613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body" idx="1"/>
          </p:nvPr>
        </p:nvSpPr>
        <p:spPr>
          <a:xfrm>
            <a:off x="311700" y="1171600"/>
            <a:ext cx="8520600" cy="339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3" name="Shape 23"/>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ru"/>
              <a:t>‹#›</a:t>
            </a:fld>
            <a:endParaRPr lang="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311700" y="445025"/>
            <a:ext cx="8520600" cy="613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6" name="Shape 26"/>
          <p:cNvSpPr txBox="1">
            <a:spLocks noGrp="1"/>
          </p:cNvSpPr>
          <p:nvPr>
            <p:ph type="body" idx="1"/>
          </p:nvPr>
        </p:nvSpPr>
        <p:spPr>
          <a:xfrm>
            <a:off x="311700" y="1171675"/>
            <a:ext cx="3999900" cy="33972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7" name="Shape 27"/>
          <p:cNvSpPr txBox="1">
            <a:spLocks noGrp="1"/>
          </p:cNvSpPr>
          <p:nvPr>
            <p:ph type="body" idx="2"/>
          </p:nvPr>
        </p:nvSpPr>
        <p:spPr>
          <a:xfrm>
            <a:off x="4832400" y="1171675"/>
            <a:ext cx="3999900" cy="33972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8" name="Shape 28"/>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ru"/>
              <a:t>‹#›</a:t>
            </a:fld>
            <a:endParaRPr lang="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9"/>
        <p:cNvGrpSpPr/>
        <p:nvPr/>
      </p:nvGrpSpPr>
      <p:grpSpPr>
        <a:xfrm>
          <a:off x="0" y="0"/>
          <a:ext cx="0" cy="0"/>
          <a:chOff x="0" y="0"/>
          <a:chExt cx="0" cy="0"/>
        </a:xfrm>
      </p:grpSpPr>
      <p:sp>
        <p:nvSpPr>
          <p:cNvPr id="30" name="Shape 30"/>
          <p:cNvSpPr txBox="1">
            <a:spLocks noGrp="1"/>
          </p:cNvSpPr>
          <p:nvPr>
            <p:ph type="title"/>
          </p:nvPr>
        </p:nvSpPr>
        <p:spPr>
          <a:xfrm>
            <a:off x="311700" y="445025"/>
            <a:ext cx="8520600" cy="613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1" name="Shape 31"/>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ru"/>
              <a:t>‹#›</a:t>
            </a:fld>
            <a:endParaRPr lang="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311700" y="555600"/>
            <a:ext cx="2808000" cy="7557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4" name="Shape 34"/>
          <p:cNvSpPr txBox="1">
            <a:spLocks noGrp="1"/>
          </p:cNvSpPr>
          <p:nvPr>
            <p:ph type="body" idx="1"/>
          </p:nvPr>
        </p:nvSpPr>
        <p:spPr>
          <a:xfrm>
            <a:off x="311700" y="1389600"/>
            <a:ext cx="2808000" cy="31794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5" name="Shape 35"/>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ru"/>
              <a:t>‹#›</a:t>
            </a:fld>
            <a:endParaRPr lang="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Main point">
    <p:bg>
      <p:bgPr>
        <a:solidFill>
          <a:schemeClr val="lt2"/>
        </a:solidFill>
        <a:effectLst/>
      </p:bgPr>
    </p:bg>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490250" y="526350"/>
            <a:ext cx="5604000" cy="4090800"/>
          </a:xfrm>
          <a:prstGeom prst="rect">
            <a:avLst/>
          </a:prstGeom>
        </p:spPr>
        <p:txBody>
          <a:bodyPr lIns="91425" tIns="91425" rIns="91425" bIns="91425" anchor="ctr" anchorCtr="0"/>
          <a:lstStyle>
            <a:lvl1pPr lvl="0">
              <a:spcBef>
                <a:spcPts val="0"/>
              </a:spcBef>
              <a:buClr>
                <a:schemeClr val="accent1"/>
              </a:buClr>
              <a:buSzPct val="100000"/>
              <a:defRPr sz="5400">
                <a:solidFill>
                  <a:schemeClr val="accent1"/>
                </a:solidFill>
              </a:defRPr>
            </a:lvl1pPr>
            <a:lvl2pPr lvl="1">
              <a:spcBef>
                <a:spcPts val="0"/>
              </a:spcBef>
              <a:buClr>
                <a:schemeClr val="accent1"/>
              </a:buClr>
              <a:buSzPct val="100000"/>
              <a:defRPr sz="5400">
                <a:solidFill>
                  <a:schemeClr val="accent1"/>
                </a:solidFill>
              </a:defRPr>
            </a:lvl2pPr>
            <a:lvl3pPr lvl="2">
              <a:spcBef>
                <a:spcPts val="0"/>
              </a:spcBef>
              <a:buClr>
                <a:schemeClr val="accent1"/>
              </a:buClr>
              <a:buSzPct val="100000"/>
              <a:defRPr sz="5400">
                <a:solidFill>
                  <a:schemeClr val="accent1"/>
                </a:solidFill>
              </a:defRPr>
            </a:lvl3pPr>
            <a:lvl4pPr lvl="3">
              <a:spcBef>
                <a:spcPts val="0"/>
              </a:spcBef>
              <a:buClr>
                <a:schemeClr val="accent1"/>
              </a:buClr>
              <a:buSzPct val="100000"/>
              <a:defRPr sz="5400">
                <a:solidFill>
                  <a:schemeClr val="accent1"/>
                </a:solidFill>
              </a:defRPr>
            </a:lvl4pPr>
            <a:lvl5pPr lvl="4">
              <a:spcBef>
                <a:spcPts val="0"/>
              </a:spcBef>
              <a:buClr>
                <a:schemeClr val="accent1"/>
              </a:buClr>
              <a:buSzPct val="100000"/>
              <a:defRPr sz="5400">
                <a:solidFill>
                  <a:schemeClr val="accent1"/>
                </a:solidFill>
              </a:defRPr>
            </a:lvl5pPr>
            <a:lvl6pPr lvl="5">
              <a:spcBef>
                <a:spcPts val="0"/>
              </a:spcBef>
              <a:buClr>
                <a:schemeClr val="accent1"/>
              </a:buClr>
              <a:buSzPct val="100000"/>
              <a:defRPr sz="5400">
                <a:solidFill>
                  <a:schemeClr val="accent1"/>
                </a:solidFill>
              </a:defRPr>
            </a:lvl6pPr>
            <a:lvl7pPr lvl="6">
              <a:spcBef>
                <a:spcPts val="0"/>
              </a:spcBef>
              <a:buClr>
                <a:schemeClr val="accent1"/>
              </a:buClr>
              <a:buSzPct val="100000"/>
              <a:defRPr sz="5400">
                <a:solidFill>
                  <a:schemeClr val="accent1"/>
                </a:solidFill>
              </a:defRPr>
            </a:lvl7pPr>
            <a:lvl8pPr lvl="7">
              <a:spcBef>
                <a:spcPts val="0"/>
              </a:spcBef>
              <a:buClr>
                <a:schemeClr val="accent1"/>
              </a:buClr>
              <a:buSzPct val="100000"/>
              <a:defRPr sz="5400">
                <a:solidFill>
                  <a:schemeClr val="accent1"/>
                </a:solidFill>
              </a:defRPr>
            </a:lvl8pPr>
            <a:lvl9pPr lvl="8">
              <a:spcBef>
                <a:spcPts val="0"/>
              </a:spcBef>
              <a:buClr>
                <a:schemeClr val="accent1"/>
              </a:buClr>
              <a:buSzPct val="100000"/>
              <a:defRPr sz="5400">
                <a:solidFill>
                  <a:schemeClr val="accent1"/>
                </a:solidFill>
              </a:defRPr>
            </a:lvl9pPr>
          </a:lstStyle>
          <a:p>
            <a:endParaRPr/>
          </a:p>
        </p:txBody>
      </p:sp>
      <p:sp>
        <p:nvSpPr>
          <p:cNvPr id="38" name="Shape 38"/>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ru">
                <a:solidFill>
                  <a:schemeClr val="accent1"/>
                </a:solidFill>
              </a:rPr>
              <a:t>‹#›</a:t>
            </a:fld>
            <a:endParaRPr lang="ru">
              <a:solidFill>
                <a:schemeClr val="accent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9"/>
        <p:cNvGrpSpPr/>
        <p:nvPr/>
      </p:nvGrpSpPr>
      <p:grpSpPr>
        <a:xfrm>
          <a:off x="0" y="0"/>
          <a:ext cx="0" cy="0"/>
          <a:chOff x="0" y="0"/>
          <a:chExt cx="0" cy="0"/>
        </a:xfrm>
      </p:grpSpPr>
      <p:sp>
        <p:nvSpPr>
          <p:cNvPr id="40" name="Shape 40"/>
          <p:cNvSpPr/>
          <p:nvPr/>
        </p:nvSpPr>
        <p:spPr>
          <a:xfrm>
            <a:off x="4572000" y="-25"/>
            <a:ext cx="4572000" cy="5143500"/>
          </a:xfrm>
          <a:prstGeom prst="rect">
            <a:avLst/>
          </a:prstGeom>
          <a:solidFill>
            <a:schemeClr val="dk1"/>
          </a:solidFill>
          <a:ln>
            <a:noFill/>
          </a:ln>
        </p:spPr>
        <p:txBody>
          <a:bodyPr lIns="91425" tIns="91425" rIns="91425" bIns="91425" anchor="ctr" anchorCtr="0">
            <a:noAutofit/>
          </a:bodyPr>
          <a:lstStyle/>
          <a:p>
            <a:pPr lvl="0">
              <a:spcBef>
                <a:spcPts val="0"/>
              </a:spcBef>
              <a:buNone/>
            </a:pPr>
            <a:endParaRPr/>
          </a:p>
        </p:txBody>
      </p:sp>
      <p:cxnSp>
        <p:nvCxnSpPr>
          <p:cNvPr id="41" name="Shape 41"/>
          <p:cNvCxnSpPr/>
          <p:nvPr/>
        </p:nvCxnSpPr>
        <p:spPr>
          <a:xfrm>
            <a:off x="5029675" y="4495500"/>
            <a:ext cx="686400" cy="0"/>
          </a:xfrm>
          <a:prstGeom prst="straightConnector1">
            <a:avLst/>
          </a:prstGeom>
          <a:noFill/>
          <a:ln w="19050" cap="flat" cmpd="sng">
            <a:solidFill>
              <a:schemeClr val="lt2"/>
            </a:solidFill>
            <a:prstDash val="solid"/>
            <a:round/>
            <a:headEnd type="none" w="med" len="med"/>
            <a:tailEnd type="none" w="med" len="med"/>
          </a:ln>
        </p:spPr>
      </p:cxnSp>
      <p:sp>
        <p:nvSpPr>
          <p:cNvPr id="42" name="Shape 42"/>
          <p:cNvSpPr txBox="1">
            <a:spLocks noGrp="1"/>
          </p:cNvSpPr>
          <p:nvPr>
            <p:ph type="title"/>
          </p:nvPr>
        </p:nvSpPr>
        <p:spPr>
          <a:xfrm>
            <a:off x="265500" y="1382350"/>
            <a:ext cx="4045200" cy="1333200"/>
          </a:xfrm>
          <a:prstGeom prst="rect">
            <a:avLst/>
          </a:prstGeom>
        </p:spPr>
        <p:txBody>
          <a:bodyPr lIns="91425" tIns="91425" rIns="91425" bIns="91425" anchor="b" anchorCtr="0"/>
          <a:lstStyle>
            <a:lvl1pPr lvl="0" algn="ctr">
              <a:spcBef>
                <a:spcPts val="0"/>
              </a:spcBef>
              <a:buClr>
                <a:schemeClr val="lt2"/>
              </a:buClr>
              <a:buSzPct val="100000"/>
              <a:defRPr sz="4200">
                <a:solidFill>
                  <a:schemeClr val="lt2"/>
                </a:solidFill>
              </a:defRPr>
            </a:lvl1pPr>
            <a:lvl2pPr lvl="1" algn="ctr">
              <a:spcBef>
                <a:spcPts val="0"/>
              </a:spcBef>
              <a:buClr>
                <a:schemeClr val="lt2"/>
              </a:buClr>
              <a:buSzPct val="100000"/>
              <a:defRPr sz="4200">
                <a:solidFill>
                  <a:schemeClr val="lt2"/>
                </a:solidFill>
              </a:defRPr>
            </a:lvl2pPr>
            <a:lvl3pPr lvl="2" algn="ctr">
              <a:spcBef>
                <a:spcPts val="0"/>
              </a:spcBef>
              <a:buClr>
                <a:schemeClr val="lt2"/>
              </a:buClr>
              <a:buSzPct val="100000"/>
              <a:defRPr sz="4200">
                <a:solidFill>
                  <a:schemeClr val="lt2"/>
                </a:solidFill>
              </a:defRPr>
            </a:lvl3pPr>
            <a:lvl4pPr lvl="3" algn="ctr">
              <a:spcBef>
                <a:spcPts val="0"/>
              </a:spcBef>
              <a:buClr>
                <a:schemeClr val="lt2"/>
              </a:buClr>
              <a:buSzPct val="100000"/>
              <a:defRPr sz="4200">
                <a:solidFill>
                  <a:schemeClr val="lt2"/>
                </a:solidFill>
              </a:defRPr>
            </a:lvl4pPr>
            <a:lvl5pPr lvl="4" algn="ctr">
              <a:spcBef>
                <a:spcPts val="0"/>
              </a:spcBef>
              <a:buClr>
                <a:schemeClr val="lt2"/>
              </a:buClr>
              <a:buSzPct val="100000"/>
              <a:defRPr sz="4200">
                <a:solidFill>
                  <a:schemeClr val="lt2"/>
                </a:solidFill>
              </a:defRPr>
            </a:lvl5pPr>
            <a:lvl6pPr lvl="5" algn="ctr">
              <a:spcBef>
                <a:spcPts val="0"/>
              </a:spcBef>
              <a:buClr>
                <a:schemeClr val="lt2"/>
              </a:buClr>
              <a:buSzPct val="100000"/>
              <a:defRPr sz="4200">
                <a:solidFill>
                  <a:schemeClr val="lt2"/>
                </a:solidFill>
              </a:defRPr>
            </a:lvl6pPr>
            <a:lvl7pPr lvl="6" algn="ctr">
              <a:spcBef>
                <a:spcPts val="0"/>
              </a:spcBef>
              <a:buClr>
                <a:schemeClr val="lt2"/>
              </a:buClr>
              <a:buSzPct val="100000"/>
              <a:defRPr sz="4200">
                <a:solidFill>
                  <a:schemeClr val="lt2"/>
                </a:solidFill>
              </a:defRPr>
            </a:lvl7pPr>
            <a:lvl8pPr lvl="7" algn="ctr">
              <a:spcBef>
                <a:spcPts val="0"/>
              </a:spcBef>
              <a:buClr>
                <a:schemeClr val="lt2"/>
              </a:buClr>
              <a:buSzPct val="100000"/>
              <a:defRPr sz="4200">
                <a:solidFill>
                  <a:schemeClr val="lt2"/>
                </a:solidFill>
              </a:defRPr>
            </a:lvl8pPr>
            <a:lvl9pPr lvl="8" algn="ctr">
              <a:spcBef>
                <a:spcPts val="0"/>
              </a:spcBef>
              <a:buClr>
                <a:schemeClr val="lt2"/>
              </a:buClr>
              <a:buSzPct val="100000"/>
              <a:defRPr sz="4200">
                <a:solidFill>
                  <a:schemeClr val="lt2"/>
                </a:solidFill>
              </a:defRPr>
            </a:lvl9pPr>
          </a:lstStyle>
          <a:p>
            <a:endParaRPr/>
          </a:p>
        </p:txBody>
      </p:sp>
      <p:sp>
        <p:nvSpPr>
          <p:cNvPr id="43" name="Shape 43"/>
          <p:cNvSpPr txBox="1">
            <a:spLocks noGrp="1"/>
          </p:cNvSpPr>
          <p:nvPr>
            <p:ph type="subTitle" idx="1"/>
          </p:nvPr>
        </p:nvSpPr>
        <p:spPr>
          <a:xfrm>
            <a:off x="265500" y="2769000"/>
            <a:ext cx="4045200" cy="13455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44" name="Shape 44"/>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a:spcBef>
                <a:spcPts val="0"/>
              </a:spcBef>
              <a:buClr>
                <a:schemeClr val="accent1"/>
              </a:buClr>
              <a:defRPr>
                <a:solidFill>
                  <a:schemeClr val="accent1"/>
                </a:solidFill>
              </a:defRPr>
            </a:lvl1pPr>
            <a:lvl2pPr lvl="1">
              <a:spcBef>
                <a:spcPts val="0"/>
              </a:spcBef>
              <a:buClr>
                <a:schemeClr val="accent1"/>
              </a:buClr>
              <a:defRPr>
                <a:solidFill>
                  <a:schemeClr val="accent1"/>
                </a:solidFill>
              </a:defRPr>
            </a:lvl2pPr>
            <a:lvl3pPr lvl="2">
              <a:spcBef>
                <a:spcPts val="0"/>
              </a:spcBef>
              <a:buClr>
                <a:schemeClr val="accent1"/>
              </a:buClr>
              <a:defRPr>
                <a:solidFill>
                  <a:schemeClr val="accent1"/>
                </a:solidFill>
              </a:defRPr>
            </a:lvl3pPr>
            <a:lvl4pPr lvl="3">
              <a:spcBef>
                <a:spcPts val="0"/>
              </a:spcBef>
              <a:buClr>
                <a:schemeClr val="accent1"/>
              </a:buClr>
              <a:defRPr>
                <a:solidFill>
                  <a:schemeClr val="accent1"/>
                </a:solidFill>
              </a:defRPr>
            </a:lvl4pPr>
            <a:lvl5pPr lvl="4">
              <a:spcBef>
                <a:spcPts val="0"/>
              </a:spcBef>
              <a:buClr>
                <a:schemeClr val="accent1"/>
              </a:buClr>
              <a:defRPr>
                <a:solidFill>
                  <a:schemeClr val="accent1"/>
                </a:solidFill>
              </a:defRPr>
            </a:lvl5pPr>
            <a:lvl6pPr lvl="5">
              <a:spcBef>
                <a:spcPts val="0"/>
              </a:spcBef>
              <a:buClr>
                <a:schemeClr val="accent1"/>
              </a:buClr>
              <a:defRPr>
                <a:solidFill>
                  <a:schemeClr val="accent1"/>
                </a:solidFill>
              </a:defRPr>
            </a:lvl6pPr>
            <a:lvl7pPr lvl="6">
              <a:spcBef>
                <a:spcPts val="0"/>
              </a:spcBef>
              <a:buClr>
                <a:schemeClr val="accent1"/>
              </a:buClr>
              <a:defRPr>
                <a:solidFill>
                  <a:schemeClr val="accent1"/>
                </a:solidFill>
              </a:defRPr>
            </a:lvl7pPr>
            <a:lvl8pPr lvl="7">
              <a:spcBef>
                <a:spcPts val="0"/>
              </a:spcBef>
              <a:buClr>
                <a:schemeClr val="accent1"/>
              </a:buClr>
              <a:defRPr>
                <a:solidFill>
                  <a:schemeClr val="accent1"/>
                </a:solidFill>
              </a:defRPr>
            </a:lvl8pPr>
            <a:lvl9pPr lvl="8">
              <a:spcBef>
                <a:spcPts val="0"/>
              </a:spcBef>
              <a:buClr>
                <a:schemeClr val="accent1"/>
              </a:buClr>
              <a:defRPr>
                <a:solidFill>
                  <a:schemeClr val="accent1"/>
                </a:solidFill>
              </a:defRPr>
            </a:lvl9pPr>
          </a:lstStyle>
          <a:p>
            <a:endParaRPr/>
          </a:p>
        </p:txBody>
      </p:sp>
      <p:sp>
        <p:nvSpPr>
          <p:cNvPr id="45" name="Shape 45"/>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ru">
                <a:solidFill>
                  <a:schemeClr val="accent1"/>
                </a:solidFill>
              </a:rPr>
              <a:t>‹#›</a:t>
            </a:fld>
            <a:endParaRPr lang="ru">
              <a:solidFill>
                <a:schemeClr val="accent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aption">
    <p:spTree>
      <p:nvGrpSpPr>
        <p:cNvPr id="1" name="Shape 46"/>
        <p:cNvGrpSpPr/>
        <p:nvPr/>
      </p:nvGrpSpPr>
      <p:grpSpPr>
        <a:xfrm>
          <a:off x="0" y="0"/>
          <a:ext cx="0" cy="0"/>
          <a:chOff x="0" y="0"/>
          <a:chExt cx="0" cy="0"/>
        </a:xfrm>
      </p:grpSpPr>
      <p:sp>
        <p:nvSpPr>
          <p:cNvPr id="47" name="Shape 47"/>
          <p:cNvSpPr txBox="1">
            <a:spLocks noGrp="1"/>
          </p:cNvSpPr>
          <p:nvPr>
            <p:ph type="body" idx="1"/>
          </p:nvPr>
        </p:nvSpPr>
        <p:spPr>
          <a:xfrm>
            <a:off x="311700" y="4230575"/>
            <a:ext cx="5998800" cy="605100"/>
          </a:xfrm>
          <a:prstGeom prst="rect">
            <a:avLst/>
          </a:prstGeom>
        </p:spPr>
        <p:txBody>
          <a:bodyPr lIns="91425" tIns="91425" rIns="91425" bIns="91425" anchor="ctr" anchorCtr="0"/>
          <a:lstStyle>
            <a:lvl1pPr lvl="0">
              <a:lnSpc>
                <a:spcPct val="100000"/>
              </a:lnSpc>
              <a:spcBef>
                <a:spcPts val="0"/>
              </a:spcBef>
              <a:spcAft>
                <a:spcPts val="0"/>
              </a:spcAft>
              <a:buNone/>
              <a:defRPr/>
            </a:lvl1pPr>
          </a:lstStyle>
          <a:p>
            <a:endParaRPr/>
          </a:p>
        </p:txBody>
      </p:sp>
      <p:sp>
        <p:nvSpPr>
          <p:cNvPr id="48" name="Shape 48"/>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ru"/>
              <a:t>‹#›</a:t>
            </a:fld>
            <a:endParaRPr lang="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Big number">
    <p:spTree>
      <p:nvGrpSpPr>
        <p:cNvPr id="1" name="Shape 49"/>
        <p:cNvGrpSpPr/>
        <p:nvPr/>
      </p:nvGrpSpPr>
      <p:grpSpPr>
        <a:xfrm>
          <a:off x="0" y="0"/>
          <a:ext cx="0" cy="0"/>
          <a:chOff x="0" y="0"/>
          <a:chExt cx="0" cy="0"/>
        </a:xfrm>
      </p:grpSpPr>
      <p:sp>
        <p:nvSpPr>
          <p:cNvPr id="50" name="Shape 50"/>
          <p:cNvSpPr txBox="1">
            <a:spLocks noGrp="1"/>
          </p:cNvSpPr>
          <p:nvPr>
            <p:ph type="title"/>
          </p:nvPr>
        </p:nvSpPr>
        <p:spPr>
          <a:xfrm>
            <a:off x="311700" y="1039650"/>
            <a:ext cx="8520600" cy="2106300"/>
          </a:xfrm>
          <a:prstGeom prst="rect">
            <a:avLst/>
          </a:prstGeom>
        </p:spPr>
        <p:txBody>
          <a:bodyPr lIns="91425" tIns="91425" rIns="91425" bIns="91425" anchor="b" anchorCtr="0"/>
          <a:lstStyle>
            <a:lvl1pPr lvl="0" algn="ctr">
              <a:spcBef>
                <a:spcPts val="0"/>
              </a:spcBef>
              <a:buSzPct val="100000"/>
              <a:defRPr sz="14000" b="1"/>
            </a:lvl1pPr>
            <a:lvl2pPr lvl="1" algn="ctr">
              <a:spcBef>
                <a:spcPts val="0"/>
              </a:spcBef>
              <a:buSzPct val="100000"/>
              <a:defRPr sz="14000" b="1"/>
            </a:lvl2pPr>
            <a:lvl3pPr lvl="2" algn="ctr">
              <a:spcBef>
                <a:spcPts val="0"/>
              </a:spcBef>
              <a:buSzPct val="100000"/>
              <a:defRPr sz="14000" b="1"/>
            </a:lvl3pPr>
            <a:lvl4pPr lvl="3" algn="ctr">
              <a:spcBef>
                <a:spcPts val="0"/>
              </a:spcBef>
              <a:buSzPct val="100000"/>
              <a:defRPr sz="14000" b="1"/>
            </a:lvl4pPr>
            <a:lvl5pPr lvl="4" algn="ctr">
              <a:spcBef>
                <a:spcPts val="0"/>
              </a:spcBef>
              <a:buSzPct val="100000"/>
              <a:defRPr sz="14000" b="1"/>
            </a:lvl5pPr>
            <a:lvl6pPr lvl="5" algn="ctr">
              <a:spcBef>
                <a:spcPts val="0"/>
              </a:spcBef>
              <a:buSzPct val="100000"/>
              <a:defRPr sz="14000" b="1"/>
            </a:lvl6pPr>
            <a:lvl7pPr lvl="6" algn="ctr">
              <a:spcBef>
                <a:spcPts val="0"/>
              </a:spcBef>
              <a:buSzPct val="100000"/>
              <a:defRPr sz="14000" b="1"/>
            </a:lvl7pPr>
            <a:lvl8pPr lvl="7" algn="ctr">
              <a:spcBef>
                <a:spcPts val="0"/>
              </a:spcBef>
              <a:buSzPct val="100000"/>
              <a:defRPr sz="14000" b="1"/>
            </a:lvl8pPr>
            <a:lvl9pPr lvl="8" algn="ctr">
              <a:spcBef>
                <a:spcPts val="0"/>
              </a:spcBef>
              <a:buSzPct val="100000"/>
              <a:defRPr sz="14000" b="1"/>
            </a:lvl9pPr>
          </a:lstStyle>
          <a:p>
            <a:endParaRPr/>
          </a:p>
        </p:txBody>
      </p:sp>
      <p:sp>
        <p:nvSpPr>
          <p:cNvPr id="51" name="Shape 51"/>
          <p:cNvSpPr txBox="1">
            <a:spLocks noGrp="1"/>
          </p:cNvSpPr>
          <p:nvPr>
            <p:ph type="body" idx="1"/>
          </p:nvPr>
        </p:nvSpPr>
        <p:spPr>
          <a:xfrm>
            <a:off x="311700" y="3228425"/>
            <a:ext cx="8520600" cy="13008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52" name="Shape 52"/>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ru"/>
              <a:t>‹#›</a:t>
            </a:fld>
            <a:endParaRPr lang="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3"/>
        <p:cNvGrpSpPr/>
        <p:nvPr/>
      </p:nvGrpSpPr>
      <p:grpSpPr>
        <a:xfrm>
          <a:off x="0" y="0"/>
          <a:ext cx="0" cy="0"/>
          <a:chOff x="0" y="0"/>
          <a:chExt cx="0" cy="0"/>
        </a:xfrm>
      </p:grpSpPr>
      <p:sp>
        <p:nvSpPr>
          <p:cNvPr id="54" name="Shape 54"/>
          <p:cNvSpPr txBox="1">
            <a:spLocks noGrp="1"/>
          </p:cNvSpPr>
          <p:nvPr>
            <p:ph type="sldNum" idx="12"/>
          </p:nvPr>
        </p:nvSpPr>
        <p:spPr>
          <a:xfrm>
            <a:off x="8472457" y="4663216"/>
            <a:ext cx="548700" cy="393600"/>
          </a:xfrm>
          <a:prstGeom prst="rect">
            <a:avLst/>
          </a:prstGeom>
        </p:spPr>
        <p:txBody>
          <a:bodyPr lIns="91425" tIns="91425" rIns="91425" bIns="91425" anchor="ctr" anchorCtr="0">
            <a:noAutofit/>
          </a:bodyPr>
          <a:lstStyle/>
          <a:p>
            <a:pPr lvl="0">
              <a:spcBef>
                <a:spcPts val="0"/>
              </a:spcBef>
              <a:buNone/>
            </a:pPr>
            <a:fld id="{00000000-1234-1234-1234-123412341234}" type="slidenum">
              <a:rPr lang="ru"/>
              <a:t>‹#›</a:t>
            </a:fld>
            <a:endParaRPr lang="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613200"/>
          </a:xfrm>
          <a:prstGeom prst="rect">
            <a:avLst/>
          </a:prstGeom>
          <a:noFill/>
          <a:ln>
            <a:noFill/>
          </a:ln>
        </p:spPr>
        <p:txBody>
          <a:bodyPr lIns="91425" tIns="91425" rIns="91425" bIns="91425" anchor="t" anchorCtr="0"/>
          <a:lstStyle>
            <a:lvl1pPr lvl="0">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1pPr>
            <a:lvl2pPr lvl="1">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2pPr>
            <a:lvl3pPr lvl="2">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3pPr>
            <a:lvl4pPr lvl="3">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4pPr>
            <a:lvl5pPr lvl="4">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5pPr>
            <a:lvl6pPr lvl="5">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6pPr>
            <a:lvl7pPr lvl="6">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7pPr>
            <a:lvl8pPr lvl="7">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8pPr>
            <a:lvl9pPr lvl="8">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Shape 7"/>
          <p:cNvSpPr txBox="1">
            <a:spLocks noGrp="1"/>
          </p:cNvSpPr>
          <p:nvPr>
            <p:ph type="body" idx="1"/>
          </p:nvPr>
        </p:nvSpPr>
        <p:spPr>
          <a:xfrm>
            <a:off x="311700" y="1171600"/>
            <a:ext cx="8520600" cy="33972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1"/>
              </a:buClr>
              <a:buSzPct val="100000"/>
              <a:buFont typeface="Old Standard TT"/>
              <a:defRPr sz="1800">
                <a:solidFill>
                  <a:schemeClr val="dk1"/>
                </a:solidFill>
                <a:latin typeface="Old Standard TT"/>
                <a:ea typeface="Old Standard TT"/>
                <a:cs typeface="Old Standard TT"/>
                <a:sym typeface="Old Standard TT"/>
              </a:defRPr>
            </a:lvl1pPr>
            <a:lvl2pPr lvl="1">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2pPr>
            <a:lvl3pPr lvl="2">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3pPr>
            <a:lvl4pPr lvl="3">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4pPr>
            <a:lvl5pPr lvl="4">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5pPr>
            <a:lvl6pPr lvl="5">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6pPr>
            <a:lvl7pPr lvl="6">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7pPr>
            <a:lvl8pPr lvl="7">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8pPr>
            <a:lvl9pPr lvl="8">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9pPr>
          </a:lstStyle>
          <a:p>
            <a:endParaRPr/>
          </a:p>
        </p:txBody>
      </p:sp>
      <p:sp>
        <p:nvSpPr>
          <p:cNvPr id="8" name="Shape 8"/>
          <p:cNvSpPr txBox="1">
            <a:spLocks noGrp="1"/>
          </p:cNvSpPr>
          <p:nvPr>
            <p:ph type="sldNum" idx="12"/>
          </p:nvPr>
        </p:nvSpPr>
        <p:spPr>
          <a:xfrm>
            <a:off x="8472457" y="4663216"/>
            <a:ext cx="548700" cy="3936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ru" sz="1000">
                <a:solidFill>
                  <a:schemeClr val="dk1"/>
                </a:solidFill>
                <a:latin typeface="Old Standard TT"/>
                <a:ea typeface="Old Standard TT"/>
                <a:cs typeface="Old Standard TT"/>
                <a:sym typeface="Old Standard TT"/>
              </a:rPr>
              <a:t>‹#›</a:t>
            </a:fld>
            <a:endParaRPr lang="ru" sz="1000">
              <a:solidFill>
                <a:schemeClr val="dk1"/>
              </a:solidFill>
              <a:latin typeface="Old Standard TT"/>
              <a:ea typeface="Old Standard TT"/>
              <a:cs typeface="Old Standard TT"/>
              <a:sym typeface="Old Standard TT"/>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kpolyakov.spb.ru/cms/files/arahis.xl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gif"/></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Shape 106"/>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rtl="0">
              <a:spcBef>
                <a:spcPts val="0"/>
              </a:spcBef>
              <a:buNone/>
            </a:pPr>
            <a:r>
              <a:rPr lang="ru"/>
              <a:t>Функция И</a:t>
            </a:r>
          </a:p>
        </p:txBody>
      </p:sp>
      <p:sp>
        <p:nvSpPr>
          <p:cNvPr id="107" name="Shape 107"/>
          <p:cNvSpPr txBox="1">
            <a:spLocks noGrp="1"/>
          </p:cNvSpPr>
          <p:nvPr>
            <p:ph type="body" idx="1"/>
          </p:nvPr>
        </p:nvSpPr>
        <p:spPr>
          <a:xfrm>
            <a:off x="311700" y="1171600"/>
            <a:ext cx="8520600" cy="3397200"/>
          </a:xfrm>
          <a:prstGeom prst="rect">
            <a:avLst/>
          </a:prstGeom>
        </p:spPr>
        <p:txBody>
          <a:bodyPr lIns="91425" tIns="91425" rIns="91425" bIns="91425" anchor="t" anchorCtr="0">
            <a:noAutofit/>
          </a:bodyPr>
          <a:lstStyle/>
          <a:p>
            <a:pPr marL="0" marR="0" lvl="0" indent="0" algn="l" rtl="0">
              <a:lnSpc>
                <a:spcPct val="115000"/>
              </a:lnSpc>
              <a:spcBef>
                <a:spcPts val="0"/>
              </a:spcBef>
              <a:spcAft>
                <a:spcPts val="1600"/>
              </a:spcAft>
              <a:buNone/>
            </a:pPr>
            <a:r>
              <a:rPr lang="ru"/>
              <a:t>=И(Логическое_значение1; [Логическое_значение1];…)</a:t>
            </a:r>
          </a:p>
          <a:p>
            <a:pPr lvl="0" indent="387350" rtl="0">
              <a:lnSpc>
                <a:spcPct val="150000"/>
              </a:lnSpc>
              <a:spcBef>
                <a:spcPts val="0"/>
              </a:spcBef>
              <a:spcAft>
                <a:spcPts val="0"/>
              </a:spcAft>
              <a:buClr>
                <a:schemeClr val="dk1"/>
              </a:buClr>
              <a:buSzPct val="68750"/>
              <a:buFont typeface="Arial"/>
              <a:buNone/>
            </a:pPr>
            <a:r>
              <a:rPr lang="ru" sz="1550">
                <a:solidFill>
                  <a:srgbClr val="2F2F2F"/>
                </a:solidFill>
                <a:highlight>
                  <a:srgbClr val="FFFFFF"/>
                </a:highlight>
                <a:latin typeface="Arial"/>
                <a:ea typeface="Arial"/>
                <a:cs typeface="Arial"/>
                <a:sym typeface="Arial"/>
              </a:rPr>
              <a:t>Функция и возвращает значение TRUE, если все аргументы принимают значение ИСТИНА и возвращает значение ЛОЖЬ, если один или несколько аргументов получается значение ЛОЖЬ.</a:t>
            </a:r>
          </a:p>
          <a:p>
            <a:pPr lvl="0" indent="387350" rtl="0">
              <a:lnSpc>
                <a:spcPct val="150000"/>
              </a:lnSpc>
              <a:spcBef>
                <a:spcPts val="0"/>
              </a:spcBef>
              <a:spcAft>
                <a:spcPts val="0"/>
              </a:spcAft>
              <a:buClr>
                <a:schemeClr val="dk1"/>
              </a:buClr>
              <a:buSzPct val="68750"/>
              <a:buFont typeface="Arial"/>
              <a:buNone/>
            </a:pPr>
            <a:r>
              <a:rPr lang="ru" sz="1550">
                <a:solidFill>
                  <a:srgbClr val="2F2F2F"/>
                </a:solidFill>
                <a:highlight>
                  <a:srgbClr val="FFFFFF"/>
                </a:highlight>
                <a:latin typeface="Arial"/>
                <a:ea typeface="Arial"/>
                <a:cs typeface="Arial"/>
                <a:sym typeface="Arial"/>
              </a:rPr>
              <a:t>Обычно функция И используется для расширения возможностей других функций, выполняющих логическую проверку. Использование функции И в качестве аргумента </a:t>
            </a:r>
            <a:r>
              <a:rPr lang="ru" sz="1550" i="1">
                <a:solidFill>
                  <a:srgbClr val="2F2F2F"/>
                </a:solidFill>
                <a:highlight>
                  <a:srgbClr val="FFFFFF"/>
                </a:highlight>
                <a:latin typeface="Arial"/>
                <a:ea typeface="Arial"/>
                <a:cs typeface="Arial"/>
                <a:sym typeface="Arial"/>
              </a:rPr>
              <a:t>лог_выражение </a:t>
            </a:r>
            <a:r>
              <a:rPr lang="ru" sz="1550">
                <a:solidFill>
                  <a:srgbClr val="2F2F2F"/>
                </a:solidFill>
                <a:highlight>
                  <a:srgbClr val="FFFFFF"/>
                </a:highlight>
                <a:latin typeface="Arial"/>
                <a:ea typeface="Arial"/>
                <a:cs typeface="Arial"/>
                <a:sym typeface="Arial"/>
              </a:rPr>
              <a:t>функции ЕСЛИ позволяет проверять несколько различных условий вместо одного.</a:t>
            </a:r>
          </a:p>
          <a:p>
            <a:pPr marL="0" marR="0" lvl="0" indent="-69850" algn="l" rtl="0">
              <a:lnSpc>
                <a:spcPct val="115000"/>
              </a:lnSpc>
              <a:spcBef>
                <a:spcPts val="0"/>
              </a:spcBef>
              <a:spcAft>
                <a:spcPts val="1600"/>
              </a:spcAft>
              <a:buClr>
                <a:srgbClr val="000000"/>
              </a:buClr>
              <a:buSzPct val="61111"/>
              <a:buFont typeface="Arial"/>
              <a:buNone/>
            </a:pPr>
            <a:endParaRPr/>
          </a:p>
          <a:p>
            <a:pPr marL="0" marR="0" lvl="0" indent="-69850" algn="l" rtl="0">
              <a:lnSpc>
                <a:spcPct val="115000"/>
              </a:lnSpc>
              <a:spcBef>
                <a:spcPts val="0"/>
              </a:spcBef>
              <a:spcAft>
                <a:spcPts val="1600"/>
              </a:spcAft>
              <a:buClr>
                <a:srgbClr val="000000"/>
              </a:buClr>
              <a:buSzPct val="61111"/>
              <a:buFont typeface="Arial"/>
              <a:buNone/>
            </a:pPr>
            <a:endParaRPr/>
          </a:p>
        </p:txBody>
      </p:sp>
      <p:pic>
        <p:nvPicPr>
          <p:cNvPr id="108" name="Shape 108" descr="pencil-write_318-1509.jpg"/>
          <p:cNvPicPr preferRelativeResize="0"/>
          <p:nvPr/>
        </p:nvPicPr>
        <p:blipFill>
          <a:blip r:embed="rId3">
            <a:alphaModFix/>
          </a:blip>
          <a:stretch>
            <a:fillRect/>
          </a:stretch>
        </p:blipFill>
        <p:spPr>
          <a:xfrm>
            <a:off x="6426262" y="1171612"/>
            <a:ext cx="668075" cy="668075"/>
          </a:xfrm>
          <a:prstGeom prst="rect">
            <a:avLst/>
          </a:prstGeom>
          <a:noFill/>
          <a:ln>
            <a:noFill/>
          </a:ln>
        </p:spPr>
      </p:pic>
      <p:cxnSp>
        <p:nvCxnSpPr>
          <p:cNvPr id="109" name="Shape 109"/>
          <p:cNvCxnSpPr/>
          <p:nvPr/>
        </p:nvCxnSpPr>
        <p:spPr>
          <a:xfrm rot="10800000" flipH="1">
            <a:off x="382375" y="1652850"/>
            <a:ext cx="6117900" cy="12300"/>
          </a:xfrm>
          <a:prstGeom prst="straightConnector1">
            <a:avLst/>
          </a:prstGeom>
          <a:noFill/>
          <a:ln w="28575" cap="flat" cmpd="sng">
            <a:solidFill>
              <a:schemeClr val="accent3"/>
            </a:solidFill>
            <a:prstDash val="solid"/>
            <a:round/>
            <a:headEnd type="none" w="lg" len="lg"/>
            <a:tailEnd type="none" w="lg" len="lg"/>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anim calcmode="lin" valueType="num">
                                      <p:cBhvr additive="base">
                                        <p:cTn id="7" dur="1000"/>
                                        <p:tgtEl>
                                          <p:spTgt spid="10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Shape 114"/>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rtl="0">
              <a:spcBef>
                <a:spcPts val="0"/>
              </a:spcBef>
              <a:buNone/>
            </a:pPr>
            <a:r>
              <a:rPr lang="ru"/>
              <a:t>Функция И</a:t>
            </a:r>
          </a:p>
        </p:txBody>
      </p:sp>
      <p:sp>
        <p:nvSpPr>
          <p:cNvPr id="115" name="Shape 115"/>
          <p:cNvSpPr txBox="1">
            <a:spLocks noGrp="1"/>
          </p:cNvSpPr>
          <p:nvPr>
            <p:ph type="body" idx="1"/>
          </p:nvPr>
        </p:nvSpPr>
        <p:spPr>
          <a:xfrm>
            <a:off x="352387" y="1494537"/>
            <a:ext cx="8520600" cy="3397200"/>
          </a:xfrm>
          <a:prstGeom prst="rect">
            <a:avLst/>
          </a:prstGeom>
        </p:spPr>
        <p:txBody>
          <a:bodyPr lIns="91425" tIns="91425" rIns="91425" bIns="91425" anchor="t" anchorCtr="0">
            <a:noAutofit/>
          </a:bodyPr>
          <a:lstStyle/>
          <a:p>
            <a:pPr lvl="0" rtl="0">
              <a:lnSpc>
                <a:spcPct val="150000"/>
              </a:lnSpc>
              <a:spcBef>
                <a:spcPts val="0"/>
              </a:spcBef>
              <a:spcAft>
                <a:spcPts val="0"/>
              </a:spcAft>
              <a:buNone/>
            </a:pPr>
            <a:endParaRPr sz="1200">
              <a:solidFill>
                <a:srgbClr val="2F2F2F"/>
              </a:solidFill>
              <a:highlight>
                <a:srgbClr val="FFFFFF"/>
              </a:highlight>
              <a:latin typeface="Arial"/>
              <a:ea typeface="Arial"/>
              <a:cs typeface="Arial"/>
              <a:sym typeface="Arial"/>
            </a:endParaRPr>
          </a:p>
          <a:p>
            <a:pPr lvl="0" rtl="0">
              <a:lnSpc>
                <a:spcPct val="150000"/>
              </a:lnSpc>
              <a:spcBef>
                <a:spcPts val="0"/>
              </a:spcBef>
              <a:spcAft>
                <a:spcPts val="0"/>
              </a:spcAft>
              <a:buNone/>
            </a:pPr>
            <a:endParaRPr sz="1200">
              <a:solidFill>
                <a:srgbClr val="2F2F2F"/>
              </a:solidFill>
              <a:highlight>
                <a:srgbClr val="FFFFFF"/>
              </a:highlight>
              <a:latin typeface="Arial"/>
              <a:ea typeface="Arial"/>
              <a:cs typeface="Arial"/>
              <a:sym typeface="Arial"/>
            </a:endParaRPr>
          </a:p>
          <a:p>
            <a:pPr lvl="0" rtl="0">
              <a:spcBef>
                <a:spcPts val="0"/>
              </a:spcBef>
              <a:buNone/>
            </a:pPr>
            <a:endParaRPr/>
          </a:p>
        </p:txBody>
      </p:sp>
      <p:graphicFrame>
        <p:nvGraphicFramePr>
          <p:cNvPr id="116" name="Shape 116"/>
          <p:cNvGraphicFramePr/>
          <p:nvPr/>
        </p:nvGraphicFramePr>
        <p:xfrm>
          <a:off x="311700" y="2844825"/>
          <a:ext cx="3000000" cy="3000000"/>
        </p:xfrm>
        <a:graphic>
          <a:graphicData uri="http://schemas.openxmlformats.org/drawingml/2006/table">
            <a:tbl>
              <a:tblPr>
                <a:noFill/>
                <a:tableStyleId>{E15F9895-1A9F-4267-948F-A506CD65F050}</a:tableStyleId>
              </a:tblPr>
              <a:tblGrid>
                <a:gridCol w="2867325"/>
                <a:gridCol w="2867325"/>
                <a:gridCol w="2867325"/>
              </a:tblGrid>
              <a:tr h="742000">
                <a:tc>
                  <a:txBody>
                    <a:bodyPr/>
                    <a:lstStyle/>
                    <a:p>
                      <a:pPr lvl="0" rtl="0">
                        <a:spcBef>
                          <a:spcPts val="0"/>
                        </a:spcBef>
                        <a:buNone/>
                      </a:pPr>
                      <a:r>
                        <a:rPr lang="ru" sz="2400"/>
                        <a:t>Формула</a:t>
                      </a:r>
                    </a:p>
                  </a:txBody>
                  <a:tcPr marL="91425" marR="91425" marT="91425" marB="91425"/>
                </a:tc>
                <a:tc>
                  <a:txBody>
                    <a:bodyPr/>
                    <a:lstStyle/>
                    <a:p>
                      <a:pPr lvl="0" rtl="0">
                        <a:spcBef>
                          <a:spcPts val="0"/>
                        </a:spcBef>
                        <a:buNone/>
                      </a:pPr>
                      <a:r>
                        <a:rPr lang="ru" sz="2400"/>
                        <a:t>Описание</a:t>
                      </a:r>
                    </a:p>
                  </a:txBody>
                  <a:tcPr marL="91425" marR="91425" marT="91425" marB="91425"/>
                </a:tc>
                <a:tc>
                  <a:txBody>
                    <a:bodyPr/>
                    <a:lstStyle/>
                    <a:p>
                      <a:pPr lvl="0" rtl="0">
                        <a:spcBef>
                          <a:spcPts val="0"/>
                        </a:spcBef>
                        <a:buNone/>
                      </a:pPr>
                      <a:r>
                        <a:rPr lang="ru" sz="2400"/>
                        <a:t>Результат</a:t>
                      </a:r>
                    </a:p>
                  </a:txBody>
                  <a:tcPr marL="91425" marR="91425" marT="91425" marB="91425"/>
                </a:tc>
              </a:tr>
              <a:tr h="868075">
                <a:tc>
                  <a:txBody>
                    <a:bodyPr/>
                    <a:lstStyle/>
                    <a:p>
                      <a:pPr lvl="0" rtl="0">
                        <a:lnSpc>
                          <a:spcPct val="150000"/>
                        </a:lnSpc>
                        <a:spcBef>
                          <a:spcPts val="0"/>
                        </a:spcBef>
                        <a:buNone/>
                      </a:pPr>
                      <a:r>
                        <a:rPr lang="ru" sz="1800">
                          <a:solidFill>
                            <a:srgbClr val="2F2F2F"/>
                          </a:solidFill>
                          <a:highlight>
                            <a:srgbClr val="FFFFFF"/>
                          </a:highlight>
                        </a:rPr>
                        <a:t>=И(A2&gt;1;A2&lt;100)</a:t>
                      </a:r>
                    </a:p>
                  </a:txBody>
                  <a:tcPr marL="47625" marR="95250" marT="38100" marB="38100"/>
                </a:tc>
                <a:tc>
                  <a:txBody>
                    <a:bodyPr/>
                    <a:lstStyle/>
                    <a:p>
                      <a:pPr lvl="0" rtl="0">
                        <a:lnSpc>
                          <a:spcPct val="150000"/>
                        </a:lnSpc>
                        <a:spcBef>
                          <a:spcPts val="0"/>
                        </a:spcBef>
                        <a:buNone/>
                      </a:pPr>
                      <a:r>
                        <a:rPr lang="ru" sz="1800">
                          <a:solidFill>
                            <a:srgbClr val="2F2F2F"/>
                          </a:solidFill>
                          <a:highlight>
                            <a:srgbClr val="FFFFFF"/>
                          </a:highlight>
                        </a:rPr>
                        <a:t>число в ячейке A2 больше 1 ИЛИ меньше 100</a:t>
                      </a:r>
                    </a:p>
                  </a:txBody>
                  <a:tcPr marL="47625" marR="95250" marT="38100" marB="38100"/>
                </a:tc>
                <a:tc>
                  <a:txBody>
                    <a:bodyPr/>
                    <a:lstStyle/>
                    <a:p>
                      <a:pPr lvl="0" rtl="0">
                        <a:spcBef>
                          <a:spcPts val="0"/>
                        </a:spcBef>
                        <a:buNone/>
                      </a:pPr>
                      <a:r>
                        <a:rPr lang="ru" sz="2400"/>
                        <a:t>ИСТИНА</a:t>
                      </a:r>
                    </a:p>
                  </a:txBody>
                  <a:tcPr marL="91425" marR="91425" marT="91425" marB="91425"/>
                </a:tc>
              </a:tr>
            </a:tbl>
          </a:graphicData>
        </a:graphic>
      </p:graphicFrame>
      <p:pic>
        <p:nvPicPr>
          <p:cNvPr id="117" name="Shape 117" descr="d2b3f677-3cee-4bb0-9b22-6227fd767d62.png"/>
          <p:cNvPicPr preferRelativeResize="0"/>
          <p:nvPr/>
        </p:nvPicPr>
        <p:blipFill rotWithShape="1">
          <a:blip r:embed="rId3">
            <a:alphaModFix/>
          </a:blip>
          <a:srcRect r="53652" b="44080"/>
          <a:stretch/>
        </p:blipFill>
        <p:spPr>
          <a:xfrm>
            <a:off x="311700" y="1171600"/>
            <a:ext cx="3438849" cy="14840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Shape 122"/>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rtl="0">
              <a:spcBef>
                <a:spcPts val="0"/>
              </a:spcBef>
              <a:buNone/>
            </a:pPr>
            <a:r>
              <a:rPr lang="ru"/>
              <a:t>Функция ИЛИ</a:t>
            </a:r>
          </a:p>
        </p:txBody>
      </p:sp>
      <p:sp>
        <p:nvSpPr>
          <p:cNvPr id="123" name="Shape 123"/>
          <p:cNvSpPr txBox="1">
            <a:spLocks noGrp="1"/>
          </p:cNvSpPr>
          <p:nvPr>
            <p:ph type="body" idx="1"/>
          </p:nvPr>
        </p:nvSpPr>
        <p:spPr>
          <a:xfrm>
            <a:off x="311700" y="1171600"/>
            <a:ext cx="8520600" cy="3397200"/>
          </a:xfrm>
          <a:prstGeom prst="rect">
            <a:avLst/>
          </a:prstGeom>
        </p:spPr>
        <p:txBody>
          <a:bodyPr lIns="91425" tIns="91425" rIns="91425" bIns="91425" anchor="t" anchorCtr="0">
            <a:noAutofit/>
          </a:bodyPr>
          <a:lstStyle/>
          <a:p>
            <a:pPr marL="0" marR="0" lvl="0" indent="0" algn="l" rtl="0">
              <a:lnSpc>
                <a:spcPct val="115000"/>
              </a:lnSpc>
              <a:spcBef>
                <a:spcPts val="0"/>
              </a:spcBef>
              <a:spcAft>
                <a:spcPts val="1600"/>
              </a:spcAft>
              <a:buNone/>
            </a:pPr>
            <a:r>
              <a:rPr lang="ru"/>
              <a:t>=ИЛИ(Логическое_значение1; [Логическое_значение1];…)</a:t>
            </a:r>
          </a:p>
          <a:p>
            <a:pPr lvl="0" indent="457200" rtl="0">
              <a:lnSpc>
                <a:spcPct val="150000"/>
              </a:lnSpc>
              <a:spcBef>
                <a:spcPts val="0"/>
              </a:spcBef>
              <a:spcAft>
                <a:spcPts val="0"/>
              </a:spcAft>
              <a:buNone/>
            </a:pPr>
            <a:r>
              <a:rPr lang="ru" sz="1550">
                <a:solidFill>
                  <a:srgbClr val="2F2F2F"/>
                </a:solidFill>
                <a:highlight>
                  <a:srgbClr val="FFFFFF"/>
                </a:highlight>
                <a:latin typeface="Arial"/>
                <a:ea typeface="Arial"/>
                <a:cs typeface="Arial"/>
                <a:sym typeface="Arial"/>
              </a:rPr>
              <a:t>Функция ИЛИ возвращает значение ИСТИНА, если в результате вычисления хотя бы одного из ее аргументов получается значение ИСТИНА, и значение ЛОЖЬ, если в результате вычисления всех ее аргументов получается значение ЛОЖЬ.</a:t>
            </a:r>
          </a:p>
          <a:p>
            <a:pPr lvl="0" indent="457200" rtl="0">
              <a:lnSpc>
                <a:spcPct val="150000"/>
              </a:lnSpc>
              <a:spcBef>
                <a:spcPts val="0"/>
              </a:spcBef>
              <a:spcAft>
                <a:spcPts val="0"/>
              </a:spcAft>
              <a:buNone/>
            </a:pPr>
            <a:r>
              <a:rPr lang="ru" sz="1550">
                <a:solidFill>
                  <a:srgbClr val="2F2F2F"/>
                </a:solidFill>
                <a:highlight>
                  <a:srgbClr val="FFFFFF"/>
                </a:highlight>
                <a:latin typeface="Arial"/>
                <a:ea typeface="Arial"/>
                <a:cs typeface="Arial"/>
                <a:sym typeface="Arial"/>
              </a:rPr>
              <a:t>Обычно функция ИЛИ используется для расширения возможностей других функций, выполняющих логическую проверку. Использование функции ИЛИ в качестве аргумента "лог_выражение" функции ЕСЛИ позволяет проверять несколько различных условий вместо одного.</a:t>
            </a:r>
          </a:p>
          <a:p>
            <a:pPr lvl="0" indent="457200" rtl="0">
              <a:lnSpc>
                <a:spcPct val="150000"/>
              </a:lnSpc>
              <a:spcBef>
                <a:spcPts val="0"/>
              </a:spcBef>
              <a:spcAft>
                <a:spcPts val="0"/>
              </a:spcAft>
              <a:buNone/>
            </a:pPr>
            <a:endParaRPr sz="1550">
              <a:solidFill>
                <a:srgbClr val="2F2F2F"/>
              </a:solidFill>
              <a:highlight>
                <a:srgbClr val="FFFFFF"/>
              </a:highlight>
              <a:latin typeface="Arial"/>
              <a:ea typeface="Arial"/>
              <a:cs typeface="Arial"/>
              <a:sym typeface="Arial"/>
            </a:endParaRPr>
          </a:p>
          <a:p>
            <a:pPr marL="0" marR="0" lvl="0" indent="0" algn="l" rtl="0">
              <a:lnSpc>
                <a:spcPct val="115000"/>
              </a:lnSpc>
              <a:spcBef>
                <a:spcPts val="0"/>
              </a:spcBef>
              <a:spcAft>
                <a:spcPts val="1600"/>
              </a:spcAft>
              <a:buNone/>
            </a:pPr>
            <a:endParaRPr/>
          </a:p>
          <a:p>
            <a:pPr marL="0" marR="0" lvl="0" indent="0" algn="l" rtl="0">
              <a:lnSpc>
                <a:spcPct val="115000"/>
              </a:lnSpc>
              <a:spcBef>
                <a:spcPts val="0"/>
              </a:spcBef>
              <a:spcAft>
                <a:spcPts val="1600"/>
              </a:spcAft>
              <a:buNone/>
            </a:pPr>
            <a:endParaRPr/>
          </a:p>
        </p:txBody>
      </p:sp>
      <p:pic>
        <p:nvPicPr>
          <p:cNvPr id="124" name="Shape 124" descr="pencil-write_318-1509.jpg"/>
          <p:cNvPicPr preferRelativeResize="0"/>
          <p:nvPr/>
        </p:nvPicPr>
        <p:blipFill>
          <a:blip r:embed="rId3">
            <a:alphaModFix/>
          </a:blip>
          <a:stretch>
            <a:fillRect/>
          </a:stretch>
        </p:blipFill>
        <p:spPr>
          <a:xfrm>
            <a:off x="6413962" y="1171612"/>
            <a:ext cx="668075" cy="668075"/>
          </a:xfrm>
          <a:prstGeom prst="rect">
            <a:avLst/>
          </a:prstGeom>
          <a:noFill/>
          <a:ln>
            <a:noFill/>
          </a:ln>
        </p:spPr>
      </p:pic>
      <p:cxnSp>
        <p:nvCxnSpPr>
          <p:cNvPr id="125" name="Shape 125"/>
          <p:cNvCxnSpPr/>
          <p:nvPr/>
        </p:nvCxnSpPr>
        <p:spPr>
          <a:xfrm rot="10800000" flipH="1">
            <a:off x="382375" y="1652850"/>
            <a:ext cx="6117900" cy="12300"/>
          </a:xfrm>
          <a:prstGeom prst="straightConnector1">
            <a:avLst/>
          </a:prstGeom>
          <a:noFill/>
          <a:ln w="28575" cap="flat" cmpd="sng">
            <a:solidFill>
              <a:schemeClr val="accent3"/>
            </a:solidFill>
            <a:prstDash val="solid"/>
            <a:round/>
            <a:headEnd type="none" w="lg" len="lg"/>
            <a:tailEnd type="none" w="lg" len="lg"/>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 calcmode="lin" valueType="num">
                                      <p:cBhvr additive="base">
                                        <p:cTn id="7" dur="1000"/>
                                        <p:tgtEl>
                                          <p:spTgt spid="12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Shape 130"/>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rtl="0">
              <a:spcBef>
                <a:spcPts val="0"/>
              </a:spcBef>
              <a:buNone/>
            </a:pPr>
            <a:r>
              <a:rPr lang="ru"/>
              <a:t>Функция ИЛИ</a:t>
            </a:r>
          </a:p>
        </p:txBody>
      </p:sp>
      <p:sp>
        <p:nvSpPr>
          <p:cNvPr id="131" name="Shape 131"/>
          <p:cNvSpPr txBox="1">
            <a:spLocks noGrp="1"/>
          </p:cNvSpPr>
          <p:nvPr>
            <p:ph type="body" idx="1"/>
          </p:nvPr>
        </p:nvSpPr>
        <p:spPr>
          <a:xfrm>
            <a:off x="352387" y="1494537"/>
            <a:ext cx="8520600" cy="3397200"/>
          </a:xfrm>
          <a:prstGeom prst="rect">
            <a:avLst/>
          </a:prstGeom>
        </p:spPr>
        <p:txBody>
          <a:bodyPr lIns="91425" tIns="91425" rIns="91425" bIns="91425" anchor="t" anchorCtr="0">
            <a:noAutofit/>
          </a:bodyPr>
          <a:lstStyle/>
          <a:p>
            <a:pPr lvl="0" rtl="0">
              <a:lnSpc>
                <a:spcPct val="150000"/>
              </a:lnSpc>
              <a:spcBef>
                <a:spcPts val="0"/>
              </a:spcBef>
              <a:spcAft>
                <a:spcPts val="0"/>
              </a:spcAft>
              <a:buNone/>
            </a:pPr>
            <a:endParaRPr sz="1200">
              <a:solidFill>
                <a:srgbClr val="2F2F2F"/>
              </a:solidFill>
              <a:highlight>
                <a:srgbClr val="FFFFFF"/>
              </a:highlight>
              <a:latin typeface="Arial"/>
              <a:ea typeface="Arial"/>
              <a:cs typeface="Arial"/>
              <a:sym typeface="Arial"/>
            </a:endParaRPr>
          </a:p>
          <a:p>
            <a:pPr lvl="0" rtl="0">
              <a:lnSpc>
                <a:spcPct val="150000"/>
              </a:lnSpc>
              <a:spcBef>
                <a:spcPts val="0"/>
              </a:spcBef>
              <a:spcAft>
                <a:spcPts val="0"/>
              </a:spcAft>
              <a:buNone/>
            </a:pPr>
            <a:endParaRPr sz="1200">
              <a:solidFill>
                <a:srgbClr val="2F2F2F"/>
              </a:solidFill>
              <a:highlight>
                <a:srgbClr val="FFFFFF"/>
              </a:highlight>
              <a:latin typeface="Arial"/>
              <a:ea typeface="Arial"/>
              <a:cs typeface="Arial"/>
              <a:sym typeface="Arial"/>
            </a:endParaRPr>
          </a:p>
          <a:p>
            <a:pPr lvl="0" rtl="0">
              <a:spcBef>
                <a:spcPts val="0"/>
              </a:spcBef>
              <a:buNone/>
            </a:pPr>
            <a:endParaRPr/>
          </a:p>
        </p:txBody>
      </p:sp>
      <p:graphicFrame>
        <p:nvGraphicFramePr>
          <p:cNvPr id="132" name="Shape 132"/>
          <p:cNvGraphicFramePr/>
          <p:nvPr/>
        </p:nvGraphicFramePr>
        <p:xfrm>
          <a:off x="311700" y="2844825"/>
          <a:ext cx="3000000" cy="3000000"/>
        </p:xfrm>
        <a:graphic>
          <a:graphicData uri="http://schemas.openxmlformats.org/drawingml/2006/table">
            <a:tbl>
              <a:tblPr>
                <a:noFill/>
                <a:tableStyleId>{E15F9895-1A9F-4267-948F-A506CD65F050}</a:tableStyleId>
              </a:tblPr>
              <a:tblGrid>
                <a:gridCol w="2867325"/>
                <a:gridCol w="2867325"/>
                <a:gridCol w="2867325"/>
              </a:tblGrid>
              <a:tr h="742000">
                <a:tc>
                  <a:txBody>
                    <a:bodyPr/>
                    <a:lstStyle/>
                    <a:p>
                      <a:pPr lvl="0" rtl="0">
                        <a:spcBef>
                          <a:spcPts val="0"/>
                        </a:spcBef>
                        <a:buNone/>
                      </a:pPr>
                      <a:r>
                        <a:rPr lang="ru" sz="2400"/>
                        <a:t>Формула</a:t>
                      </a:r>
                    </a:p>
                  </a:txBody>
                  <a:tcPr marL="91425" marR="91425" marT="91425" marB="91425"/>
                </a:tc>
                <a:tc>
                  <a:txBody>
                    <a:bodyPr/>
                    <a:lstStyle/>
                    <a:p>
                      <a:pPr lvl="0" rtl="0">
                        <a:spcBef>
                          <a:spcPts val="0"/>
                        </a:spcBef>
                        <a:buNone/>
                      </a:pPr>
                      <a:r>
                        <a:rPr lang="ru" sz="2400"/>
                        <a:t>Описание</a:t>
                      </a:r>
                    </a:p>
                  </a:txBody>
                  <a:tcPr marL="91425" marR="91425" marT="91425" marB="91425"/>
                </a:tc>
                <a:tc>
                  <a:txBody>
                    <a:bodyPr/>
                    <a:lstStyle/>
                    <a:p>
                      <a:pPr lvl="0" rtl="0">
                        <a:spcBef>
                          <a:spcPts val="0"/>
                        </a:spcBef>
                        <a:buNone/>
                      </a:pPr>
                      <a:r>
                        <a:rPr lang="ru" sz="2400"/>
                        <a:t>Результат</a:t>
                      </a:r>
                    </a:p>
                  </a:txBody>
                  <a:tcPr marL="91425" marR="91425" marT="91425" marB="91425"/>
                </a:tc>
              </a:tr>
              <a:tr h="868075">
                <a:tc>
                  <a:txBody>
                    <a:bodyPr/>
                    <a:lstStyle/>
                    <a:p>
                      <a:pPr lvl="0" rtl="0">
                        <a:lnSpc>
                          <a:spcPct val="150000"/>
                        </a:lnSpc>
                        <a:spcBef>
                          <a:spcPts val="0"/>
                        </a:spcBef>
                        <a:buNone/>
                      </a:pPr>
                      <a:r>
                        <a:rPr lang="ru" sz="1800">
                          <a:solidFill>
                            <a:srgbClr val="2F2F2F"/>
                          </a:solidFill>
                          <a:highlight>
                            <a:srgbClr val="FFFFFF"/>
                          </a:highlight>
                        </a:rPr>
                        <a:t>=ИЛИ(A2&gt;1;A2&lt;100)</a:t>
                      </a:r>
                    </a:p>
                  </a:txBody>
                  <a:tcPr marL="47625" marR="95250" marT="38100" marB="38100"/>
                </a:tc>
                <a:tc>
                  <a:txBody>
                    <a:bodyPr/>
                    <a:lstStyle/>
                    <a:p>
                      <a:pPr lvl="0" rtl="0">
                        <a:lnSpc>
                          <a:spcPct val="150000"/>
                        </a:lnSpc>
                        <a:spcBef>
                          <a:spcPts val="0"/>
                        </a:spcBef>
                        <a:buNone/>
                      </a:pPr>
                      <a:r>
                        <a:rPr lang="ru" sz="1800">
                          <a:solidFill>
                            <a:srgbClr val="2F2F2F"/>
                          </a:solidFill>
                          <a:highlight>
                            <a:srgbClr val="FFFFFF"/>
                          </a:highlight>
                        </a:rPr>
                        <a:t>число в ячейке A2 больше 1 ИЛИ меньше 100</a:t>
                      </a:r>
                    </a:p>
                  </a:txBody>
                  <a:tcPr marL="47625" marR="95250" marT="38100" marB="38100"/>
                </a:tc>
                <a:tc>
                  <a:txBody>
                    <a:bodyPr/>
                    <a:lstStyle/>
                    <a:p>
                      <a:pPr lvl="0" rtl="0">
                        <a:spcBef>
                          <a:spcPts val="0"/>
                        </a:spcBef>
                        <a:buNone/>
                      </a:pPr>
                      <a:r>
                        <a:rPr lang="ru" sz="2400"/>
                        <a:t>ИСТИНА</a:t>
                      </a:r>
                    </a:p>
                  </a:txBody>
                  <a:tcPr marL="91425" marR="91425" marT="91425" marB="91425"/>
                </a:tc>
              </a:tr>
            </a:tbl>
          </a:graphicData>
        </a:graphic>
      </p:graphicFrame>
      <p:pic>
        <p:nvPicPr>
          <p:cNvPr id="133" name="Shape 133" descr="d2b3f677-3cee-4bb0-9b22-6227fd767d62.png"/>
          <p:cNvPicPr preferRelativeResize="0"/>
          <p:nvPr/>
        </p:nvPicPr>
        <p:blipFill rotWithShape="1">
          <a:blip r:embed="rId3">
            <a:alphaModFix/>
          </a:blip>
          <a:srcRect r="53652" b="44080"/>
          <a:stretch/>
        </p:blipFill>
        <p:spPr>
          <a:xfrm>
            <a:off x="311700" y="1171600"/>
            <a:ext cx="3438849" cy="14840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Shape 138"/>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rtl="0">
              <a:spcBef>
                <a:spcPts val="0"/>
              </a:spcBef>
              <a:buNone/>
            </a:pPr>
            <a:r>
              <a:rPr lang="ru"/>
              <a:t>Функция НЕ</a:t>
            </a:r>
          </a:p>
        </p:txBody>
      </p:sp>
      <p:sp>
        <p:nvSpPr>
          <p:cNvPr id="139" name="Shape 139"/>
          <p:cNvSpPr txBox="1">
            <a:spLocks noGrp="1"/>
          </p:cNvSpPr>
          <p:nvPr>
            <p:ph type="body" idx="1"/>
          </p:nvPr>
        </p:nvSpPr>
        <p:spPr>
          <a:xfrm>
            <a:off x="311700" y="1171600"/>
            <a:ext cx="8520600" cy="3397200"/>
          </a:xfrm>
          <a:prstGeom prst="rect">
            <a:avLst/>
          </a:prstGeom>
        </p:spPr>
        <p:txBody>
          <a:bodyPr lIns="91425" tIns="91425" rIns="91425" bIns="91425" anchor="t" anchorCtr="0">
            <a:noAutofit/>
          </a:bodyPr>
          <a:lstStyle/>
          <a:p>
            <a:pPr marL="0" marR="0" lvl="0" indent="0" algn="l" rtl="0">
              <a:lnSpc>
                <a:spcPct val="115000"/>
              </a:lnSpc>
              <a:spcBef>
                <a:spcPts val="0"/>
              </a:spcBef>
              <a:spcAft>
                <a:spcPts val="1600"/>
              </a:spcAft>
              <a:buNone/>
            </a:pPr>
            <a:r>
              <a:rPr lang="ru"/>
              <a:t>=НЕ(Логическое_значение)</a:t>
            </a:r>
          </a:p>
          <a:p>
            <a:pPr lvl="0" indent="457200" rtl="0">
              <a:lnSpc>
                <a:spcPct val="150000"/>
              </a:lnSpc>
              <a:spcBef>
                <a:spcPts val="0"/>
              </a:spcBef>
              <a:spcAft>
                <a:spcPts val="0"/>
              </a:spcAft>
              <a:buNone/>
            </a:pPr>
            <a:r>
              <a:rPr lang="ru" sz="1550">
                <a:solidFill>
                  <a:srgbClr val="2F2F2F"/>
                </a:solidFill>
                <a:highlight>
                  <a:srgbClr val="FFFFFF"/>
                </a:highlight>
                <a:latin typeface="Arial"/>
                <a:ea typeface="Arial"/>
                <a:cs typeface="Arial"/>
                <a:sym typeface="Arial"/>
              </a:rPr>
              <a:t>Функция НЕ меняет значение своего аргумента на обратное.</a:t>
            </a:r>
          </a:p>
          <a:p>
            <a:pPr lvl="0" indent="457200" rtl="0">
              <a:lnSpc>
                <a:spcPct val="150000"/>
              </a:lnSpc>
              <a:spcBef>
                <a:spcPts val="0"/>
              </a:spcBef>
              <a:spcAft>
                <a:spcPts val="0"/>
              </a:spcAft>
              <a:buNone/>
            </a:pPr>
            <a:r>
              <a:rPr lang="ru" sz="1550">
                <a:solidFill>
                  <a:srgbClr val="2F2F2F"/>
                </a:solidFill>
                <a:highlight>
                  <a:srgbClr val="FFFFFF"/>
                </a:highlight>
                <a:latin typeface="Arial"/>
                <a:ea typeface="Arial"/>
                <a:cs typeface="Arial"/>
                <a:sym typeface="Arial"/>
              </a:rPr>
              <a:t>Обычно функция НЕ используется для расширения возможностей других функций, выполняющих логическую проверку. Использование функции НЕ в качестве аргумента "лог_выражение" функции ЕСЛИ позволяет проверять несколько различных условий вместо одного.</a:t>
            </a:r>
          </a:p>
          <a:p>
            <a:pPr lvl="0" indent="457200" rtl="0">
              <a:lnSpc>
                <a:spcPct val="150000"/>
              </a:lnSpc>
              <a:spcBef>
                <a:spcPts val="0"/>
              </a:spcBef>
              <a:spcAft>
                <a:spcPts val="0"/>
              </a:spcAft>
              <a:buNone/>
            </a:pPr>
            <a:endParaRPr sz="1550">
              <a:solidFill>
                <a:srgbClr val="2F2F2F"/>
              </a:solidFill>
              <a:highlight>
                <a:srgbClr val="FFFFFF"/>
              </a:highlight>
              <a:latin typeface="Arial"/>
              <a:ea typeface="Arial"/>
              <a:cs typeface="Arial"/>
              <a:sym typeface="Arial"/>
            </a:endParaRPr>
          </a:p>
          <a:p>
            <a:pPr lvl="0" indent="457200" rtl="0">
              <a:lnSpc>
                <a:spcPct val="150000"/>
              </a:lnSpc>
              <a:spcBef>
                <a:spcPts val="0"/>
              </a:spcBef>
              <a:spcAft>
                <a:spcPts val="0"/>
              </a:spcAft>
              <a:buNone/>
            </a:pPr>
            <a:endParaRPr sz="1550">
              <a:solidFill>
                <a:srgbClr val="2F2F2F"/>
              </a:solidFill>
              <a:highlight>
                <a:srgbClr val="FFFFFF"/>
              </a:highlight>
              <a:latin typeface="Arial"/>
              <a:ea typeface="Arial"/>
              <a:cs typeface="Arial"/>
              <a:sym typeface="Arial"/>
            </a:endParaRPr>
          </a:p>
          <a:p>
            <a:pPr marL="0" marR="0" lvl="0" indent="0" algn="l" rtl="0">
              <a:lnSpc>
                <a:spcPct val="115000"/>
              </a:lnSpc>
              <a:spcBef>
                <a:spcPts val="0"/>
              </a:spcBef>
              <a:spcAft>
                <a:spcPts val="1600"/>
              </a:spcAft>
              <a:buNone/>
            </a:pPr>
            <a:endParaRPr/>
          </a:p>
          <a:p>
            <a:pPr marL="0" marR="0" lvl="0" indent="0" algn="l" rtl="0">
              <a:lnSpc>
                <a:spcPct val="115000"/>
              </a:lnSpc>
              <a:spcBef>
                <a:spcPts val="0"/>
              </a:spcBef>
              <a:spcAft>
                <a:spcPts val="1600"/>
              </a:spcAft>
              <a:buNone/>
            </a:pPr>
            <a:endParaRPr/>
          </a:p>
        </p:txBody>
      </p:sp>
      <p:pic>
        <p:nvPicPr>
          <p:cNvPr id="140" name="Shape 140" descr="pencil-write_318-1509.jpg"/>
          <p:cNvPicPr preferRelativeResize="0"/>
          <p:nvPr/>
        </p:nvPicPr>
        <p:blipFill>
          <a:blip r:embed="rId3">
            <a:alphaModFix/>
          </a:blip>
          <a:stretch>
            <a:fillRect/>
          </a:stretch>
        </p:blipFill>
        <p:spPr>
          <a:xfrm>
            <a:off x="3318062" y="1171612"/>
            <a:ext cx="668075" cy="668075"/>
          </a:xfrm>
          <a:prstGeom prst="rect">
            <a:avLst/>
          </a:prstGeom>
          <a:noFill/>
          <a:ln>
            <a:noFill/>
          </a:ln>
        </p:spPr>
      </p:pic>
      <p:cxnSp>
        <p:nvCxnSpPr>
          <p:cNvPr id="141" name="Shape 141"/>
          <p:cNvCxnSpPr/>
          <p:nvPr/>
        </p:nvCxnSpPr>
        <p:spPr>
          <a:xfrm>
            <a:off x="382375" y="1665150"/>
            <a:ext cx="2874000" cy="0"/>
          </a:xfrm>
          <a:prstGeom prst="straightConnector1">
            <a:avLst/>
          </a:prstGeom>
          <a:noFill/>
          <a:ln w="28575" cap="flat" cmpd="sng">
            <a:solidFill>
              <a:schemeClr val="accent3"/>
            </a:solidFill>
            <a:prstDash val="solid"/>
            <a:round/>
            <a:headEnd type="none" w="lg" len="lg"/>
            <a:tailEnd type="none" w="lg" len="lg"/>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 calcmode="lin" valueType="num">
                                      <p:cBhvr additive="base">
                                        <p:cTn id="7" dur="1000"/>
                                        <p:tgtEl>
                                          <p:spTgt spid="14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Shape 146"/>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a:spcBef>
                <a:spcPts val="0"/>
              </a:spcBef>
              <a:buNone/>
            </a:pPr>
            <a:r>
              <a:rPr lang="ru"/>
              <a:t>Функция НЕ</a:t>
            </a:r>
          </a:p>
        </p:txBody>
      </p:sp>
      <p:sp>
        <p:nvSpPr>
          <p:cNvPr id="147" name="Shape 147"/>
          <p:cNvSpPr txBox="1">
            <a:spLocks noGrp="1"/>
          </p:cNvSpPr>
          <p:nvPr>
            <p:ph type="body" idx="1"/>
          </p:nvPr>
        </p:nvSpPr>
        <p:spPr>
          <a:xfrm>
            <a:off x="352387" y="1494537"/>
            <a:ext cx="8520600" cy="3397200"/>
          </a:xfrm>
          <a:prstGeom prst="rect">
            <a:avLst/>
          </a:prstGeom>
        </p:spPr>
        <p:txBody>
          <a:bodyPr lIns="91425" tIns="91425" rIns="91425" bIns="91425" anchor="t" anchorCtr="0">
            <a:noAutofit/>
          </a:bodyPr>
          <a:lstStyle/>
          <a:p>
            <a:pPr lvl="0">
              <a:lnSpc>
                <a:spcPct val="150000"/>
              </a:lnSpc>
              <a:spcBef>
                <a:spcPts val="0"/>
              </a:spcBef>
              <a:spcAft>
                <a:spcPts val="0"/>
              </a:spcAft>
              <a:buNone/>
            </a:pPr>
            <a:endParaRPr sz="1200">
              <a:solidFill>
                <a:srgbClr val="2F2F2F"/>
              </a:solidFill>
              <a:highlight>
                <a:srgbClr val="FFFFFF"/>
              </a:highlight>
              <a:latin typeface="Arial"/>
              <a:ea typeface="Arial"/>
              <a:cs typeface="Arial"/>
              <a:sym typeface="Arial"/>
            </a:endParaRPr>
          </a:p>
          <a:p>
            <a:pPr lvl="0">
              <a:lnSpc>
                <a:spcPct val="150000"/>
              </a:lnSpc>
              <a:spcBef>
                <a:spcPts val="0"/>
              </a:spcBef>
              <a:spcAft>
                <a:spcPts val="0"/>
              </a:spcAft>
              <a:buNone/>
            </a:pPr>
            <a:endParaRPr sz="1200">
              <a:solidFill>
                <a:srgbClr val="2F2F2F"/>
              </a:solidFill>
              <a:highlight>
                <a:srgbClr val="FFFFFF"/>
              </a:highlight>
              <a:latin typeface="Arial"/>
              <a:ea typeface="Arial"/>
              <a:cs typeface="Arial"/>
              <a:sym typeface="Arial"/>
            </a:endParaRPr>
          </a:p>
          <a:p>
            <a:pPr lvl="0">
              <a:spcBef>
                <a:spcPts val="0"/>
              </a:spcBef>
              <a:buNone/>
            </a:pPr>
            <a:endParaRPr/>
          </a:p>
        </p:txBody>
      </p:sp>
      <p:pic>
        <p:nvPicPr>
          <p:cNvPr id="148" name="Shape 148" descr="d2b3f677-3cee-4bb0-9b22-6227fd767d62.png"/>
          <p:cNvPicPr preferRelativeResize="0"/>
          <p:nvPr/>
        </p:nvPicPr>
        <p:blipFill rotWithShape="1">
          <a:blip r:embed="rId3">
            <a:alphaModFix/>
          </a:blip>
          <a:srcRect r="53652" b="44080"/>
          <a:stretch/>
        </p:blipFill>
        <p:spPr>
          <a:xfrm>
            <a:off x="311700" y="1171600"/>
            <a:ext cx="3438849" cy="1484049"/>
          </a:xfrm>
          <a:prstGeom prst="rect">
            <a:avLst/>
          </a:prstGeom>
          <a:noFill/>
          <a:ln>
            <a:noFill/>
          </a:ln>
        </p:spPr>
      </p:pic>
      <p:graphicFrame>
        <p:nvGraphicFramePr>
          <p:cNvPr id="149" name="Shape 149"/>
          <p:cNvGraphicFramePr/>
          <p:nvPr/>
        </p:nvGraphicFramePr>
        <p:xfrm>
          <a:off x="311700" y="3177500"/>
          <a:ext cx="3000000" cy="3000000"/>
        </p:xfrm>
        <a:graphic>
          <a:graphicData uri="http://schemas.openxmlformats.org/drawingml/2006/table">
            <a:tbl>
              <a:tblPr>
                <a:noFill/>
                <a:tableStyleId>{E15F9895-1A9F-4267-948F-A506CD65F050}</a:tableStyleId>
              </a:tblPr>
              <a:tblGrid>
                <a:gridCol w="2867325"/>
                <a:gridCol w="2867325"/>
                <a:gridCol w="2867325"/>
              </a:tblGrid>
              <a:tr h="742000">
                <a:tc>
                  <a:txBody>
                    <a:bodyPr/>
                    <a:lstStyle/>
                    <a:p>
                      <a:pPr lvl="0">
                        <a:spcBef>
                          <a:spcPts val="0"/>
                        </a:spcBef>
                        <a:buNone/>
                      </a:pPr>
                      <a:r>
                        <a:rPr lang="ru" sz="2400"/>
                        <a:t>Формула</a:t>
                      </a:r>
                    </a:p>
                  </a:txBody>
                  <a:tcPr marL="91425" marR="91425" marT="91425" marB="91425"/>
                </a:tc>
                <a:tc>
                  <a:txBody>
                    <a:bodyPr/>
                    <a:lstStyle/>
                    <a:p>
                      <a:pPr lvl="0">
                        <a:spcBef>
                          <a:spcPts val="0"/>
                        </a:spcBef>
                        <a:buNone/>
                      </a:pPr>
                      <a:r>
                        <a:rPr lang="ru" sz="2400"/>
                        <a:t>Описание</a:t>
                      </a:r>
                    </a:p>
                  </a:txBody>
                  <a:tcPr marL="91425" marR="91425" marT="91425" marB="91425"/>
                </a:tc>
                <a:tc>
                  <a:txBody>
                    <a:bodyPr/>
                    <a:lstStyle/>
                    <a:p>
                      <a:pPr lvl="0">
                        <a:spcBef>
                          <a:spcPts val="0"/>
                        </a:spcBef>
                        <a:buNone/>
                      </a:pPr>
                      <a:r>
                        <a:rPr lang="ru" sz="2400"/>
                        <a:t>Результат</a:t>
                      </a:r>
                    </a:p>
                  </a:txBody>
                  <a:tcPr marL="91425" marR="91425" marT="91425" marB="91425"/>
                </a:tc>
              </a:tr>
              <a:tr h="868075">
                <a:tc>
                  <a:txBody>
                    <a:bodyPr/>
                    <a:lstStyle/>
                    <a:p>
                      <a:pPr lvl="0">
                        <a:spcBef>
                          <a:spcPts val="0"/>
                        </a:spcBef>
                        <a:buNone/>
                      </a:pPr>
                      <a:r>
                        <a:rPr lang="ru" sz="2400">
                          <a:solidFill>
                            <a:srgbClr val="2F2F2F"/>
                          </a:solidFill>
                          <a:highlight>
                            <a:srgbClr val="FFFFFF"/>
                          </a:highlight>
                        </a:rPr>
                        <a:t>=НЕ(A2&gt;100)</a:t>
                      </a:r>
                    </a:p>
                  </a:txBody>
                  <a:tcPr marL="91425" marR="91425" marT="91425" marB="91425"/>
                </a:tc>
                <a:tc>
                  <a:txBody>
                    <a:bodyPr/>
                    <a:lstStyle/>
                    <a:p>
                      <a:pPr lvl="0" rtl="0">
                        <a:lnSpc>
                          <a:spcPct val="150000"/>
                        </a:lnSpc>
                        <a:spcBef>
                          <a:spcPts val="0"/>
                        </a:spcBef>
                        <a:buClr>
                          <a:schemeClr val="dk1"/>
                        </a:buClr>
                        <a:buSzPct val="45833"/>
                        <a:buFont typeface="Arial"/>
                        <a:buNone/>
                      </a:pPr>
                      <a:r>
                        <a:rPr lang="ru" sz="2400">
                          <a:solidFill>
                            <a:srgbClr val="2F2F2F"/>
                          </a:solidFill>
                          <a:highlight>
                            <a:srgbClr val="FFFFFF"/>
                          </a:highlight>
                        </a:rPr>
                        <a:t>A2 НЕ больше 100</a:t>
                      </a:r>
                    </a:p>
                  </a:txBody>
                  <a:tcPr marL="91425" marR="91425" marT="91425" marB="91425"/>
                </a:tc>
                <a:tc>
                  <a:txBody>
                    <a:bodyPr/>
                    <a:lstStyle/>
                    <a:p>
                      <a:pPr lvl="0">
                        <a:spcBef>
                          <a:spcPts val="0"/>
                        </a:spcBef>
                        <a:buNone/>
                      </a:pPr>
                      <a:r>
                        <a:rPr lang="ru" sz="2400"/>
                        <a:t>ИСТИНА</a:t>
                      </a:r>
                    </a:p>
                  </a:txBody>
                  <a:tcPr marL="91425" marR="91425" marT="91425" marB="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Shape 154"/>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a:spcBef>
                <a:spcPts val="0"/>
              </a:spcBef>
              <a:buNone/>
            </a:pPr>
            <a:r>
              <a:rPr lang="ru"/>
              <a:t>Функция ЕСЛИ</a:t>
            </a:r>
          </a:p>
          <a:p>
            <a:pPr lvl="0">
              <a:spcBef>
                <a:spcPts val="0"/>
              </a:spcBef>
              <a:buNone/>
            </a:pPr>
            <a:endParaRPr/>
          </a:p>
        </p:txBody>
      </p:sp>
      <p:sp>
        <p:nvSpPr>
          <p:cNvPr id="155" name="Shape 155"/>
          <p:cNvSpPr txBox="1">
            <a:spLocks noGrp="1"/>
          </p:cNvSpPr>
          <p:nvPr>
            <p:ph type="body" idx="1"/>
          </p:nvPr>
        </p:nvSpPr>
        <p:spPr>
          <a:xfrm>
            <a:off x="155850" y="1171600"/>
            <a:ext cx="8832300" cy="3397200"/>
          </a:xfrm>
          <a:prstGeom prst="rect">
            <a:avLst/>
          </a:prstGeom>
        </p:spPr>
        <p:txBody>
          <a:bodyPr lIns="91425" tIns="91425" rIns="91425" bIns="91425" anchor="t" anchorCtr="0">
            <a:noAutofit/>
          </a:bodyPr>
          <a:lstStyle/>
          <a:p>
            <a:pPr marR="0" lvl="0" algn="l" rtl="0">
              <a:lnSpc>
                <a:spcPct val="115000"/>
              </a:lnSpc>
              <a:spcBef>
                <a:spcPts val="0"/>
              </a:spcBef>
              <a:spcAft>
                <a:spcPts val="1600"/>
              </a:spcAft>
              <a:buNone/>
            </a:pPr>
            <a:r>
              <a:rPr lang="ru" b="1"/>
              <a:t>=ЕСЛИ(Логическое_выражение;[Значение_если_истина];[Значение_если_ложь])</a:t>
            </a:r>
          </a:p>
          <a:p>
            <a:pPr marR="0" lvl="0" algn="l" rtl="0">
              <a:lnSpc>
                <a:spcPct val="115000"/>
              </a:lnSpc>
              <a:spcBef>
                <a:spcPts val="0"/>
              </a:spcBef>
              <a:spcAft>
                <a:spcPts val="1600"/>
              </a:spcAft>
              <a:buNone/>
            </a:pPr>
            <a:r>
              <a:rPr lang="ru"/>
              <a:t>где,</a:t>
            </a:r>
          </a:p>
          <a:p>
            <a:pPr marL="457200" marR="0" lvl="0" indent="-228600" algn="l" rtl="0">
              <a:lnSpc>
                <a:spcPct val="115000"/>
              </a:lnSpc>
              <a:spcBef>
                <a:spcPts val="0"/>
              </a:spcBef>
              <a:spcAft>
                <a:spcPts val="1600"/>
              </a:spcAft>
              <a:buChar char="➔"/>
            </a:pPr>
            <a:r>
              <a:rPr lang="ru"/>
              <a:t>Логическое_выражение - это выражение состоящее из состоящее из значений и знака сравнения между ними;</a:t>
            </a:r>
          </a:p>
          <a:p>
            <a:pPr marL="457200" marR="0" lvl="0" indent="-228600" algn="l" rtl="0">
              <a:lnSpc>
                <a:spcPct val="115000"/>
              </a:lnSpc>
              <a:spcBef>
                <a:spcPts val="0"/>
              </a:spcBef>
              <a:spcAft>
                <a:spcPts val="1600"/>
              </a:spcAft>
              <a:buChar char="➔"/>
            </a:pPr>
            <a:r>
              <a:rPr lang="ru"/>
              <a:t>[Значение_если_истина] - результат операции, если значение выражения истинно;</a:t>
            </a:r>
          </a:p>
          <a:p>
            <a:pPr marL="457200" marR="0" lvl="0" indent="-228600" algn="l" rtl="0">
              <a:lnSpc>
                <a:spcPct val="115000"/>
              </a:lnSpc>
              <a:spcBef>
                <a:spcPts val="0"/>
              </a:spcBef>
              <a:spcAft>
                <a:spcPts val="1600"/>
              </a:spcAft>
              <a:buChar char="➔"/>
            </a:pPr>
            <a:r>
              <a:rPr lang="ru"/>
              <a:t>[Значение_если_ложь] - результат операции, если значение выражение ложно.</a:t>
            </a:r>
          </a:p>
          <a:p>
            <a:pPr marR="0" lvl="0" algn="l" rtl="0">
              <a:lnSpc>
                <a:spcPct val="115000"/>
              </a:lnSpc>
              <a:spcBef>
                <a:spcPts val="0"/>
              </a:spcBef>
              <a:spcAft>
                <a:spcPts val="1600"/>
              </a:spcAft>
              <a:buNone/>
            </a:pPr>
            <a:endParaRPr/>
          </a:p>
        </p:txBody>
      </p:sp>
      <p:pic>
        <p:nvPicPr>
          <p:cNvPr id="156" name="Shape 156" descr="pencil-write_318-1509.jpg"/>
          <p:cNvPicPr preferRelativeResize="0"/>
          <p:nvPr/>
        </p:nvPicPr>
        <p:blipFill>
          <a:blip r:embed="rId3">
            <a:alphaModFix/>
          </a:blip>
          <a:stretch>
            <a:fillRect/>
          </a:stretch>
        </p:blipFill>
        <p:spPr>
          <a:xfrm>
            <a:off x="8320087" y="1171612"/>
            <a:ext cx="668075" cy="668075"/>
          </a:xfrm>
          <a:prstGeom prst="rect">
            <a:avLst/>
          </a:prstGeom>
          <a:noFill/>
          <a:ln>
            <a:noFill/>
          </a:ln>
        </p:spPr>
      </p:pic>
      <p:cxnSp>
        <p:nvCxnSpPr>
          <p:cNvPr id="157" name="Shape 157"/>
          <p:cNvCxnSpPr/>
          <p:nvPr/>
        </p:nvCxnSpPr>
        <p:spPr>
          <a:xfrm>
            <a:off x="197350" y="1640500"/>
            <a:ext cx="8658900" cy="0"/>
          </a:xfrm>
          <a:prstGeom prst="straightConnector1">
            <a:avLst/>
          </a:prstGeom>
          <a:noFill/>
          <a:ln w="28575" cap="flat" cmpd="sng">
            <a:solidFill>
              <a:schemeClr val="accent3"/>
            </a:solidFill>
            <a:prstDash val="solid"/>
            <a:round/>
            <a:headEnd type="none" w="lg" len="lg"/>
            <a:tailEnd type="none" w="lg" len="lg"/>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57"/>
                                        </p:tgtEl>
                                        <p:attrNameLst>
                                          <p:attrName>style.visibility</p:attrName>
                                        </p:attrNameLst>
                                      </p:cBhvr>
                                      <p:to>
                                        <p:strVal val="visible"/>
                                      </p:to>
                                    </p:set>
                                    <p:anim calcmode="lin" valueType="num">
                                      <p:cBhvr additive="base">
                                        <p:cTn id="7" dur="1000"/>
                                        <p:tgtEl>
                                          <p:spTgt spid="15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Shape 162"/>
          <p:cNvSpPr txBox="1">
            <a:spLocks noGrp="1"/>
          </p:cNvSpPr>
          <p:nvPr>
            <p:ph type="body" idx="1"/>
          </p:nvPr>
        </p:nvSpPr>
        <p:spPr>
          <a:xfrm>
            <a:off x="311700" y="394525"/>
            <a:ext cx="8520600" cy="4465200"/>
          </a:xfrm>
          <a:prstGeom prst="rect">
            <a:avLst/>
          </a:prstGeom>
        </p:spPr>
        <p:txBody>
          <a:bodyPr lIns="91425" tIns="91425" rIns="91425" bIns="91425" anchor="t" anchorCtr="0">
            <a:noAutofit/>
          </a:bodyPr>
          <a:lstStyle/>
          <a:p>
            <a:pPr marL="457200" marR="0" lvl="0" indent="-228600" algn="l" rtl="0">
              <a:lnSpc>
                <a:spcPct val="115000"/>
              </a:lnSpc>
              <a:spcBef>
                <a:spcPts val="0"/>
              </a:spcBef>
              <a:spcAft>
                <a:spcPts val="1600"/>
              </a:spcAft>
              <a:buChar char="➔"/>
            </a:pPr>
            <a:r>
              <a:rPr lang="ru"/>
              <a:t>Логические выражения используются для записи условий, в которых сравниваются числа, функции, формулы, текстовые или логические значения. Любое логическое выражение должно содержать по крайней мере один оператор сравнения, который определяет отношение между элементами логического выражения. Ниже представлен список операторов сравнения Excel</a:t>
            </a:r>
          </a:p>
          <a:p>
            <a:pPr marR="0" lvl="0" algn="l" rtl="0">
              <a:lnSpc>
                <a:spcPct val="115000"/>
              </a:lnSpc>
              <a:spcBef>
                <a:spcPts val="0"/>
              </a:spcBef>
              <a:spcAft>
                <a:spcPts val="1600"/>
              </a:spcAft>
              <a:buNone/>
            </a:pPr>
            <a:r>
              <a:rPr lang="ru"/>
              <a:t>=	Равно                                       &gt;=	Больше или равно</a:t>
            </a:r>
          </a:p>
          <a:p>
            <a:pPr marR="0" lvl="0" algn="l" rtl="0">
              <a:lnSpc>
                <a:spcPct val="115000"/>
              </a:lnSpc>
              <a:spcBef>
                <a:spcPts val="0"/>
              </a:spcBef>
              <a:spcAft>
                <a:spcPts val="1600"/>
              </a:spcAft>
              <a:buNone/>
            </a:pPr>
            <a:r>
              <a:rPr lang="ru"/>
              <a:t>&gt;	Больше                                    &lt;= Меньше или равно</a:t>
            </a:r>
          </a:p>
          <a:p>
            <a:pPr marR="0" lvl="0" algn="l" rtl="0">
              <a:lnSpc>
                <a:spcPct val="115000"/>
              </a:lnSpc>
              <a:spcBef>
                <a:spcPts val="0"/>
              </a:spcBef>
              <a:spcAft>
                <a:spcPts val="1600"/>
              </a:spcAft>
              <a:buNone/>
            </a:pPr>
            <a:r>
              <a:rPr lang="ru"/>
              <a:t>&lt;	Меньше                                   &lt;&gt; Не равно</a:t>
            </a:r>
          </a:p>
          <a:p>
            <a:pPr marR="0" lvl="0" algn="l" rtl="0">
              <a:lnSpc>
                <a:spcPct val="115000"/>
              </a:lnSpc>
              <a:spcBef>
                <a:spcPts val="0"/>
              </a:spcBef>
              <a:spcAft>
                <a:spcPts val="1600"/>
              </a:spcAft>
              <a:buNone/>
            </a:pPr>
            <a:endParaRPr/>
          </a:p>
          <a:p>
            <a:pPr marR="0" lvl="0" algn="l" rtl="0">
              <a:lnSpc>
                <a:spcPct val="115000"/>
              </a:lnSpc>
              <a:spcBef>
                <a:spcPts val="0"/>
              </a:spcBef>
              <a:spcAft>
                <a:spcPts val="1600"/>
              </a:spcAft>
              <a:buNone/>
            </a:pPr>
            <a:endParaRPr/>
          </a:p>
        </p:txBody>
      </p:sp>
      <p:cxnSp>
        <p:nvCxnSpPr>
          <p:cNvPr id="163" name="Shape 163"/>
          <p:cNvCxnSpPr/>
          <p:nvPr/>
        </p:nvCxnSpPr>
        <p:spPr>
          <a:xfrm>
            <a:off x="5291525" y="2047525"/>
            <a:ext cx="3429000" cy="0"/>
          </a:xfrm>
          <a:prstGeom prst="straightConnector1">
            <a:avLst/>
          </a:prstGeom>
          <a:noFill/>
          <a:ln w="28575" cap="flat" cmpd="sng">
            <a:solidFill>
              <a:schemeClr val="accent3"/>
            </a:solidFill>
            <a:prstDash val="solid"/>
            <a:round/>
            <a:headEnd type="none" w="lg" len="lg"/>
            <a:tailEnd type="none" w="lg" len="lg"/>
          </a:ln>
        </p:spPr>
      </p:cxnSp>
      <p:cxnSp>
        <p:nvCxnSpPr>
          <p:cNvPr id="164" name="Shape 164"/>
          <p:cNvCxnSpPr/>
          <p:nvPr/>
        </p:nvCxnSpPr>
        <p:spPr>
          <a:xfrm rot="10800000" flipH="1">
            <a:off x="423750" y="2565600"/>
            <a:ext cx="1303200" cy="12300"/>
          </a:xfrm>
          <a:prstGeom prst="straightConnector1">
            <a:avLst/>
          </a:prstGeom>
          <a:noFill/>
          <a:ln w="28575" cap="flat" cmpd="sng">
            <a:solidFill>
              <a:schemeClr val="accent3"/>
            </a:solidFill>
            <a:prstDash val="solid"/>
            <a:round/>
            <a:headEnd type="none" w="lg" len="lg"/>
            <a:tailEnd type="none" w="lg" len="lg"/>
          </a:ln>
        </p:spPr>
      </p:cxnSp>
      <p:cxnSp>
        <p:nvCxnSpPr>
          <p:cNvPr id="165" name="Shape 165"/>
          <p:cNvCxnSpPr/>
          <p:nvPr/>
        </p:nvCxnSpPr>
        <p:spPr>
          <a:xfrm>
            <a:off x="423750" y="3162000"/>
            <a:ext cx="1303200" cy="0"/>
          </a:xfrm>
          <a:prstGeom prst="straightConnector1">
            <a:avLst/>
          </a:prstGeom>
          <a:noFill/>
          <a:ln w="28575" cap="flat" cmpd="sng">
            <a:solidFill>
              <a:schemeClr val="accent3"/>
            </a:solidFill>
            <a:prstDash val="solid"/>
            <a:round/>
            <a:headEnd type="none" w="lg" len="lg"/>
            <a:tailEnd type="none" w="lg" len="lg"/>
          </a:ln>
        </p:spPr>
      </p:cxnSp>
      <p:cxnSp>
        <p:nvCxnSpPr>
          <p:cNvPr id="166" name="Shape 166"/>
          <p:cNvCxnSpPr/>
          <p:nvPr/>
        </p:nvCxnSpPr>
        <p:spPr>
          <a:xfrm>
            <a:off x="423750" y="3807775"/>
            <a:ext cx="1340100" cy="0"/>
          </a:xfrm>
          <a:prstGeom prst="straightConnector1">
            <a:avLst/>
          </a:prstGeom>
          <a:noFill/>
          <a:ln w="28575" cap="flat" cmpd="sng">
            <a:solidFill>
              <a:schemeClr val="accent3"/>
            </a:solidFill>
            <a:prstDash val="solid"/>
            <a:round/>
            <a:headEnd type="none" w="lg" len="lg"/>
            <a:tailEnd type="none" w="lg" len="lg"/>
          </a:ln>
        </p:spPr>
      </p:cxnSp>
      <p:cxnSp>
        <p:nvCxnSpPr>
          <p:cNvPr id="167" name="Shape 167"/>
          <p:cNvCxnSpPr/>
          <p:nvPr/>
        </p:nvCxnSpPr>
        <p:spPr>
          <a:xfrm>
            <a:off x="3951300" y="2620975"/>
            <a:ext cx="2376300" cy="0"/>
          </a:xfrm>
          <a:prstGeom prst="straightConnector1">
            <a:avLst/>
          </a:prstGeom>
          <a:noFill/>
          <a:ln w="28575" cap="flat" cmpd="sng">
            <a:solidFill>
              <a:schemeClr val="accent3"/>
            </a:solidFill>
            <a:prstDash val="solid"/>
            <a:round/>
            <a:headEnd type="none" w="lg" len="lg"/>
            <a:tailEnd type="none" w="lg" len="lg"/>
          </a:ln>
        </p:spPr>
      </p:cxnSp>
      <p:cxnSp>
        <p:nvCxnSpPr>
          <p:cNvPr id="168" name="Shape 168"/>
          <p:cNvCxnSpPr/>
          <p:nvPr/>
        </p:nvCxnSpPr>
        <p:spPr>
          <a:xfrm>
            <a:off x="3951300" y="3168150"/>
            <a:ext cx="2376300" cy="0"/>
          </a:xfrm>
          <a:prstGeom prst="straightConnector1">
            <a:avLst/>
          </a:prstGeom>
          <a:noFill/>
          <a:ln w="28575" cap="flat" cmpd="sng">
            <a:solidFill>
              <a:schemeClr val="accent3"/>
            </a:solidFill>
            <a:prstDash val="solid"/>
            <a:round/>
            <a:headEnd type="none" w="lg" len="lg"/>
            <a:tailEnd type="none" w="lg" len="lg"/>
          </a:ln>
        </p:spPr>
      </p:cxnSp>
      <p:cxnSp>
        <p:nvCxnSpPr>
          <p:cNvPr id="169" name="Shape 169"/>
          <p:cNvCxnSpPr/>
          <p:nvPr/>
        </p:nvCxnSpPr>
        <p:spPr>
          <a:xfrm>
            <a:off x="3951300" y="3727525"/>
            <a:ext cx="1365000" cy="0"/>
          </a:xfrm>
          <a:prstGeom prst="straightConnector1">
            <a:avLst/>
          </a:prstGeom>
          <a:noFill/>
          <a:ln w="28575" cap="flat" cmpd="sng">
            <a:solidFill>
              <a:schemeClr val="accent3"/>
            </a:solidFill>
            <a:prstDash val="solid"/>
            <a:round/>
            <a:headEnd type="none" w="lg" len="lg"/>
            <a:tailEnd type="none" w="lg" len="lg"/>
          </a:ln>
        </p:spPr>
      </p:cxnSp>
      <p:pic>
        <p:nvPicPr>
          <p:cNvPr id="170" name="Shape 170" descr="pencil-write_318-1509.jpg"/>
          <p:cNvPicPr preferRelativeResize="0"/>
          <p:nvPr/>
        </p:nvPicPr>
        <p:blipFill>
          <a:blip r:embed="rId3">
            <a:alphaModFix/>
          </a:blip>
          <a:stretch>
            <a:fillRect/>
          </a:stretch>
        </p:blipFill>
        <p:spPr>
          <a:xfrm>
            <a:off x="6722255" y="2620980"/>
            <a:ext cx="1726875" cy="1726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 calcmode="lin" valueType="num">
                                      <p:cBhvr additive="base">
                                        <p:cTn id="7" dur="1000"/>
                                        <p:tgtEl>
                                          <p:spTgt spid="16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Shape 175"/>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a:spcBef>
                <a:spcPts val="0"/>
              </a:spcBef>
              <a:buNone/>
            </a:pPr>
            <a:endParaRPr/>
          </a:p>
        </p:txBody>
      </p:sp>
      <p:sp>
        <p:nvSpPr>
          <p:cNvPr id="176" name="Shape 176"/>
          <p:cNvSpPr txBox="1">
            <a:spLocks noGrp="1"/>
          </p:cNvSpPr>
          <p:nvPr>
            <p:ph type="body" idx="1"/>
          </p:nvPr>
        </p:nvSpPr>
        <p:spPr>
          <a:xfrm>
            <a:off x="311700" y="1171600"/>
            <a:ext cx="8520600" cy="3397200"/>
          </a:xfrm>
          <a:prstGeom prst="rect">
            <a:avLst/>
          </a:prstGeom>
        </p:spPr>
        <p:txBody>
          <a:bodyPr lIns="91425" tIns="91425" rIns="91425" bIns="91425" anchor="t" anchorCtr="0">
            <a:noAutofit/>
          </a:bodyPr>
          <a:lstStyle/>
          <a:p>
            <a:pPr marR="0" lvl="0" indent="457200" algn="l" rtl="0">
              <a:lnSpc>
                <a:spcPct val="115000"/>
              </a:lnSpc>
              <a:spcBef>
                <a:spcPts val="0"/>
              </a:spcBef>
              <a:spcAft>
                <a:spcPts val="1600"/>
              </a:spcAft>
              <a:buNone/>
            </a:pPr>
            <a:r>
              <a:rPr lang="ru"/>
              <a:t>Логическое выражение может быть простым и сложным.</a:t>
            </a:r>
          </a:p>
          <a:p>
            <a:pPr marR="0" lvl="0" indent="457200" algn="l" rtl="0">
              <a:lnSpc>
                <a:spcPct val="115000"/>
              </a:lnSpc>
              <a:spcBef>
                <a:spcPts val="0"/>
              </a:spcBef>
              <a:spcAft>
                <a:spcPts val="1600"/>
              </a:spcAft>
              <a:buNone/>
            </a:pPr>
            <a:r>
              <a:rPr lang="ru"/>
              <a:t>Простое логическое выражение состоит из двух аргументов и знака отношения между ними.</a:t>
            </a:r>
          </a:p>
          <a:p>
            <a:pPr marR="0" lvl="0" indent="457200" algn="l" rtl="0">
              <a:lnSpc>
                <a:spcPct val="115000"/>
              </a:lnSpc>
              <a:spcBef>
                <a:spcPts val="0"/>
              </a:spcBef>
              <a:spcAft>
                <a:spcPts val="1600"/>
              </a:spcAft>
              <a:buNone/>
            </a:pPr>
            <a:r>
              <a:rPr lang="ru"/>
              <a:t>Сложное состоит из двух и более аргументов, связанных с применением одной из логических операций (И, ИЛИ, НЕ).</a:t>
            </a:r>
          </a:p>
          <a:p>
            <a:pPr marR="0" lvl="0" algn="l" rtl="0">
              <a:lnSpc>
                <a:spcPct val="115000"/>
              </a:lnSpc>
              <a:spcBef>
                <a:spcPts val="0"/>
              </a:spcBef>
              <a:spcAft>
                <a:spcPts val="1600"/>
              </a:spcAft>
              <a:buNone/>
            </a:pPr>
            <a:endParaRPr/>
          </a:p>
          <a:p>
            <a:pPr marR="0" lvl="0" algn="l" rtl="0">
              <a:lnSpc>
                <a:spcPct val="115000"/>
              </a:lnSpc>
              <a:spcBef>
                <a:spcPts val="0"/>
              </a:spcBef>
              <a:spcAft>
                <a:spcPts val="16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Shape 181"/>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a:spcBef>
                <a:spcPts val="0"/>
              </a:spcBef>
              <a:buNone/>
            </a:pPr>
            <a:r>
              <a:rPr lang="ru"/>
              <a:t>Функция ЕСЛИ</a:t>
            </a:r>
          </a:p>
        </p:txBody>
      </p:sp>
      <p:sp>
        <p:nvSpPr>
          <p:cNvPr id="182" name="Shape 182"/>
          <p:cNvSpPr txBox="1">
            <a:spLocks noGrp="1"/>
          </p:cNvSpPr>
          <p:nvPr>
            <p:ph type="body" idx="1"/>
          </p:nvPr>
        </p:nvSpPr>
        <p:spPr>
          <a:xfrm>
            <a:off x="311700" y="1171600"/>
            <a:ext cx="8520600" cy="3397200"/>
          </a:xfrm>
          <a:prstGeom prst="rect">
            <a:avLst/>
          </a:prstGeom>
        </p:spPr>
        <p:txBody>
          <a:bodyPr lIns="91425" tIns="91425" rIns="91425" bIns="91425" anchor="t" anchorCtr="0">
            <a:noAutofit/>
          </a:bodyPr>
          <a:lstStyle/>
          <a:p>
            <a:pPr lvl="0">
              <a:spcBef>
                <a:spcPts val="0"/>
              </a:spcBef>
              <a:buNone/>
            </a:pPr>
            <a:endParaRPr/>
          </a:p>
        </p:txBody>
      </p:sp>
      <p:pic>
        <p:nvPicPr>
          <p:cNvPr id="183" name="Shape 183" descr="d2b3f677-3cee-4bb0-9b22-6227fd767d62.png"/>
          <p:cNvPicPr preferRelativeResize="0"/>
          <p:nvPr/>
        </p:nvPicPr>
        <p:blipFill rotWithShape="1">
          <a:blip r:embed="rId3">
            <a:alphaModFix/>
          </a:blip>
          <a:srcRect r="53652" b="44080"/>
          <a:stretch/>
        </p:blipFill>
        <p:spPr>
          <a:xfrm>
            <a:off x="311700" y="1171600"/>
            <a:ext cx="3438849" cy="1484049"/>
          </a:xfrm>
          <a:prstGeom prst="rect">
            <a:avLst/>
          </a:prstGeom>
          <a:noFill/>
          <a:ln>
            <a:noFill/>
          </a:ln>
        </p:spPr>
      </p:pic>
      <p:graphicFrame>
        <p:nvGraphicFramePr>
          <p:cNvPr id="184" name="Shape 184"/>
          <p:cNvGraphicFramePr/>
          <p:nvPr/>
        </p:nvGraphicFramePr>
        <p:xfrm>
          <a:off x="311700" y="2970775"/>
          <a:ext cx="3000000" cy="3000000"/>
        </p:xfrm>
        <a:graphic>
          <a:graphicData uri="http://schemas.openxmlformats.org/drawingml/2006/table">
            <a:tbl>
              <a:tblPr>
                <a:noFill/>
                <a:tableStyleId>{E15F9895-1A9F-4267-948F-A506CD65F050}</a:tableStyleId>
              </a:tblPr>
              <a:tblGrid>
                <a:gridCol w="3052725"/>
                <a:gridCol w="3236325"/>
                <a:gridCol w="2245075"/>
              </a:tblGrid>
              <a:tr h="470625">
                <a:tc>
                  <a:txBody>
                    <a:bodyPr/>
                    <a:lstStyle/>
                    <a:p>
                      <a:pPr lvl="0" rtl="0">
                        <a:spcBef>
                          <a:spcPts val="0"/>
                        </a:spcBef>
                        <a:buNone/>
                      </a:pPr>
                      <a:r>
                        <a:rPr lang="ru" sz="1800"/>
                        <a:t>Формула</a:t>
                      </a:r>
                    </a:p>
                  </a:txBody>
                  <a:tcPr marL="91425" marR="91425" marT="91425" marB="91425"/>
                </a:tc>
                <a:tc>
                  <a:txBody>
                    <a:bodyPr/>
                    <a:lstStyle/>
                    <a:p>
                      <a:pPr lvl="0" rtl="0">
                        <a:spcBef>
                          <a:spcPts val="0"/>
                        </a:spcBef>
                        <a:buNone/>
                      </a:pPr>
                      <a:r>
                        <a:rPr lang="ru" sz="1800"/>
                        <a:t>Описание</a:t>
                      </a:r>
                    </a:p>
                  </a:txBody>
                  <a:tcPr marL="91425" marR="91425" marT="91425" marB="91425"/>
                </a:tc>
                <a:tc>
                  <a:txBody>
                    <a:bodyPr/>
                    <a:lstStyle/>
                    <a:p>
                      <a:pPr lvl="0" rtl="0">
                        <a:spcBef>
                          <a:spcPts val="0"/>
                        </a:spcBef>
                        <a:buNone/>
                      </a:pPr>
                      <a:r>
                        <a:rPr lang="ru" sz="1800"/>
                        <a:t>Результат</a:t>
                      </a:r>
                    </a:p>
                  </a:txBody>
                  <a:tcPr marL="91425" marR="91425" marT="91425" marB="91425"/>
                </a:tc>
              </a:tr>
              <a:tr h="868075">
                <a:tc>
                  <a:txBody>
                    <a:bodyPr/>
                    <a:lstStyle/>
                    <a:p>
                      <a:pPr lvl="0" rtl="0">
                        <a:spcBef>
                          <a:spcPts val="0"/>
                        </a:spcBef>
                        <a:buNone/>
                      </a:pPr>
                      <a:r>
                        <a:rPr lang="ru" sz="1800">
                          <a:solidFill>
                            <a:srgbClr val="2F2F2F"/>
                          </a:solidFill>
                          <a:highlight>
                            <a:srgbClr val="FFFFFF"/>
                          </a:highlight>
                        </a:rPr>
                        <a:t>=ЕСЛИ(A2&gt;100;”yes”;”no”)</a:t>
                      </a:r>
                    </a:p>
                  </a:txBody>
                  <a:tcPr marL="91425" marR="91425" marT="91425" marB="91425"/>
                </a:tc>
                <a:tc>
                  <a:txBody>
                    <a:bodyPr/>
                    <a:lstStyle/>
                    <a:p>
                      <a:pPr lvl="0" rtl="0">
                        <a:lnSpc>
                          <a:spcPct val="100000"/>
                        </a:lnSpc>
                        <a:spcBef>
                          <a:spcPts val="0"/>
                        </a:spcBef>
                        <a:buNone/>
                      </a:pPr>
                      <a:r>
                        <a:rPr lang="ru" sz="1800">
                          <a:solidFill>
                            <a:srgbClr val="2F2F2F"/>
                          </a:solidFill>
                          <a:highlight>
                            <a:srgbClr val="FFFFFF"/>
                          </a:highlight>
                        </a:rPr>
                        <a:t>Если A2 больше 100, то вывести в ячейку “yes”, если меньше то вывести “no”</a:t>
                      </a:r>
                    </a:p>
                  </a:txBody>
                  <a:tcPr marL="91425" marR="91425" marT="91425" marB="91425"/>
                </a:tc>
                <a:tc>
                  <a:txBody>
                    <a:bodyPr/>
                    <a:lstStyle/>
                    <a:p>
                      <a:pPr lvl="0" rtl="0">
                        <a:spcBef>
                          <a:spcPts val="0"/>
                        </a:spcBef>
                        <a:buNone/>
                      </a:pPr>
                      <a:r>
                        <a:rPr lang="ru" sz="1800"/>
                        <a:t>no</a:t>
                      </a:r>
                    </a:p>
                  </a:txBody>
                  <a:tcPr marL="91425" marR="91425" marT="91425" marB="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Shape 189"/>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rtl="0">
              <a:spcBef>
                <a:spcPts val="0"/>
              </a:spcBef>
              <a:buNone/>
            </a:pPr>
            <a:r>
              <a:rPr lang="ru"/>
              <a:t>Функция ЕСЛИ</a:t>
            </a:r>
          </a:p>
        </p:txBody>
      </p:sp>
      <p:sp>
        <p:nvSpPr>
          <p:cNvPr id="190" name="Shape 190"/>
          <p:cNvSpPr txBox="1">
            <a:spLocks noGrp="1"/>
          </p:cNvSpPr>
          <p:nvPr>
            <p:ph type="body" idx="1"/>
          </p:nvPr>
        </p:nvSpPr>
        <p:spPr>
          <a:xfrm>
            <a:off x="311700" y="1171600"/>
            <a:ext cx="8520600" cy="3397200"/>
          </a:xfrm>
          <a:prstGeom prst="rect">
            <a:avLst/>
          </a:prstGeom>
        </p:spPr>
        <p:txBody>
          <a:bodyPr lIns="91425" tIns="91425" rIns="91425" bIns="91425" anchor="t" anchorCtr="0">
            <a:noAutofit/>
          </a:bodyPr>
          <a:lstStyle/>
          <a:p>
            <a:pPr lvl="0" rtl="0">
              <a:spcBef>
                <a:spcPts val="0"/>
              </a:spcBef>
              <a:buNone/>
            </a:pPr>
            <a:endParaRPr/>
          </a:p>
        </p:txBody>
      </p:sp>
      <p:pic>
        <p:nvPicPr>
          <p:cNvPr id="191" name="Shape 191" descr="d2b3f677-3cee-4bb0-9b22-6227fd767d62.png"/>
          <p:cNvPicPr preferRelativeResize="0"/>
          <p:nvPr/>
        </p:nvPicPr>
        <p:blipFill rotWithShape="1">
          <a:blip r:embed="rId3">
            <a:alphaModFix/>
          </a:blip>
          <a:srcRect r="53652" b="44080"/>
          <a:stretch/>
        </p:blipFill>
        <p:spPr>
          <a:xfrm>
            <a:off x="311700" y="1171600"/>
            <a:ext cx="3438849" cy="1484049"/>
          </a:xfrm>
          <a:prstGeom prst="rect">
            <a:avLst/>
          </a:prstGeom>
          <a:noFill/>
          <a:ln>
            <a:noFill/>
          </a:ln>
        </p:spPr>
      </p:pic>
      <p:graphicFrame>
        <p:nvGraphicFramePr>
          <p:cNvPr id="192" name="Shape 192"/>
          <p:cNvGraphicFramePr/>
          <p:nvPr/>
        </p:nvGraphicFramePr>
        <p:xfrm>
          <a:off x="304937" y="2872100"/>
          <a:ext cx="3000000" cy="3000000"/>
        </p:xfrm>
        <a:graphic>
          <a:graphicData uri="http://schemas.openxmlformats.org/drawingml/2006/table">
            <a:tbl>
              <a:tblPr>
                <a:noFill/>
                <a:tableStyleId>{E15F9895-1A9F-4267-948F-A506CD65F050}</a:tableStyleId>
              </a:tblPr>
              <a:tblGrid>
                <a:gridCol w="3052725"/>
                <a:gridCol w="3964075"/>
                <a:gridCol w="1517325"/>
              </a:tblGrid>
              <a:tr h="470625">
                <a:tc>
                  <a:txBody>
                    <a:bodyPr/>
                    <a:lstStyle/>
                    <a:p>
                      <a:pPr lvl="0" rtl="0">
                        <a:spcBef>
                          <a:spcPts val="0"/>
                        </a:spcBef>
                        <a:buNone/>
                      </a:pPr>
                      <a:r>
                        <a:rPr lang="ru" sz="1800"/>
                        <a:t>Формула</a:t>
                      </a:r>
                    </a:p>
                  </a:txBody>
                  <a:tcPr marL="91425" marR="91425" marT="91425" marB="91425"/>
                </a:tc>
                <a:tc>
                  <a:txBody>
                    <a:bodyPr/>
                    <a:lstStyle/>
                    <a:p>
                      <a:pPr lvl="0" rtl="0">
                        <a:spcBef>
                          <a:spcPts val="0"/>
                        </a:spcBef>
                        <a:buNone/>
                      </a:pPr>
                      <a:r>
                        <a:rPr lang="ru" sz="1800"/>
                        <a:t>Описание</a:t>
                      </a:r>
                    </a:p>
                  </a:txBody>
                  <a:tcPr marL="91425" marR="91425" marT="91425" marB="91425"/>
                </a:tc>
                <a:tc>
                  <a:txBody>
                    <a:bodyPr/>
                    <a:lstStyle/>
                    <a:p>
                      <a:pPr lvl="0" rtl="0">
                        <a:spcBef>
                          <a:spcPts val="0"/>
                        </a:spcBef>
                        <a:buNone/>
                      </a:pPr>
                      <a:r>
                        <a:rPr lang="ru" sz="1800"/>
                        <a:t>Результат</a:t>
                      </a:r>
                    </a:p>
                  </a:txBody>
                  <a:tcPr marL="91425" marR="91425" marT="91425" marB="91425"/>
                </a:tc>
              </a:tr>
              <a:tr h="868075">
                <a:tc>
                  <a:txBody>
                    <a:bodyPr/>
                    <a:lstStyle/>
                    <a:p>
                      <a:pPr lvl="0" rtl="0">
                        <a:lnSpc>
                          <a:spcPct val="115000"/>
                        </a:lnSpc>
                        <a:spcBef>
                          <a:spcPts val="0"/>
                        </a:spcBef>
                        <a:buNone/>
                      </a:pPr>
                      <a:r>
                        <a:rPr lang="ru" sz="1800">
                          <a:solidFill>
                            <a:srgbClr val="2F2F2F"/>
                          </a:solidFill>
                          <a:highlight>
                            <a:srgbClr val="FFFFFF"/>
                          </a:highlight>
                        </a:rPr>
                        <a:t>=ЕСЛИ(И(A2&lt;A3;A2&lt;100);A2;"Значение вне допустимого диапазона.")</a:t>
                      </a:r>
                    </a:p>
                  </a:txBody>
                  <a:tcPr marL="47625" marR="95250" marT="38100" marB="38100"/>
                </a:tc>
                <a:tc>
                  <a:txBody>
                    <a:bodyPr/>
                    <a:lstStyle/>
                    <a:p>
                      <a:pPr lvl="0" rtl="0">
                        <a:lnSpc>
                          <a:spcPct val="115000"/>
                        </a:lnSpc>
                        <a:spcBef>
                          <a:spcPts val="0"/>
                        </a:spcBef>
                        <a:buNone/>
                      </a:pPr>
                      <a:r>
                        <a:rPr lang="ru" sz="1800">
                          <a:solidFill>
                            <a:srgbClr val="2F2F2F"/>
                          </a:solidFill>
                          <a:highlight>
                            <a:srgbClr val="FFFFFF"/>
                          </a:highlight>
                        </a:rPr>
                        <a:t>Отображает значение в ячейке A2, если он меньше A3 и меньше 100, в противном случае будет выведено сообщение «значение находится вне диапазона».</a:t>
                      </a:r>
                    </a:p>
                  </a:txBody>
                  <a:tcPr marL="47625" marR="95250" marT="38100" marB="38100"/>
                </a:tc>
                <a:tc>
                  <a:txBody>
                    <a:bodyPr/>
                    <a:lstStyle/>
                    <a:p>
                      <a:pPr lvl="0" rtl="0">
                        <a:spcBef>
                          <a:spcPts val="0"/>
                        </a:spcBef>
                        <a:buNone/>
                      </a:pPr>
                      <a:r>
                        <a:rPr lang="ru" sz="1800"/>
                        <a:t>50</a:t>
                      </a:r>
                    </a:p>
                  </a:txBody>
                  <a:tcPr marL="91425" marR="91425" marT="91425" marB="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Shape 197"/>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rtl="0">
              <a:spcBef>
                <a:spcPts val="0"/>
              </a:spcBef>
              <a:buNone/>
            </a:pPr>
            <a:r>
              <a:rPr lang="ru"/>
              <a:t>Функция ЕСЛИ</a:t>
            </a:r>
          </a:p>
        </p:txBody>
      </p:sp>
      <p:sp>
        <p:nvSpPr>
          <p:cNvPr id="198" name="Shape 198"/>
          <p:cNvSpPr txBox="1">
            <a:spLocks noGrp="1"/>
          </p:cNvSpPr>
          <p:nvPr>
            <p:ph type="body" idx="1"/>
          </p:nvPr>
        </p:nvSpPr>
        <p:spPr>
          <a:xfrm>
            <a:off x="311700" y="1171600"/>
            <a:ext cx="8520600" cy="3397200"/>
          </a:xfrm>
          <a:prstGeom prst="rect">
            <a:avLst/>
          </a:prstGeom>
        </p:spPr>
        <p:txBody>
          <a:bodyPr lIns="91425" tIns="91425" rIns="91425" bIns="91425" anchor="t" anchorCtr="0">
            <a:noAutofit/>
          </a:bodyPr>
          <a:lstStyle/>
          <a:p>
            <a:pPr lvl="0" rtl="0">
              <a:spcBef>
                <a:spcPts val="0"/>
              </a:spcBef>
              <a:buNone/>
            </a:pPr>
            <a:endParaRPr/>
          </a:p>
        </p:txBody>
      </p:sp>
      <p:pic>
        <p:nvPicPr>
          <p:cNvPr id="199" name="Shape 199" descr="d2b3f677-3cee-4bb0-9b22-6227fd767d62.png"/>
          <p:cNvPicPr preferRelativeResize="0"/>
          <p:nvPr/>
        </p:nvPicPr>
        <p:blipFill rotWithShape="1">
          <a:blip r:embed="rId3">
            <a:alphaModFix/>
          </a:blip>
          <a:srcRect r="53652" b="44080"/>
          <a:stretch/>
        </p:blipFill>
        <p:spPr>
          <a:xfrm>
            <a:off x="311700" y="1171600"/>
            <a:ext cx="3438849" cy="1484049"/>
          </a:xfrm>
          <a:prstGeom prst="rect">
            <a:avLst/>
          </a:prstGeom>
          <a:noFill/>
          <a:ln>
            <a:noFill/>
          </a:ln>
        </p:spPr>
      </p:pic>
      <p:graphicFrame>
        <p:nvGraphicFramePr>
          <p:cNvPr id="200" name="Shape 200"/>
          <p:cNvGraphicFramePr/>
          <p:nvPr/>
        </p:nvGraphicFramePr>
        <p:xfrm>
          <a:off x="304937" y="2872100"/>
          <a:ext cx="3000000" cy="3000000"/>
        </p:xfrm>
        <a:graphic>
          <a:graphicData uri="http://schemas.openxmlformats.org/drawingml/2006/table">
            <a:tbl>
              <a:tblPr>
                <a:noFill/>
                <a:tableStyleId>{E15F9895-1A9F-4267-948F-A506CD65F050}</a:tableStyleId>
              </a:tblPr>
              <a:tblGrid>
                <a:gridCol w="3052725"/>
                <a:gridCol w="3964075"/>
                <a:gridCol w="1517325"/>
              </a:tblGrid>
              <a:tr h="470625">
                <a:tc>
                  <a:txBody>
                    <a:bodyPr/>
                    <a:lstStyle/>
                    <a:p>
                      <a:pPr lvl="0" rtl="0">
                        <a:spcBef>
                          <a:spcPts val="0"/>
                        </a:spcBef>
                        <a:buNone/>
                      </a:pPr>
                      <a:r>
                        <a:rPr lang="ru" sz="1800"/>
                        <a:t>Формула</a:t>
                      </a:r>
                    </a:p>
                  </a:txBody>
                  <a:tcPr marL="91425" marR="91425" marT="91425" marB="91425"/>
                </a:tc>
                <a:tc>
                  <a:txBody>
                    <a:bodyPr/>
                    <a:lstStyle/>
                    <a:p>
                      <a:pPr lvl="0" rtl="0">
                        <a:spcBef>
                          <a:spcPts val="0"/>
                        </a:spcBef>
                        <a:buNone/>
                      </a:pPr>
                      <a:r>
                        <a:rPr lang="ru" sz="1800"/>
                        <a:t>Описание</a:t>
                      </a:r>
                    </a:p>
                  </a:txBody>
                  <a:tcPr marL="91425" marR="91425" marT="91425" marB="91425"/>
                </a:tc>
                <a:tc>
                  <a:txBody>
                    <a:bodyPr/>
                    <a:lstStyle/>
                    <a:p>
                      <a:pPr lvl="0" rtl="0">
                        <a:spcBef>
                          <a:spcPts val="0"/>
                        </a:spcBef>
                        <a:buNone/>
                      </a:pPr>
                      <a:r>
                        <a:rPr lang="ru" sz="1800"/>
                        <a:t>Результат</a:t>
                      </a:r>
                    </a:p>
                  </a:txBody>
                  <a:tcPr marL="91425" marR="91425" marT="91425" marB="91425"/>
                </a:tc>
              </a:tr>
              <a:tr h="868075">
                <a:tc>
                  <a:txBody>
                    <a:bodyPr/>
                    <a:lstStyle/>
                    <a:p>
                      <a:pPr lvl="0" rtl="0">
                        <a:lnSpc>
                          <a:spcPct val="115000"/>
                        </a:lnSpc>
                        <a:spcBef>
                          <a:spcPts val="0"/>
                        </a:spcBef>
                        <a:buNone/>
                      </a:pPr>
                      <a:r>
                        <a:rPr lang="ru" sz="1800">
                          <a:solidFill>
                            <a:srgbClr val="2F2F2F"/>
                          </a:solidFill>
                          <a:highlight>
                            <a:srgbClr val="FFFFFF"/>
                          </a:highlight>
                        </a:rPr>
                        <a:t>=ЕСЛИ(ИЛИ(A3&gt;1;A3&lt;100);A3;"Значение вне допустимого диапазона")</a:t>
                      </a:r>
                    </a:p>
                  </a:txBody>
                  <a:tcPr marL="47625" marR="95250" marT="38100" marB="38100"/>
                </a:tc>
                <a:tc>
                  <a:txBody>
                    <a:bodyPr/>
                    <a:lstStyle/>
                    <a:p>
                      <a:pPr lvl="0" rtl="0">
                        <a:lnSpc>
                          <a:spcPct val="115000"/>
                        </a:lnSpc>
                        <a:spcBef>
                          <a:spcPts val="0"/>
                        </a:spcBef>
                        <a:buNone/>
                      </a:pPr>
                      <a:r>
                        <a:rPr lang="ru" sz="1800">
                          <a:solidFill>
                            <a:srgbClr val="2F2F2F"/>
                          </a:solidFill>
                          <a:highlight>
                            <a:srgbClr val="FFFFFF"/>
                          </a:highlight>
                        </a:rPr>
                        <a:t>Возвращает значение ячейки A3, если оно меньше 100 ИЛИ больше 1. В противном случае возвращает сообщение "Значение вне допустимого диапазона".</a:t>
                      </a:r>
                    </a:p>
                  </a:txBody>
                  <a:tcPr marL="47625" marR="95250" marT="38100" marB="38100"/>
                </a:tc>
                <a:tc>
                  <a:txBody>
                    <a:bodyPr/>
                    <a:lstStyle/>
                    <a:p>
                      <a:pPr lvl="0" rtl="0">
                        <a:lnSpc>
                          <a:spcPct val="115000"/>
                        </a:lnSpc>
                        <a:spcBef>
                          <a:spcPts val="0"/>
                        </a:spcBef>
                        <a:buClr>
                          <a:schemeClr val="dk1"/>
                        </a:buClr>
                        <a:buSzPct val="61111"/>
                        <a:buFont typeface="Arial"/>
                        <a:buNone/>
                      </a:pPr>
                      <a:r>
                        <a:rPr lang="ru" sz="1800">
                          <a:solidFill>
                            <a:srgbClr val="2F2F2F"/>
                          </a:solidFill>
                          <a:highlight>
                            <a:srgbClr val="FFFFFF"/>
                          </a:highlight>
                        </a:rPr>
                        <a:t>Значение вне допустимого диапазона</a:t>
                      </a:r>
                    </a:p>
                  </a:txBody>
                  <a:tcPr marL="91425" marR="91425" marT="91425" marB="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Shape 205" descr="88cc31af35f4bc018ef299004fcbafe50f474713b0c32ac0e4c589f288e7b97b.jpg"/>
          <p:cNvPicPr preferRelativeResize="0"/>
          <p:nvPr/>
        </p:nvPicPr>
        <p:blipFill>
          <a:blip r:embed="rId3">
            <a:alphaModFix/>
          </a:blip>
          <a:stretch>
            <a:fillRect/>
          </a:stretch>
        </p:blipFill>
        <p:spPr>
          <a:xfrm>
            <a:off x="5242175" y="1722300"/>
            <a:ext cx="3827824" cy="3253649"/>
          </a:xfrm>
          <a:prstGeom prst="rect">
            <a:avLst/>
          </a:prstGeom>
          <a:noFill/>
          <a:ln>
            <a:noFill/>
          </a:ln>
        </p:spPr>
      </p:pic>
      <p:sp>
        <p:nvSpPr>
          <p:cNvPr id="206" name="Shape 206"/>
          <p:cNvSpPr txBox="1">
            <a:spLocks noGrp="1"/>
          </p:cNvSpPr>
          <p:nvPr>
            <p:ph type="title"/>
          </p:nvPr>
        </p:nvSpPr>
        <p:spPr>
          <a:xfrm>
            <a:off x="311700" y="445025"/>
            <a:ext cx="8520600" cy="3403200"/>
          </a:xfrm>
          <a:prstGeom prst="rect">
            <a:avLst/>
          </a:prstGeom>
        </p:spPr>
        <p:txBody>
          <a:bodyPr lIns="91425" tIns="91425" rIns="91425" bIns="91425" anchor="t" anchorCtr="0">
            <a:noAutofit/>
          </a:bodyPr>
          <a:lstStyle/>
          <a:p>
            <a:pPr marL="0" marR="0" lvl="0" indent="387350" algn="l" rtl="0">
              <a:lnSpc>
                <a:spcPct val="100000"/>
              </a:lnSpc>
              <a:spcBef>
                <a:spcPts val="0"/>
              </a:spcBef>
              <a:spcAft>
                <a:spcPts val="0"/>
              </a:spcAft>
              <a:buClr>
                <a:srgbClr val="000000"/>
              </a:buClr>
              <a:buSzPct val="36666"/>
              <a:buFont typeface="Arial"/>
              <a:buNone/>
            </a:pPr>
            <a:r>
              <a:rPr lang="ru" b="1"/>
              <a:t>Задача 1.</a:t>
            </a:r>
            <a:r>
              <a:rPr lang="ru"/>
              <a:t> Необходимо переоценить товарные остатки. Если продукт хранится на складе дольше 8 месяцев, уменьшить его цену в 2 раза.</a:t>
            </a:r>
          </a:p>
          <a:p>
            <a:pPr marL="0" marR="0" lvl="0" indent="457200" algn="l" rtl="0">
              <a:lnSpc>
                <a:spcPct val="100000"/>
              </a:lnSpc>
              <a:spcBef>
                <a:spcPts val="0"/>
              </a:spcBef>
              <a:spcAft>
                <a:spcPts val="0"/>
              </a:spcAft>
              <a:buNone/>
            </a:pPr>
            <a:endParaRPr/>
          </a:p>
          <a:p>
            <a:pPr marL="0" marR="0" lvl="0" indent="457200" algn="l" rtl="0">
              <a:lnSpc>
                <a:spcPct val="100000"/>
              </a:lnSpc>
              <a:spcBef>
                <a:spcPts val="0"/>
              </a:spcBef>
              <a:spcAft>
                <a:spcPts val="0"/>
              </a:spcAft>
              <a:buNone/>
            </a:pPr>
            <a:endParaRPr sz="2400"/>
          </a:p>
          <a:p>
            <a:pPr marL="0" marR="0" lvl="0" indent="457200" algn="l" rtl="0">
              <a:lnSpc>
                <a:spcPct val="100000"/>
              </a:lnSpc>
              <a:spcBef>
                <a:spcPts val="0"/>
              </a:spcBef>
              <a:spcAft>
                <a:spcPts val="0"/>
              </a:spcAft>
              <a:buNone/>
            </a:pPr>
            <a:r>
              <a:rPr lang="ru" sz="2400"/>
              <a:t>Сформированную таблицу </a:t>
            </a:r>
            <a:br>
              <a:rPr lang="ru" sz="2400"/>
            </a:br>
            <a:r>
              <a:rPr lang="ru" sz="2400"/>
              <a:t>с исходными параметрами вы найдете </a:t>
            </a:r>
            <a:br>
              <a:rPr lang="ru" sz="2400"/>
            </a:br>
            <a:r>
              <a:rPr lang="ru" sz="2400"/>
              <a:t>в папке, в локальной сети по адресу:</a:t>
            </a:r>
          </a:p>
          <a:p>
            <a:pPr marL="0" marR="0" lvl="0" indent="457200" algn="l" rtl="0">
              <a:lnSpc>
                <a:spcPct val="100000"/>
              </a:lnSpc>
              <a:spcBef>
                <a:spcPts val="0"/>
              </a:spcBef>
              <a:spcAft>
                <a:spcPts val="0"/>
              </a:spcAft>
              <a:buNone/>
            </a:pPr>
            <a:endParaRPr sz="2400"/>
          </a:p>
          <a:p>
            <a:pPr marL="0" marR="0" lvl="0" indent="0" algn="l" rtl="0">
              <a:lnSpc>
                <a:spcPct val="100000"/>
              </a:lnSpc>
              <a:spcBef>
                <a:spcPts val="0"/>
              </a:spcBef>
              <a:spcAft>
                <a:spcPts val="0"/>
              </a:spcAft>
              <a:buNone/>
            </a:pPr>
            <a:endParaRPr sz="2400"/>
          </a:p>
          <a:p>
            <a:pPr marL="0" marR="0" lvl="0" indent="-69850" algn="l" rtl="0">
              <a:lnSpc>
                <a:spcPct val="100000"/>
              </a:lnSpc>
              <a:spcBef>
                <a:spcPts val="0"/>
              </a:spcBef>
              <a:spcAft>
                <a:spcPts val="0"/>
              </a:spcAft>
              <a:buClr>
                <a:srgbClr val="000000"/>
              </a:buClr>
              <a:buSzPct val="36666"/>
              <a:buFont typeface="Arial"/>
              <a:buNone/>
            </a:pPr>
            <a:r>
              <a:rPr lang="ru"/>
              <a:t>Сеть/Users/Public/8/Переоценка.xls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Shape 211"/>
          <p:cNvSpPr txBox="1">
            <a:spLocks noGrp="1"/>
          </p:cNvSpPr>
          <p:nvPr>
            <p:ph type="title"/>
          </p:nvPr>
        </p:nvSpPr>
        <p:spPr>
          <a:xfrm>
            <a:off x="311700" y="445025"/>
            <a:ext cx="8520600" cy="1540800"/>
          </a:xfrm>
          <a:prstGeom prst="rect">
            <a:avLst/>
          </a:prstGeom>
        </p:spPr>
        <p:txBody>
          <a:bodyPr lIns="91425" tIns="91425" rIns="91425" bIns="91425" anchor="t" anchorCtr="0">
            <a:noAutofit/>
          </a:bodyPr>
          <a:lstStyle/>
          <a:p>
            <a:pPr marL="0" marR="0" lvl="0" indent="387350" algn="l" rtl="0">
              <a:lnSpc>
                <a:spcPct val="100000"/>
              </a:lnSpc>
              <a:spcBef>
                <a:spcPts val="0"/>
              </a:spcBef>
              <a:spcAft>
                <a:spcPts val="0"/>
              </a:spcAft>
              <a:buClr>
                <a:srgbClr val="000000"/>
              </a:buClr>
              <a:buSzPct val="36666"/>
              <a:buFont typeface="Arial"/>
              <a:buNone/>
            </a:pPr>
            <a:r>
              <a:rPr lang="ru" b="1"/>
              <a:t>Задача 2.</a:t>
            </a:r>
            <a:r>
              <a:rPr lang="ru"/>
              <a:t> Если стоимость товара на складе после уценки стала меньше 300 р. или продукт хранится дольше 10 месяцев, его списывают.</a:t>
            </a:r>
          </a:p>
          <a:p>
            <a:pPr marL="0" marR="0" lvl="0" indent="457200" algn="l" rtl="0">
              <a:lnSpc>
                <a:spcPct val="100000"/>
              </a:lnSpc>
              <a:spcBef>
                <a:spcPts val="0"/>
              </a:spcBef>
              <a:spcAft>
                <a:spcPts val="0"/>
              </a:spcAft>
              <a:buNone/>
            </a:pPr>
            <a:endParaRPr/>
          </a:p>
        </p:txBody>
      </p:sp>
      <p:pic>
        <p:nvPicPr>
          <p:cNvPr id="212" name="Shape 212" descr="198px-Znak.JPG"/>
          <p:cNvPicPr preferRelativeResize="0"/>
          <p:nvPr/>
        </p:nvPicPr>
        <p:blipFill>
          <a:blip r:embed="rId3">
            <a:alphaModFix/>
          </a:blip>
          <a:stretch>
            <a:fillRect/>
          </a:stretch>
        </p:blipFill>
        <p:spPr>
          <a:xfrm>
            <a:off x="5957575" y="1851475"/>
            <a:ext cx="2975775" cy="3005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Shape 217"/>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rtl="0">
              <a:spcBef>
                <a:spcPts val="0"/>
              </a:spcBef>
              <a:buNone/>
            </a:pPr>
            <a:r>
              <a:rPr lang="ru"/>
              <a:t>Задания части 1 по теме “ЭТ” в ОГЭ по информатике</a:t>
            </a:r>
          </a:p>
        </p:txBody>
      </p:sp>
      <p:sp>
        <p:nvSpPr>
          <p:cNvPr id="218" name="Shape 218"/>
          <p:cNvSpPr txBox="1">
            <a:spLocks noGrp="1"/>
          </p:cNvSpPr>
          <p:nvPr>
            <p:ph type="body" idx="1"/>
          </p:nvPr>
        </p:nvSpPr>
        <p:spPr>
          <a:xfrm>
            <a:off x="311700" y="1467550"/>
            <a:ext cx="8520600" cy="3397200"/>
          </a:xfrm>
          <a:prstGeom prst="rect">
            <a:avLst/>
          </a:prstGeom>
        </p:spPr>
        <p:txBody>
          <a:bodyPr lIns="91425" tIns="91425" rIns="91425" bIns="91425" anchor="t" anchorCtr="0">
            <a:noAutofit/>
          </a:bodyPr>
          <a:lstStyle/>
          <a:p>
            <a:pPr lvl="0" rtl="0">
              <a:spcBef>
                <a:spcPts val="0"/>
              </a:spcBef>
              <a:buNone/>
            </a:pPr>
            <a:r>
              <a:rPr lang="ru" sz="1400">
                <a:highlight>
                  <a:srgbClr val="FFFFFF"/>
                </a:highlight>
                <a:latin typeface="Times New Roman"/>
                <a:ea typeface="Times New Roman"/>
                <a:cs typeface="Times New Roman"/>
                <a:sym typeface="Times New Roman"/>
              </a:rPr>
              <a:t>2   Для каких из приведённых чисел истинно высказывание:</a:t>
            </a:r>
          </a:p>
          <a:p>
            <a:pPr lvl="0" rtl="0">
              <a:lnSpc>
                <a:spcPct val="125000"/>
              </a:lnSpc>
              <a:spcBef>
                <a:spcPts val="0"/>
              </a:spcBef>
              <a:spcAft>
                <a:spcPts val="0"/>
              </a:spcAft>
              <a:buNone/>
            </a:pPr>
            <a:r>
              <a:rPr lang="ru" sz="1400">
                <a:highlight>
                  <a:srgbClr val="FFFFFF"/>
                </a:highlight>
                <a:latin typeface="Courier New"/>
                <a:ea typeface="Courier New"/>
                <a:cs typeface="Courier New"/>
                <a:sym typeface="Courier New"/>
              </a:rPr>
              <a:t>НЕ (Вторая цифра чётная) И (Последняя цифра чётная)?</a:t>
            </a:r>
          </a:p>
          <a:p>
            <a:pPr lvl="0" rtl="0">
              <a:spcBef>
                <a:spcPts val="0"/>
              </a:spcBef>
              <a:spcAft>
                <a:spcPts val="0"/>
              </a:spcAft>
              <a:buNone/>
            </a:pPr>
            <a:r>
              <a:rPr lang="ru" sz="1400">
                <a:highlight>
                  <a:srgbClr val="FFFFFF"/>
                </a:highlight>
                <a:latin typeface="Times New Roman"/>
                <a:ea typeface="Times New Roman"/>
                <a:cs typeface="Times New Roman"/>
                <a:sym typeface="Times New Roman"/>
              </a:rPr>
              <a:t>Выберите все правильные варианты:</a:t>
            </a:r>
          </a:p>
          <a:p>
            <a:pPr lvl="0" rtl="0">
              <a:lnSpc>
                <a:spcPct val="125000"/>
              </a:lnSpc>
              <a:spcBef>
                <a:spcPts val="0"/>
              </a:spcBef>
              <a:spcAft>
                <a:spcPts val="0"/>
              </a:spcAft>
              <a:buNone/>
            </a:pPr>
            <a:r>
              <a:rPr lang="ru" sz="1400">
                <a:highlight>
                  <a:srgbClr val="FFFFFF"/>
                </a:highlight>
                <a:latin typeface="Courier New"/>
                <a:ea typeface="Courier New"/>
                <a:cs typeface="Courier New"/>
                <a:sym typeface="Courier New"/>
              </a:rPr>
              <a:t>2345  6848  3561  4562  3778</a:t>
            </a:r>
          </a:p>
          <a:p>
            <a:pPr lvl="0">
              <a:spcBef>
                <a:spcPts val="0"/>
              </a:spcBef>
              <a:buNone/>
            </a:pPr>
            <a:endParaRPr sz="1400">
              <a:highlight>
                <a:srgbClr val="FFFFFF"/>
              </a:highlight>
              <a:latin typeface="Times New Roman"/>
              <a:ea typeface="Times New Roman"/>
              <a:cs typeface="Times New Roman"/>
              <a:sym typeface="Times New Roman"/>
            </a:endParaRPr>
          </a:p>
          <a:p>
            <a:pPr lvl="0">
              <a:spcBef>
                <a:spcPts val="0"/>
              </a:spcBef>
              <a:buClr>
                <a:schemeClr val="dk1"/>
              </a:buClr>
              <a:buSzPct val="78571"/>
              <a:buFont typeface="Arial"/>
              <a:buNone/>
            </a:pPr>
            <a:r>
              <a:rPr lang="ru" sz="1400">
                <a:highlight>
                  <a:srgbClr val="FFFFFF"/>
                </a:highlight>
                <a:latin typeface="Times New Roman"/>
                <a:ea typeface="Times New Roman"/>
                <a:cs typeface="Times New Roman"/>
                <a:sym typeface="Times New Roman"/>
              </a:rPr>
              <a:t>2   Для каких из приведённых чисел ложно высказывание:</a:t>
            </a:r>
          </a:p>
          <a:p>
            <a:pPr lvl="0">
              <a:lnSpc>
                <a:spcPct val="125000"/>
              </a:lnSpc>
              <a:spcBef>
                <a:spcPts val="0"/>
              </a:spcBef>
              <a:spcAft>
                <a:spcPts val="0"/>
              </a:spcAft>
              <a:buClr>
                <a:schemeClr val="dk1"/>
              </a:buClr>
              <a:buSzPct val="78571"/>
              <a:buFont typeface="Arial"/>
              <a:buNone/>
            </a:pPr>
            <a:r>
              <a:rPr lang="ru" sz="1400">
                <a:highlight>
                  <a:srgbClr val="FFFFFF"/>
                </a:highlight>
                <a:latin typeface="Courier New"/>
                <a:ea typeface="Courier New"/>
                <a:cs typeface="Courier New"/>
                <a:sym typeface="Courier New"/>
              </a:rPr>
              <a:t>НЕ(X &lt; 6) ИЛИ ((X &lt; 5) И (X ≥ 4))?</a:t>
            </a:r>
          </a:p>
          <a:p>
            <a:pPr lvl="0">
              <a:spcBef>
                <a:spcPts val="0"/>
              </a:spcBef>
              <a:spcAft>
                <a:spcPts val="0"/>
              </a:spcAft>
              <a:buClr>
                <a:schemeClr val="dk1"/>
              </a:buClr>
              <a:buSzPct val="78571"/>
              <a:buFont typeface="Arial"/>
              <a:buNone/>
            </a:pPr>
            <a:r>
              <a:rPr lang="ru" sz="1400">
                <a:highlight>
                  <a:srgbClr val="FFFFFF"/>
                </a:highlight>
                <a:latin typeface="Times New Roman"/>
                <a:ea typeface="Times New Roman"/>
                <a:cs typeface="Times New Roman"/>
                <a:sym typeface="Times New Roman"/>
              </a:rPr>
              <a:t>Выберите правильные ответы:</a:t>
            </a:r>
          </a:p>
          <a:p>
            <a:pPr lvl="0">
              <a:lnSpc>
                <a:spcPct val="125000"/>
              </a:lnSpc>
              <a:spcBef>
                <a:spcPts val="0"/>
              </a:spcBef>
              <a:spcAft>
                <a:spcPts val="0"/>
              </a:spcAft>
              <a:buClr>
                <a:schemeClr val="dk1"/>
              </a:buClr>
              <a:buSzPct val="78571"/>
              <a:buFont typeface="Arial"/>
              <a:buNone/>
            </a:pPr>
            <a:r>
              <a:rPr lang="ru" sz="1400">
                <a:highlight>
                  <a:srgbClr val="FFFFFF"/>
                </a:highlight>
                <a:latin typeface="Courier New"/>
                <a:ea typeface="Courier New"/>
                <a:cs typeface="Courier New"/>
                <a:sym typeface="Courier New"/>
              </a:rPr>
              <a:t>3  4  5  6  7</a:t>
            </a:r>
          </a:p>
          <a:p>
            <a:pPr lvl="0" rtl="0">
              <a:spcBef>
                <a:spcPts val="0"/>
              </a:spcBef>
              <a:buNone/>
            </a:pPr>
            <a:endParaRPr/>
          </a:p>
        </p:txBody>
      </p:sp>
      <p:sp>
        <p:nvSpPr>
          <p:cNvPr id="219" name="Shape 219"/>
          <p:cNvSpPr/>
          <p:nvPr/>
        </p:nvSpPr>
        <p:spPr>
          <a:xfrm>
            <a:off x="311700" y="1566475"/>
            <a:ext cx="283800" cy="197100"/>
          </a:xfrm>
          <a:prstGeom prst="rect">
            <a:avLst/>
          </a:prstGeom>
          <a:no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
        <p:nvSpPr>
          <p:cNvPr id="220" name="Shape 220"/>
          <p:cNvSpPr/>
          <p:nvPr/>
        </p:nvSpPr>
        <p:spPr>
          <a:xfrm>
            <a:off x="311700" y="3248375"/>
            <a:ext cx="283800" cy="197100"/>
          </a:xfrm>
          <a:prstGeom prst="rect">
            <a:avLst/>
          </a:prstGeom>
          <a:no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Shape 225"/>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rtl="0">
              <a:spcBef>
                <a:spcPts val="0"/>
              </a:spcBef>
              <a:buNone/>
            </a:pPr>
            <a:r>
              <a:rPr lang="ru"/>
              <a:t>Задания части 2 по теме “ЭТ” в ОГЭ по информатике</a:t>
            </a:r>
          </a:p>
        </p:txBody>
      </p:sp>
      <p:sp>
        <p:nvSpPr>
          <p:cNvPr id="226" name="Shape 226"/>
          <p:cNvSpPr txBox="1">
            <a:spLocks noGrp="1"/>
          </p:cNvSpPr>
          <p:nvPr>
            <p:ph type="body" idx="1"/>
          </p:nvPr>
        </p:nvSpPr>
        <p:spPr>
          <a:xfrm>
            <a:off x="311700" y="1496750"/>
            <a:ext cx="8520600" cy="3650400"/>
          </a:xfrm>
          <a:prstGeom prst="rect">
            <a:avLst/>
          </a:prstGeom>
        </p:spPr>
        <p:txBody>
          <a:bodyPr lIns="91425" tIns="91425" rIns="91425" bIns="91425" anchor="t" anchorCtr="0">
            <a:noAutofit/>
          </a:bodyPr>
          <a:lstStyle/>
          <a:p>
            <a:pPr lvl="0">
              <a:spcBef>
                <a:spcPts val="0"/>
              </a:spcBef>
              <a:buNone/>
            </a:pPr>
            <a:r>
              <a:rPr lang="ru" sz="1400">
                <a:highlight>
                  <a:srgbClr val="FFFFFF"/>
                </a:highlight>
                <a:latin typeface="Times New Roman"/>
                <a:ea typeface="Times New Roman"/>
                <a:cs typeface="Times New Roman"/>
                <a:sym typeface="Times New Roman"/>
              </a:rPr>
              <a:t>19 В электронную таблицу занесли данные о калорийности продуктов. Ниже приведены первые пять строк таблицы. Всего в электронную таблицу были занесены данные по 1000 продуктам.</a:t>
            </a:r>
          </a:p>
          <a:p>
            <a:pPr lvl="0" rtl="0">
              <a:lnSpc>
                <a:spcPct val="125000"/>
              </a:lnSpc>
              <a:spcBef>
                <a:spcPts val="0"/>
              </a:spcBef>
              <a:spcAft>
                <a:spcPts val="0"/>
              </a:spcAft>
              <a:buNone/>
            </a:pPr>
            <a:endParaRPr sz="1400">
              <a:highlight>
                <a:srgbClr val="FFFFFF"/>
              </a:highlight>
              <a:latin typeface="Times New Roman"/>
              <a:ea typeface="Times New Roman"/>
              <a:cs typeface="Times New Roman"/>
              <a:sym typeface="Times New Roman"/>
            </a:endParaRPr>
          </a:p>
          <a:p>
            <a:pPr lvl="0" rtl="0">
              <a:lnSpc>
                <a:spcPct val="125000"/>
              </a:lnSpc>
              <a:spcBef>
                <a:spcPts val="0"/>
              </a:spcBef>
              <a:spcAft>
                <a:spcPts val="0"/>
              </a:spcAft>
              <a:buNone/>
            </a:pPr>
            <a:endParaRPr sz="1400">
              <a:highlight>
                <a:srgbClr val="FFFFFF"/>
              </a:highlight>
              <a:latin typeface="Times New Roman"/>
              <a:ea typeface="Times New Roman"/>
              <a:cs typeface="Times New Roman"/>
              <a:sym typeface="Times New Roman"/>
            </a:endParaRPr>
          </a:p>
          <a:p>
            <a:pPr lvl="0" rtl="0">
              <a:lnSpc>
                <a:spcPct val="125000"/>
              </a:lnSpc>
              <a:spcBef>
                <a:spcPts val="0"/>
              </a:spcBef>
              <a:spcAft>
                <a:spcPts val="0"/>
              </a:spcAft>
              <a:buNone/>
            </a:pPr>
            <a:endParaRPr sz="1400">
              <a:highlight>
                <a:srgbClr val="FFFFFF"/>
              </a:highlight>
              <a:latin typeface="Times New Roman"/>
              <a:ea typeface="Times New Roman"/>
              <a:cs typeface="Times New Roman"/>
              <a:sym typeface="Times New Roman"/>
            </a:endParaRPr>
          </a:p>
          <a:p>
            <a:pPr lvl="0" rtl="0">
              <a:lnSpc>
                <a:spcPct val="125000"/>
              </a:lnSpc>
              <a:spcBef>
                <a:spcPts val="0"/>
              </a:spcBef>
              <a:spcAft>
                <a:spcPts val="0"/>
              </a:spcAft>
              <a:buNone/>
            </a:pPr>
            <a:endParaRPr sz="1400">
              <a:highlight>
                <a:srgbClr val="FFFFFF"/>
              </a:highlight>
              <a:latin typeface="Times New Roman"/>
              <a:ea typeface="Times New Roman"/>
              <a:cs typeface="Times New Roman"/>
              <a:sym typeface="Times New Roman"/>
            </a:endParaRPr>
          </a:p>
          <a:p>
            <a:pPr lvl="0" rtl="0">
              <a:lnSpc>
                <a:spcPct val="125000"/>
              </a:lnSpc>
              <a:spcBef>
                <a:spcPts val="0"/>
              </a:spcBef>
              <a:spcAft>
                <a:spcPts val="0"/>
              </a:spcAft>
              <a:buNone/>
            </a:pPr>
            <a:endParaRPr sz="1400">
              <a:highlight>
                <a:srgbClr val="FFFFFF"/>
              </a:highlight>
              <a:latin typeface="Times New Roman"/>
              <a:ea typeface="Times New Roman"/>
              <a:cs typeface="Times New Roman"/>
              <a:sym typeface="Times New Roman"/>
            </a:endParaRPr>
          </a:p>
          <a:p>
            <a:pPr lvl="0">
              <a:lnSpc>
                <a:spcPct val="125000"/>
              </a:lnSpc>
              <a:spcBef>
                <a:spcPts val="0"/>
              </a:spcBef>
              <a:spcAft>
                <a:spcPts val="0"/>
              </a:spcAft>
              <a:buClr>
                <a:schemeClr val="dk1"/>
              </a:buClr>
              <a:buSzPct val="78571"/>
              <a:buFont typeface="Arial"/>
              <a:buNone/>
            </a:pPr>
            <a:r>
              <a:rPr lang="ru" sz="1400">
                <a:highlight>
                  <a:srgbClr val="FFFFFF"/>
                </a:highlight>
                <a:latin typeface="Times New Roman"/>
                <a:ea typeface="Times New Roman"/>
                <a:cs typeface="Times New Roman"/>
                <a:sym typeface="Times New Roman"/>
              </a:rPr>
              <a:t> На основании данных, содержащихся в этой </a:t>
            </a:r>
            <a:r>
              <a:rPr lang="ru" sz="1400" u="sng">
                <a:solidFill>
                  <a:schemeClr val="hlink"/>
                </a:solidFill>
                <a:highlight>
                  <a:srgbClr val="FFFFFF"/>
                </a:highlight>
                <a:latin typeface="Times New Roman"/>
                <a:ea typeface="Times New Roman"/>
                <a:cs typeface="Times New Roman"/>
                <a:sym typeface="Times New Roman"/>
                <a:hlinkClick r:id="rId3"/>
              </a:rPr>
              <a:t>таблице</a:t>
            </a:r>
            <a:r>
              <a:rPr lang="ru" sz="1400">
                <a:highlight>
                  <a:srgbClr val="FFFFFF"/>
                </a:highlight>
                <a:latin typeface="Times New Roman"/>
                <a:ea typeface="Times New Roman"/>
                <a:cs typeface="Times New Roman"/>
                <a:sym typeface="Times New Roman"/>
              </a:rPr>
              <a:t>, ответьте на два вопроса.</a:t>
            </a:r>
          </a:p>
          <a:p>
            <a:pPr lvl="0">
              <a:lnSpc>
                <a:spcPct val="125000"/>
              </a:lnSpc>
              <a:spcBef>
                <a:spcPts val="0"/>
              </a:spcBef>
              <a:spcAft>
                <a:spcPts val="0"/>
              </a:spcAft>
              <a:buClr>
                <a:schemeClr val="dk1"/>
              </a:buClr>
              <a:buSzPct val="78571"/>
              <a:buFont typeface="Arial"/>
              <a:buNone/>
            </a:pPr>
            <a:r>
              <a:rPr lang="ru" sz="1400">
                <a:highlight>
                  <a:srgbClr val="FFFFFF"/>
                </a:highlight>
                <a:latin typeface="Times New Roman"/>
                <a:ea typeface="Times New Roman"/>
                <a:cs typeface="Times New Roman"/>
                <a:sym typeface="Times New Roman"/>
              </a:rPr>
              <a:t>1. Сколько продуктов в таблице содержат меньше 7 г жиров и меньше 7 г белков? Запишите число этих продуктов в ячейку H2 таблицы.</a:t>
            </a:r>
          </a:p>
          <a:p>
            <a:pPr lvl="0" rtl="0">
              <a:spcBef>
                <a:spcPts val="0"/>
              </a:spcBef>
              <a:buNone/>
            </a:pPr>
            <a:r>
              <a:rPr lang="ru" sz="1400">
                <a:highlight>
                  <a:srgbClr val="FFFFFF"/>
                </a:highlight>
                <a:latin typeface="Times New Roman"/>
                <a:ea typeface="Times New Roman"/>
                <a:cs typeface="Times New Roman"/>
                <a:sym typeface="Times New Roman"/>
              </a:rPr>
              <a:t>2. Какова средняя калорийность продуктов с содержанием жиров более 50 г? Ответ на этот вопрос запишите в ячейку H3 таблицы с точностью не менее двух знаков после запятой.</a:t>
            </a:r>
          </a:p>
          <a:p>
            <a:pPr lvl="0" rtl="0">
              <a:spcBef>
                <a:spcPts val="0"/>
              </a:spcBef>
              <a:buNone/>
            </a:pPr>
            <a:endParaRPr sz="1400">
              <a:highlight>
                <a:srgbClr val="FFFFFF"/>
              </a:highlight>
              <a:latin typeface="Times New Roman"/>
              <a:ea typeface="Times New Roman"/>
              <a:cs typeface="Times New Roman"/>
              <a:sym typeface="Times New Roman"/>
            </a:endParaRPr>
          </a:p>
        </p:txBody>
      </p:sp>
      <p:pic>
        <p:nvPicPr>
          <p:cNvPr id="227" name="Shape 227"/>
          <p:cNvPicPr preferRelativeResize="0"/>
          <p:nvPr/>
        </p:nvPicPr>
        <p:blipFill>
          <a:blip r:embed="rId4">
            <a:alphaModFix/>
          </a:blip>
          <a:stretch>
            <a:fillRect/>
          </a:stretch>
        </p:blipFill>
        <p:spPr>
          <a:xfrm>
            <a:off x="1759050" y="2093325"/>
            <a:ext cx="4762500" cy="1476375"/>
          </a:xfrm>
          <a:prstGeom prst="rect">
            <a:avLst/>
          </a:prstGeom>
          <a:noFill/>
          <a:ln>
            <a:noFill/>
          </a:ln>
        </p:spPr>
      </p:pic>
      <p:sp>
        <p:nvSpPr>
          <p:cNvPr id="228" name="Shape 228"/>
          <p:cNvSpPr txBox="1"/>
          <p:nvPr/>
        </p:nvSpPr>
        <p:spPr>
          <a:xfrm>
            <a:off x="1056150" y="2093325"/>
            <a:ext cx="3000000" cy="3000000"/>
          </a:xfrm>
          <a:prstGeom prst="rect">
            <a:avLst/>
          </a:prstGeom>
          <a:noFill/>
          <a:ln>
            <a:noFill/>
          </a:ln>
        </p:spPr>
        <p:txBody>
          <a:bodyPr lIns="91425" tIns="91425" rIns="91425" bIns="91425" anchor="ctr" anchorCtr="0">
            <a:noAutofit/>
          </a:bodyPr>
          <a:lstStyle/>
          <a:p>
            <a:pPr lvl="0" rtl="0">
              <a:spcBef>
                <a:spcPts val="0"/>
              </a:spcBef>
              <a:buNone/>
            </a:pPr>
            <a:endParaRPr/>
          </a:p>
        </p:txBody>
      </p:sp>
      <p:sp>
        <p:nvSpPr>
          <p:cNvPr id="229" name="Shape 229"/>
          <p:cNvSpPr/>
          <p:nvPr/>
        </p:nvSpPr>
        <p:spPr>
          <a:xfrm>
            <a:off x="311700" y="1624550"/>
            <a:ext cx="279000" cy="197400"/>
          </a:xfrm>
          <a:prstGeom prst="rect">
            <a:avLst/>
          </a:prstGeom>
          <a:noFill/>
          <a:ln w="9525" cap="flat" cmpd="sng">
            <a:solidFill>
              <a:srgbClr val="000000"/>
            </a:solidFill>
            <a:prstDash val="solid"/>
            <a:round/>
            <a:headEnd type="none" w="med" len="med"/>
            <a:tailEnd type="none" w="med" len="med"/>
          </a:ln>
        </p:spPr>
        <p:txBody>
          <a:bodyPr lIns="91425" tIns="91425" rIns="91425" bIns="91425" anchor="ctr" anchorCtr="0">
            <a:noAutofit/>
          </a:bodyPr>
          <a:lstStyle/>
          <a:p>
            <a:pPr lvl="0">
              <a:spcBef>
                <a:spcPts val="0"/>
              </a:spcBef>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Shape 234"/>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a:spcBef>
                <a:spcPts val="0"/>
              </a:spcBef>
              <a:buNone/>
            </a:pPr>
            <a:r>
              <a:rPr lang="ru"/>
              <a:t>Домашнее задание</a:t>
            </a:r>
          </a:p>
        </p:txBody>
      </p:sp>
      <p:sp>
        <p:nvSpPr>
          <p:cNvPr id="235" name="Shape 235"/>
          <p:cNvSpPr txBox="1">
            <a:spLocks noGrp="1"/>
          </p:cNvSpPr>
          <p:nvPr>
            <p:ph type="body" idx="1"/>
          </p:nvPr>
        </p:nvSpPr>
        <p:spPr>
          <a:xfrm>
            <a:off x="311700" y="1171600"/>
            <a:ext cx="8520600" cy="3397200"/>
          </a:xfrm>
          <a:prstGeom prst="rect">
            <a:avLst/>
          </a:prstGeom>
        </p:spPr>
        <p:txBody>
          <a:bodyPr lIns="91425" tIns="91425" rIns="91425" bIns="91425" anchor="t" anchorCtr="0">
            <a:noAutofit/>
          </a:bodyPr>
          <a:lstStyle/>
          <a:p>
            <a:pPr lvl="0">
              <a:spcBef>
                <a:spcPts val="0"/>
              </a:spcBef>
              <a:buNone/>
            </a:pPr>
            <a:endParaRPr/>
          </a:p>
        </p:txBody>
      </p:sp>
      <p:pic>
        <p:nvPicPr>
          <p:cNvPr id="236" name="Shape 236" descr="Fotocamera.jpg"/>
          <p:cNvPicPr preferRelativeResize="0"/>
          <p:nvPr/>
        </p:nvPicPr>
        <p:blipFill>
          <a:blip r:embed="rId3">
            <a:alphaModFix/>
          </a:blip>
          <a:stretch>
            <a:fillRect/>
          </a:stretch>
        </p:blipFill>
        <p:spPr>
          <a:xfrm>
            <a:off x="7460274" y="72300"/>
            <a:ext cx="1486850" cy="1227969"/>
          </a:xfrm>
          <a:prstGeom prst="rect">
            <a:avLst/>
          </a:prstGeom>
          <a:noFill/>
          <a:ln>
            <a:noFill/>
          </a:ln>
        </p:spPr>
      </p:pic>
      <p:pic>
        <p:nvPicPr>
          <p:cNvPr id="237" name="Shape 237"/>
          <p:cNvPicPr preferRelativeResize="0"/>
          <p:nvPr/>
        </p:nvPicPr>
        <p:blipFill rotWithShape="1">
          <a:blip r:embed="rId4">
            <a:alphaModFix/>
          </a:blip>
          <a:srcRect t="18208" r="40645" b="27325"/>
          <a:stretch/>
        </p:blipFill>
        <p:spPr>
          <a:xfrm>
            <a:off x="311700" y="1171600"/>
            <a:ext cx="7148575" cy="36880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Shape 242"/>
          <p:cNvSpPr txBox="1">
            <a:spLocks noGrp="1"/>
          </p:cNvSpPr>
          <p:nvPr>
            <p:ph type="title"/>
          </p:nvPr>
        </p:nvSpPr>
        <p:spPr>
          <a:xfrm>
            <a:off x="311700" y="445025"/>
            <a:ext cx="8520600" cy="613200"/>
          </a:xfrm>
          <a:prstGeom prst="rect">
            <a:avLst/>
          </a:prstGeom>
        </p:spPr>
        <p:txBody>
          <a:bodyPr lIns="91425" tIns="91425" rIns="91425" bIns="91425" anchor="t" anchorCtr="0">
            <a:noAutofit/>
          </a:bodyPr>
          <a:lstStyle/>
          <a:p>
            <a:pPr lvl="0">
              <a:spcBef>
                <a:spcPts val="0"/>
              </a:spcBef>
              <a:buNone/>
            </a:pPr>
            <a:r>
              <a:rPr lang="ru"/>
              <a:t>Домашнее задание</a:t>
            </a:r>
          </a:p>
        </p:txBody>
      </p:sp>
      <p:sp>
        <p:nvSpPr>
          <p:cNvPr id="243" name="Shape 243"/>
          <p:cNvSpPr txBox="1">
            <a:spLocks noGrp="1"/>
          </p:cNvSpPr>
          <p:nvPr>
            <p:ph type="body" idx="1"/>
          </p:nvPr>
        </p:nvSpPr>
        <p:spPr>
          <a:xfrm>
            <a:off x="311700" y="1171600"/>
            <a:ext cx="8520600" cy="3397200"/>
          </a:xfrm>
          <a:prstGeom prst="rect">
            <a:avLst/>
          </a:prstGeom>
        </p:spPr>
        <p:txBody>
          <a:bodyPr lIns="91425" tIns="91425" rIns="91425" bIns="91425" anchor="t" anchorCtr="0">
            <a:noAutofit/>
          </a:bodyPr>
          <a:lstStyle/>
          <a:p>
            <a:pPr lvl="0">
              <a:spcBef>
                <a:spcPts val="0"/>
              </a:spcBef>
              <a:buNone/>
            </a:pPr>
            <a:r>
              <a:rPr lang="ru"/>
              <a:t>Задание на “4”</a:t>
            </a:r>
          </a:p>
          <a:p>
            <a:pPr marL="457200" lvl="0" indent="-228600" rtl="0">
              <a:spcBef>
                <a:spcPts val="0"/>
              </a:spcBef>
              <a:buAutoNum type="arabicPeriod"/>
            </a:pPr>
            <a:r>
              <a:rPr lang="ru"/>
              <a:t>Напишите формулу, которая в столбце f, указывает продукцию с количеством жиров менее 50 г и углеводов менее 50 г.</a:t>
            </a:r>
          </a:p>
          <a:p>
            <a:pPr marL="457200" lvl="0" indent="-228600" rtl="0">
              <a:spcBef>
                <a:spcPts val="0"/>
              </a:spcBef>
              <a:buAutoNum type="arabicPeriod"/>
            </a:pPr>
            <a:r>
              <a:rPr lang="ru"/>
              <a:t>Напишите формулу, вычисляющую среднюю калорийность продуктов, указанных в таблице.</a:t>
            </a:r>
          </a:p>
          <a:p>
            <a:pPr lvl="0" rtl="0">
              <a:spcBef>
                <a:spcPts val="0"/>
              </a:spcBef>
              <a:buNone/>
            </a:pPr>
            <a:r>
              <a:rPr lang="ru"/>
              <a:t>Задание на “5”</a:t>
            </a:r>
          </a:p>
          <a:p>
            <a:pPr marL="457200" lvl="0" indent="-228600" rtl="0">
              <a:spcBef>
                <a:spcPts val="0"/>
              </a:spcBef>
              <a:buAutoNum type="arabicPeriod"/>
            </a:pPr>
            <a:r>
              <a:rPr lang="ru">
                <a:highlight>
                  <a:srgbClr val="FFFFFF"/>
                </a:highlight>
                <a:latin typeface="Times New Roman"/>
                <a:ea typeface="Times New Roman"/>
                <a:cs typeface="Times New Roman"/>
                <a:sym typeface="Times New Roman"/>
              </a:rPr>
              <a:t>Напишите формулу , которая вычисляет количество продуктов с содержанием менее 50 г углеводов и менее 50 г белков.</a:t>
            </a:r>
          </a:p>
          <a:p>
            <a:pPr marL="457200" lvl="0" indent="-228600">
              <a:spcBef>
                <a:spcPts val="0"/>
              </a:spcBef>
              <a:buFont typeface="Times New Roman"/>
              <a:buAutoNum type="arabicPeriod"/>
            </a:pPr>
            <a:r>
              <a:rPr lang="ru">
                <a:highlight>
                  <a:srgbClr val="FFFFFF"/>
                </a:highlight>
                <a:latin typeface="Times New Roman"/>
                <a:ea typeface="Times New Roman"/>
                <a:cs typeface="Times New Roman"/>
                <a:sym typeface="Times New Roman"/>
              </a:rPr>
              <a:t>Напишите функцию, которая вычисляет среднюю калорийность продуктов с содержанием жиров менее 1 г.</a:t>
            </a:r>
          </a:p>
        </p:txBody>
      </p:sp>
      <p:pic>
        <p:nvPicPr>
          <p:cNvPr id="244" name="Shape 244" descr="Fotocamera.jpg"/>
          <p:cNvPicPr preferRelativeResize="0"/>
          <p:nvPr/>
        </p:nvPicPr>
        <p:blipFill>
          <a:blip r:embed="rId3">
            <a:alphaModFix/>
          </a:blip>
          <a:stretch>
            <a:fillRect/>
          </a:stretch>
        </p:blipFill>
        <p:spPr>
          <a:xfrm>
            <a:off x="7460274" y="72300"/>
            <a:ext cx="1486850" cy="1227969"/>
          </a:xfrm>
          <a:prstGeom prst="rect">
            <a:avLst/>
          </a:prstGeom>
          <a:noFill/>
          <a:ln>
            <a:noFill/>
          </a:ln>
        </p:spPr>
      </p:pic>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817</Words>
  <Application>Microsoft Office PowerPoint</Application>
  <PresentationFormat>Экран (16:9)</PresentationFormat>
  <Paragraphs>109</Paragraphs>
  <Slides>18</Slides>
  <Notes>18</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18</vt:i4>
      </vt:variant>
    </vt:vector>
  </HeadingPairs>
  <TitlesOfParts>
    <vt:vector size="23" baseType="lpstr">
      <vt:lpstr>Courier New</vt:lpstr>
      <vt:lpstr>Arial</vt:lpstr>
      <vt:lpstr>Old Standard TT</vt:lpstr>
      <vt:lpstr>Times New Roman</vt:lpstr>
      <vt:lpstr>paperback</vt:lpstr>
      <vt:lpstr>Функция И</vt:lpstr>
      <vt:lpstr>Функция И</vt:lpstr>
      <vt:lpstr>Функция ИЛИ</vt:lpstr>
      <vt:lpstr>Функция ИЛИ</vt:lpstr>
      <vt:lpstr>Функция НЕ</vt:lpstr>
      <vt:lpstr>Функция НЕ</vt:lpstr>
      <vt:lpstr>Функция ЕСЛИ </vt:lpstr>
      <vt:lpstr>Презентация PowerPoint</vt:lpstr>
      <vt:lpstr>Презентация PowerPoint</vt:lpstr>
      <vt:lpstr>Функция ЕСЛИ</vt:lpstr>
      <vt:lpstr>Функция ЕСЛИ</vt:lpstr>
      <vt:lpstr>Функция ЕСЛИ</vt:lpstr>
      <vt:lpstr>Задача 1. Необходимо переоценить товарные остатки. Если продукт хранится на складе дольше 8 месяцев, уменьшить его цену в 2 раза.   Сформированную таблицу  с исходными параметрами вы найдете  в папке, в локальной сети по адресу:   Сеть/Users/Public/8/Переоценка.xls</vt:lpstr>
      <vt:lpstr>Задача 2. Если стоимость товара на складе после уценки стала меньше 300 р. или продукт хранится дольше 10 месяцев, его списывают. </vt:lpstr>
      <vt:lpstr>Задания части 1 по теме “ЭТ” в ОГЭ по информатике</vt:lpstr>
      <vt:lpstr>Задания части 2 по теме “ЭТ” в ОГЭ по информатике</vt:lpstr>
      <vt:lpstr>Домашнее задание</vt:lpstr>
      <vt:lpstr>Домашнее задание</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Функция И</dc:title>
  <dc:creator>Diablo</dc:creator>
  <cp:lastModifiedBy>Diablo</cp:lastModifiedBy>
  <cp:revision>1</cp:revision>
  <dcterms:modified xsi:type="dcterms:W3CDTF">2017-09-24T08:38:55Z</dcterms:modified>
</cp:coreProperties>
</file>