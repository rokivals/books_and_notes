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2FF4-B9A8-4945-B7CD-ED32EFD7E203}" type="datetimeFigureOut">
              <a:rPr lang="ru-RU" smtClean="0"/>
              <a:t>09.11.2017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23A94-6956-43ED-8EFA-C3EDED1FDE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136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2FF4-B9A8-4945-B7CD-ED32EFD7E203}" type="datetimeFigureOut">
              <a:rPr lang="ru-RU" smtClean="0"/>
              <a:t>09.11.2017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23A94-6956-43ED-8EFA-C3EDED1FDE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9966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2FF4-B9A8-4945-B7CD-ED32EFD7E203}" type="datetimeFigureOut">
              <a:rPr lang="ru-RU" smtClean="0"/>
              <a:t>09.11.2017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23A94-6956-43ED-8EFA-C3EDED1FDE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6627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2FF4-B9A8-4945-B7CD-ED32EFD7E203}" type="datetimeFigureOut">
              <a:rPr lang="ru-RU" smtClean="0"/>
              <a:t>09.11.2017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23A94-6956-43ED-8EFA-C3EDED1FDE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9725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2FF4-B9A8-4945-B7CD-ED32EFD7E203}" type="datetimeFigureOut">
              <a:rPr lang="ru-RU" smtClean="0"/>
              <a:t>09.11.2017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23A94-6956-43ED-8EFA-C3EDED1FDE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5680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2FF4-B9A8-4945-B7CD-ED32EFD7E203}" type="datetimeFigureOut">
              <a:rPr lang="ru-RU" smtClean="0"/>
              <a:t>09.11.2017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23A94-6956-43ED-8EFA-C3EDED1FDE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8193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2FF4-B9A8-4945-B7CD-ED32EFD7E203}" type="datetimeFigureOut">
              <a:rPr lang="ru-RU" smtClean="0"/>
              <a:t>09.11.2017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23A94-6956-43ED-8EFA-C3EDED1FDE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9245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2FF4-B9A8-4945-B7CD-ED32EFD7E203}" type="datetimeFigureOut">
              <a:rPr lang="ru-RU" smtClean="0"/>
              <a:t>09.11.2017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23A94-6956-43ED-8EFA-C3EDED1FDE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7299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2FF4-B9A8-4945-B7CD-ED32EFD7E203}" type="datetimeFigureOut">
              <a:rPr lang="ru-RU" smtClean="0"/>
              <a:t>09.11.2017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23A94-6956-43ED-8EFA-C3EDED1FDE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2856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2FF4-B9A8-4945-B7CD-ED32EFD7E203}" type="datetimeFigureOut">
              <a:rPr lang="ru-RU" smtClean="0"/>
              <a:t>09.11.2017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23A94-6956-43ED-8EFA-C3EDED1FDE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4168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2FF4-B9A8-4945-B7CD-ED32EFD7E203}" type="datetimeFigureOut">
              <a:rPr lang="ru-RU" smtClean="0"/>
              <a:t>09.11.2017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23A94-6956-43ED-8EFA-C3EDED1FDE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44527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2FF4-B9A8-4945-B7CD-ED32EFD7E203}" type="datetimeFigureOut">
              <a:rPr lang="ru-RU" smtClean="0"/>
              <a:t>09.11.2017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23A94-6956-43ED-8EFA-C3EDED1FDEEA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252897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2FF4-B9A8-4945-B7CD-ED32EFD7E203}" type="datetimeFigureOut">
              <a:rPr lang="ru-RU" smtClean="0"/>
              <a:t>09.11.2017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23A94-6956-43ED-8EFA-C3EDED1FDE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46992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2FF4-B9A8-4945-B7CD-ED32EFD7E203}" type="datetimeFigureOut">
              <a:rPr lang="ru-RU" smtClean="0"/>
              <a:t>09.11.2017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23A94-6956-43ED-8EFA-C3EDED1FDE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2543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2FF4-B9A8-4945-B7CD-ED32EFD7E203}" type="datetimeFigureOut">
              <a:rPr lang="ru-RU" smtClean="0"/>
              <a:t>09.11.2017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23A94-6956-43ED-8EFA-C3EDED1FDE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37528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2FF4-B9A8-4945-B7CD-ED32EFD7E203}" type="datetimeFigureOut">
              <a:rPr lang="ru-RU" smtClean="0"/>
              <a:t>09.11.2017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23A94-6956-43ED-8EFA-C3EDED1FDE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79844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2FF4-B9A8-4945-B7CD-ED32EFD7E203}" type="datetimeFigureOut">
              <a:rPr lang="ru-RU" smtClean="0"/>
              <a:t>09.11.2017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23A94-6956-43ED-8EFA-C3EDED1FDE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4878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3DDA2FF4-B9A8-4945-B7CD-ED32EFD7E203}" type="datetimeFigureOut">
              <a:rPr lang="ru-RU" smtClean="0"/>
              <a:t>09.11.2017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E23A94-6956-43ED-8EFA-C3EDED1FDE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05633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5400" dirty="0" smtClean="0"/>
              <a:t>Базы </a:t>
            </a:r>
            <a:r>
              <a:rPr lang="ru-RU" sz="5400" dirty="0"/>
              <a:t>данных. Файловая система. Работа с формами и базами данных.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Автор</a:t>
            </a:r>
            <a:r>
              <a:rPr lang="en-US" dirty="0" smtClean="0"/>
              <a:t>:</a:t>
            </a:r>
            <a:r>
              <a:rPr lang="ru-RU" dirty="0" smtClean="0"/>
              <a:t> Тимофеев </a:t>
            </a:r>
            <a:r>
              <a:rPr lang="ru-RU" dirty="0" err="1" smtClean="0"/>
              <a:t>евгений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9586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Базы данных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i="1" dirty="0"/>
              <a:t>База данных</a:t>
            </a:r>
            <a:r>
              <a:rPr lang="ru-RU" dirty="0"/>
              <a:t> - набор сведений, хранящихся некоторым упорядоченным </a:t>
            </a:r>
            <a:r>
              <a:rPr lang="ru-RU" dirty="0" smtClean="0"/>
              <a:t>способом</a:t>
            </a:r>
          </a:p>
          <a:p>
            <a:r>
              <a:rPr lang="ru-RU" dirty="0" smtClean="0"/>
              <a:t>База </a:t>
            </a:r>
            <a:r>
              <a:rPr lang="ru-RU" dirty="0"/>
              <a:t>данных - это хранилище данных. Сами по себе базы данных не представляли бы интереса, если бы не было систем управления базами данных (СУБД</a:t>
            </a:r>
            <a:r>
              <a:rPr lang="ru-RU" dirty="0" smtClean="0"/>
              <a:t>).</a:t>
            </a:r>
          </a:p>
          <a:p>
            <a:r>
              <a:rPr lang="ru-RU" dirty="0" smtClean="0"/>
              <a:t>История баз данных </a:t>
            </a:r>
            <a:r>
              <a:rPr lang="ru-RU" dirty="0"/>
              <a:t>начинается с 1955 года, когда появилось программируемое оборудование обработки записей. </a:t>
            </a:r>
            <a:endParaRPr lang="ru-RU" dirty="0" smtClean="0"/>
          </a:p>
          <a:p>
            <a:r>
              <a:rPr lang="ru-RU" dirty="0" smtClean="0"/>
              <a:t>Базы данных подразделяются на большое </a:t>
            </a:r>
            <a:r>
              <a:rPr lang="ru-RU" dirty="0" err="1" smtClean="0"/>
              <a:t>колличество</a:t>
            </a:r>
            <a:r>
              <a:rPr lang="ru-RU" dirty="0" smtClean="0"/>
              <a:t> различных видов по модели данных, содержимому, среде хранения.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65676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/>
          <p:cNvSpPr>
            <a:spLocks noGrp="1"/>
          </p:cNvSpPr>
          <p:nvPr>
            <p:ph type="body" idx="1"/>
          </p:nvPr>
        </p:nvSpPr>
        <p:spPr>
          <a:xfrm>
            <a:off x="351692" y="219807"/>
            <a:ext cx="3228121" cy="658324"/>
          </a:xfrm>
        </p:spPr>
        <p:txBody>
          <a:bodyPr/>
          <a:lstStyle/>
          <a:p>
            <a:r>
              <a:rPr lang="ru-RU" dirty="0" smtClean="0"/>
              <a:t>По модели данных</a:t>
            </a:r>
            <a:endParaRPr lang="ru-RU" dirty="0"/>
          </a:p>
        </p:txBody>
      </p:sp>
      <p:sp>
        <p:nvSpPr>
          <p:cNvPr id="8" name="Текст 7"/>
          <p:cNvSpPr>
            <a:spLocks noGrp="1"/>
          </p:cNvSpPr>
          <p:nvPr>
            <p:ph type="body" sz="half" idx="15"/>
          </p:nvPr>
        </p:nvSpPr>
        <p:spPr>
          <a:xfrm>
            <a:off x="351692" y="919162"/>
            <a:ext cx="3228121" cy="5337176"/>
          </a:xfrm>
        </p:spPr>
        <p:txBody>
          <a:bodyPr/>
          <a:lstStyle/>
          <a:p>
            <a:r>
              <a:rPr lang="ru-RU" dirty="0"/>
              <a:t>Иерархическая</a:t>
            </a:r>
          </a:p>
          <a:p>
            <a:r>
              <a:rPr lang="ru-RU" dirty="0"/>
              <a:t>Объектная и объектно-ориентированная</a:t>
            </a:r>
          </a:p>
          <a:p>
            <a:r>
              <a:rPr lang="ru-RU" dirty="0"/>
              <a:t>Объектно-реляционная</a:t>
            </a:r>
          </a:p>
          <a:p>
            <a:r>
              <a:rPr lang="ru-RU" dirty="0"/>
              <a:t>Реляционная</a:t>
            </a:r>
          </a:p>
          <a:p>
            <a:r>
              <a:rPr lang="ru-RU" dirty="0"/>
              <a:t>Сетевая</a:t>
            </a:r>
          </a:p>
          <a:p>
            <a:r>
              <a:rPr lang="ru-RU" dirty="0" smtClean="0"/>
              <a:t>Функциональная</a:t>
            </a:r>
            <a:endParaRPr lang="ru-RU" dirty="0"/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3"/>
          </p:nvPr>
        </p:nvSpPr>
        <p:spPr>
          <a:xfrm>
            <a:off x="3579813" y="260838"/>
            <a:ext cx="3240087" cy="576262"/>
          </a:xfrm>
        </p:spPr>
        <p:txBody>
          <a:bodyPr/>
          <a:lstStyle/>
          <a:p>
            <a:r>
              <a:rPr lang="ru-RU" dirty="0" smtClean="0"/>
              <a:t>По содержимому</a:t>
            </a:r>
            <a:endParaRPr lang="ru-RU" dirty="0"/>
          </a:p>
        </p:txBody>
      </p:sp>
      <p:sp>
        <p:nvSpPr>
          <p:cNvPr id="9" name="Текст 8"/>
          <p:cNvSpPr>
            <a:spLocks noGrp="1"/>
          </p:cNvSpPr>
          <p:nvPr>
            <p:ph type="body" sz="half" idx="16"/>
          </p:nvPr>
        </p:nvSpPr>
        <p:spPr>
          <a:xfrm>
            <a:off x="3745523" y="919162"/>
            <a:ext cx="3074377" cy="5337176"/>
          </a:xfrm>
        </p:spPr>
        <p:txBody>
          <a:bodyPr/>
          <a:lstStyle/>
          <a:p>
            <a:r>
              <a:rPr lang="ru-RU" dirty="0"/>
              <a:t>Географическая</a:t>
            </a:r>
          </a:p>
          <a:p>
            <a:r>
              <a:rPr lang="ru-RU" dirty="0"/>
              <a:t>Историческая</a:t>
            </a:r>
          </a:p>
          <a:p>
            <a:r>
              <a:rPr lang="ru-RU" dirty="0"/>
              <a:t>Научная</a:t>
            </a:r>
          </a:p>
          <a:p>
            <a:r>
              <a:rPr lang="ru-RU" dirty="0"/>
              <a:t>Мультимедийная</a:t>
            </a:r>
          </a:p>
          <a:p>
            <a:r>
              <a:rPr lang="ru-RU" dirty="0"/>
              <a:t>Клиентская.</a:t>
            </a: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3"/>
          </p:nvPr>
        </p:nvSpPr>
        <p:spPr>
          <a:xfrm>
            <a:off x="6819900" y="257907"/>
            <a:ext cx="3236913" cy="576262"/>
          </a:xfrm>
        </p:spPr>
        <p:txBody>
          <a:bodyPr/>
          <a:lstStyle/>
          <a:p>
            <a:r>
              <a:rPr lang="ru-RU" dirty="0" smtClean="0"/>
              <a:t>По среде хранения</a:t>
            </a:r>
            <a:endParaRPr lang="ru-RU" dirty="0"/>
          </a:p>
        </p:txBody>
      </p:sp>
      <p:sp>
        <p:nvSpPr>
          <p:cNvPr id="10" name="Текст 9"/>
          <p:cNvSpPr>
            <a:spLocks noGrp="1"/>
          </p:cNvSpPr>
          <p:nvPr>
            <p:ph type="body" sz="half" idx="17"/>
          </p:nvPr>
        </p:nvSpPr>
        <p:spPr>
          <a:xfrm>
            <a:off x="6985610" y="919162"/>
            <a:ext cx="3071203" cy="5337176"/>
          </a:xfrm>
        </p:spPr>
        <p:txBody>
          <a:bodyPr/>
          <a:lstStyle/>
          <a:p>
            <a:r>
              <a:rPr lang="ru-RU" dirty="0"/>
              <a:t>Во вторичной </a:t>
            </a:r>
            <a:r>
              <a:rPr lang="ru-RU" dirty="0" smtClean="0"/>
              <a:t>памяти (жесткий диск)</a:t>
            </a:r>
          </a:p>
          <a:p>
            <a:r>
              <a:rPr lang="ru-RU" dirty="0" smtClean="0"/>
              <a:t>В </a:t>
            </a:r>
            <a:r>
              <a:rPr lang="ru-RU" dirty="0"/>
              <a:t>оперативной </a:t>
            </a:r>
            <a:r>
              <a:rPr lang="ru-RU" dirty="0" smtClean="0"/>
              <a:t>памяти (</a:t>
            </a:r>
            <a:r>
              <a:rPr lang="ru-RU" dirty="0"/>
              <a:t>все данные на стадии исполнения находятся в оперативной </a:t>
            </a:r>
            <a:r>
              <a:rPr lang="ru-RU" dirty="0" smtClean="0"/>
              <a:t>памяти)</a:t>
            </a:r>
          </a:p>
          <a:p>
            <a:r>
              <a:rPr lang="ru-RU" dirty="0"/>
              <a:t>В третичной </a:t>
            </a:r>
            <a:r>
              <a:rPr lang="ru-RU" dirty="0" smtClean="0"/>
              <a:t>памяти (внешние устройства)</a:t>
            </a:r>
          </a:p>
          <a:p>
            <a:r>
              <a:rPr lang="ru-RU" dirty="0"/>
              <a:t>Во вторичной памяти сервера хранится лишь каталог данных третичной памяти, файловый </a:t>
            </a:r>
            <a:r>
              <a:rPr lang="ru-RU" dirty="0" err="1"/>
              <a:t>кеш</a:t>
            </a:r>
            <a:r>
              <a:rPr lang="ru-RU" dirty="0"/>
              <a:t> и данные для текущей </a:t>
            </a:r>
            <a:r>
              <a:rPr lang="ru-RU" dirty="0" smtClean="0"/>
              <a:t>обработки.</a:t>
            </a:r>
          </a:p>
          <a:p>
            <a:r>
              <a:rPr lang="ru-RU" dirty="0" smtClean="0"/>
              <a:t>Загрузка </a:t>
            </a:r>
            <a:r>
              <a:rPr lang="ru-RU" dirty="0"/>
              <a:t>же самих данных требует специальной процедуры.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55835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600" i="1" dirty="0"/>
              <a:t>Система управления базами </a:t>
            </a:r>
            <a:r>
              <a:rPr lang="ru-RU" sz="3600" i="1" dirty="0" smtClean="0"/>
              <a:t>данных</a:t>
            </a:r>
            <a:endParaRPr lang="ru-RU" sz="3600" dirty="0"/>
          </a:p>
        </p:txBody>
      </p:sp>
      <p:sp>
        <p:nvSpPr>
          <p:cNvPr id="10" name="Объект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i="1" dirty="0"/>
              <a:t>Система управления базами данных</a:t>
            </a:r>
            <a:r>
              <a:rPr lang="ru-RU" dirty="0"/>
              <a:t> - это совокупность языковых и программных средств, которая осуществляет доступ к данным, позволяет их создавать, менять и удалять, обеспечивает безопасность </a:t>
            </a:r>
            <a:r>
              <a:rPr lang="ru-RU" dirty="0" smtClean="0"/>
              <a:t>данных.</a:t>
            </a:r>
          </a:p>
          <a:p>
            <a:r>
              <a:rPr lang="ru-RU" dirty="0" smtClean="0"/>
              <a:t>SQL </a:t>
            </a:r>
            <a:r>
              <a:rPr lang="ru-RU" dirty="0"/>
              <a:t>- язык структурированных запросов, основной задачей которого является предоставление простого способа считывания и записи информации в базу данных</a:t>
            </a:r>
            <a:r>
              <a:rPr lang="ru-RU" dirty="0" smtClean="0"/>
              <a:t>.</a:t>
            </a:r>
          </a:p>
          <a:p>
            <a:endParaRPr lang="ru-RU" dirty="0"/>
          </a:p>
        </p:txBody>
      </p:sp>
      <p:pic>
        <p:nvPicPr>
          <p:cNvPr id="1028" name="Picture 4" descr="https://www.site-do.ru/images/db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2832" y="4659924"/>
            <a:ext cx="6667500" cy="119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3418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7659" y="197741"/>
            <a:ext cx="8946541" cy="4195481"/>
          </a:xfrm>
        </p:spPr>
        <p:txBody>
          <a:bodyPr/>
          <a:lstStyle/>
          <a:p>
            <a:r>
              <a:rPr lang="ru-RU" dirty="0"/>
              <a:t>По характеру использования СУБД делят на однопользовательские (предназначенные для создания и использования БД на персональном компьютере) и многопользовательские (предназначенные для работы с единой БД нескольких компьютеров, объединенных в локальные сети). Вообще деление по характеру использования можно представить следующей схемой:</a:t>
            </a:r>
          </a:p>
        </p:txBody>
      </p:sp>
      <p:pic>
        <p:nvPicPr>
          <p:cNvPr id="2050" name="Picture 2" descr="https://www.site-do.ru/images/db1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179" y="2708762"/>
            <a:ext cx="6667500" cy="3152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4015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Реляционные базы данных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Реляционные базы </a:t>
            </a:r>
            <a:r>
              <a:rPr lang="ru-RU" dirty="0" smtClean="0"/>
              <a:t>данных, </a:t>
            </a:r>
            <a:r>
              <a:rPr lang="ru-RU" dirty="0"/>
              <a:t>состоят из таблиц. Каждая таблица состоит из столбцов </a:t>
            </a:r>
            <a:r>
              <a:rPr lang="ru-RU" dirty="0" smtClean="0"/>
              <a:t>и строк.</a:t>
            </a:r>
          </a:p>
          <a:p>
            <a:r>
              <a:rPr lang="ru-RU" dirty="0"/>
              <a:t>В таблице не может быть двух одинаковых строк. </a:t>
            </a:r>
            <a:endParaRPr lang="ru-RU" dirty="0" smtClean="0"/>
          </a:p>
          <a:p>
            <a:endParaRPr lang="ru-RU" dirty="0"/>
          </a:p>
          <a:p>
            <a:r>
              <a:rPr lang="ru-RU" dirty="0"/>
              <a:t>Столбцы располагаются в определенном порядке, который создается при создании таблицы. В таблице может не быть ни одной строки, но обязательно должен быть хотя бы один столбец.</a:t>
            </a:r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У каждого столбца есть уникальное имя (в пределах таблицы), и все значения в одном столбце имеют один тип (число, текст, дата</a:t>
            </a:r>
            <a:r>
              <a:rPr lang="ru-RU" dirty="0" smtClean="0"/>
              <a:t>...).</a:t>
            </a:r>
          </a:p>
          <a:p>
            <a:endParaRPr lang="ru-RU" dirty="0"/>
          </a:p>
          <a:p>
            <a:r>
              <a:rPr lang="ru-RU" dirty="0"/>
              <a:t>На пересечении каждого столбца и строки может находиться только атомарное значение (одно значение, не состоящее из группы значений). Таблицы, удовлетворяющие этому условию, называют нормализованными.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81999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Файловая система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i="1" dirty="0"/>
              <a:t>Файловая система</a:t>
            </a:r>
            <a:r>
              <a:rPr lang="ru-RU" dirty="0"/>
              <a:t> - это часть операционной системы, назначение которой состоит в том, чтобы обеспечить пользователю удобный интерфейс при работе с данными, хранящимися на диске, и обеспечить совместное использование файлов несколькими пользователями и процессами</a:t>
            </a:r>
            <a:r>
              <a:rPr lang="ru-RU" dirty="0" smtClean="0"/>
              <a:t>.</a:t>
            </a:r>
          </a:p>
          <a:p>
            <a:r>
              <a:rPr lang="ru-RU" dirty="0"/>
              <a:t>Файловая система — это средство для организации хранения файлов на каком-либо носителе</a:t>
            </a:r>
            <a:r>
              <a:rPr lang="ru-RU" dirty="0" smtClean="0"/>
              <a:t>.</a:t>
            </a:r>
          </a:p>
          <a:p>
            <a:r>
              <a:rPr lang="ru-RU" dirty="0"/>
              <a:t>Файловая система определяет, где и каким образом на носителе будут записаны файлы, и предоставляет операционной системе доступ к этим файлам.</a:t>
            </a:r>
          </a:p>
        </p:txBody>
      </p:sp>
    </p:spTree>
    <p:extLst>
      <p:ext uri="{BB962C8B-B14F-4D97-AF65-F5344CB8AC3E}">
        <p14:creationId xmlns:p14="http://schemas.microsoft.com/office/powerpoint/2010/main" val="4252643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С точки зрения операционной системы (ОС), весь диск представляет собой набор кластеров (как правило, размером 512 байт и больше)[1]. Драйверы файловой системы организуют кластеры в файлы и каталоги (реально являющиеся файлами, содержащими список файлов в этом каталоге). Эти же драйверы отслеживают, какие из кластеров в настоящее время используются, какие свободны, какие помечены как неисправные.</a:t>
            </a:r>
          </a:p>
          <a:p>
            <a:endParaRPr lang="ru-RU" dirty="0"/>
          </a:p>
          <a:p>
            <a:r>
              <a:rPr lang="ru-RU" dirty="0"/>
              <a:t>Однако файловая система не обязательно напрямую связана с физическим носителем информации. Существуют виртуальные файловые системы, а также сетевые файловые системы, которые являются лишь способом доступа к файлам, находящимся на удалённом компьютере.</a:t>
            </a:r>
          </a:p>
        </p:txBody>
      </p:sp>
    </p:spTree>
    <p:extLst>
      <p:ext uri="{BB962C8B-B14F-4D97-AF65-F5344CB8AC3E}">
        <p14:creationId xmlns:p14="http://schemas.microsoft.com/office/powerpoint/2010/main" val="164937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Для жестких дисков в ПК в данный момент наиболее распространены две файловые системы: FAT или NTFS. Сначала появилась FAT (FAT16), затем FAT32, а потом NTFS</a:t>
            </a:r>
            <a:r>
              <a:rPr lang="ru-RU" dirty="0" smtClean="0"/>
              <a:t>.</a:t>
            </a:r>
          </a:p>
          <a:p>
            <a:r>
              <a:rPr lang="en-US" dirty="0" smtClean="0"/>
              <a:t>FAT32- </a:t>
            </a:r>
            <a:r>
              <a:rPr lang="ru-RU" dirty="0" smtClean="0"/>
              <a:t>главным недостатком этой ФС является то, что максимальный </a:t>
            </a:r>
            <a:r>
              <a:rPr lang="ru-RU" dirty="0"/>
              <a:t>объем раздела диска (тома), который может поддерживать эта система, равен </a:t>
            </a:r>
            <a:r>
              <a:rPr lang="ru-RU" dirty="0" smtClean="0"/>
              <a:t>4Гб. Однако при этом скорость обработки данных выше, чем в </a:t>
            </a:r>
            <a:r>
              <a:rPr lang="en-US" dirty="0" smtClean="0"/>
              <a:t>NTFS.</a:t>
            </a:r>
          </a:p>
          <a:p>
            <a:r>
              <a:rPr lang="en-US" dirty="0" smtClean="0"/>
              <a:t>NTFS-  </a:t>
            </a:r>
            <a:r>
              <a:rPr lang="ru-RU" dirty="0" smtClean="0"/>
              <a:t>главной особенностью этой ФС являются встроенные </a:t>
            </a:r>
            <a:r>
              <a:rPr lang="ru-RU" dirty="0"/>
              <a:t>возможности разграничивать доступ к данным для различных пользователей и групп </a:t>
            </a:r>
            <a:r>
              <a:rPr lang="ru-RU" dirty="0" smtClean="0"/>
              <a:t>пользователей. </a:t>
            </a:r>
            <a:r>
              <a:rPr lang="en-US" dirty="0" smtClean="0"/>
              <a:t>NTFS </a:t>
            </a:r>
            <a:r>
              <a:rPr lang="ru-RU" dirty="0" smtClean="0"/>
              <a:t>не имеет ограничения по размеру обрабатываемых файлов.</a:t>
            </a:r>
          </a:p>
          <a:p>
            <a:r>
              <a:rPr lang="ru-RU" dirty="0"/>
              <a:t>Таким образом, переход от </a:t>
            </a:r>
            <a:r>
              <a:rPr lang="ru-RU" dirty="0" smtClean="0"/>
              <a:t>FAT </a:t>
            </a:r>
            <a:r>
              <a:rPr lang="ru-RU" dirty="0"/>
              <a:t>к NTFS позволяет более оптимально использовать жесткий </a:t>
            </a:r>
            <a:r>
              <a:rPr lang="ru-RU" dirty="0" smtClean="0"/>
              <a:t>диск.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278463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Отличия файловой системы и базы данных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dirty="0" smtClean="0"/>
              <a:t>Первое отличие заключается в </a:t>
            </a:r>
            <a:r>
              <a:rPr lang="ru-RU" dirty="0"/>
              <a:t>том, что БД хранит данные в упорядоченном и специально организованном виде, исключающим совместное хранение разнородной информации. </a:t>
            </a:r>
            <a:r>
              <a:rPr lang="ru-RU" dirty="0" smtClean="0"/>
              <a:t>В </a:t>
            </a:r>
            <a:r>
              <a:rPr lang="ru-RU" dirty="0"/>
              <a:t>электронных таблицах данные </a:t>
            </a:r>
            <a:r>
              <a:rPr lang="ru-RU" dirty="0" smtClean="0"/>
              <a:t>располагаются </a:t>
            </a:r>
            <a:r>
              <a:rPr lang="ru-RU" dirty="0"/>
              <a:t>упорядоченно по строкам и столбцам, но все еще достаточно произвольно. </a:t>
            </a:r>
            <a:r>
              <a:rPr lang="ru-RU" dirty="0" smtClean="0"/>
              <a:t>И </a:t>
            </a:r>
            <a:r>
              <a:rPr lang="ru-RU" dirty="0"/>
              <a:t>лишь в базах данных структура данных строго фиксирована (если определен столбец «Фамилия», то в него должны записываться только фамилии, а не имена и т.п.) и определяется стандартом используемой модели данных</a:t>
            </a:r>
            <a:r>
              <a:rPr lang="ru-RU" dirty="0" smtClean="0"/>
              <a:t>.</a:t>
            </a:r>
          </a:p>
          <a:p>
            <a:r>
              <a:rPr lang="ru-RU" dirty="0"/>
              <a:t>Второе отличие состоит в том, что БД хранит не только данные, но и описание структуры данных (мета-данные). Мета-данные хранятся отдельно от самих данных в так называемом словаре (системном каталоге) данных. </a:t>
            </a:r>
            <a:endParaRPr lang="ru-RU" dirty="0" smtClean="0"/>
          </a:p>
          <a:p>
            <a:r>
              <a:rPr lang="ru-RU" dirty="0" smtClean="0"/>
              <a:t>В </a:t>
            </a:r>
            <a:r>
              <a:rPr lang="ru-RU" dirty="0"/>
              <a:t>традиционной файловой системе способ хранения данных – дело каждой программы, осуществляющей хранение и обработку данных. Структура данных встроена в программу доступа и не может быть прочитана другими программами.</a:t>
            </a:r>
          </a:p>
        </p:txBody>
      </p:sp>
    </p:spTree>
    <p:extLst>
      <p:ext uri="{BB962C8B-B14F-4D97-AF65-F5344CB8AC3E}">
        <p14:creationId xmlns:p14="http://schemas.microsoft.com/office/powerpoint/2010/main" val="19350091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Работа с формами и базами данных.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то время как таблицы служат для хранения данных, формы служат для их отображения и манипулирования ими в таблицах</a:t>
            </a:r>
            <a:r>
              <a:rPr lang="ru-RU" dirty="0" smtClean="0"/>
              <a:t>.</a:t>
            </a:r>
          </a:p>
          <a:p>
            <a:r>
              <a:rPr lang="ru-RU" dirty="0"/>
              <a:t>По сути, формы являются инструментами, позволяющими превратить базу данных в полноценное приложение, с помощью которого пользователь взаимодействует с данными посредством дружелюбного интерфейса</a:t>
            </a:r>
            <a:r>
              <a:rPr lang="ru-RU" dirty="0" smtClean="0"/>
              <a:t>.</a:t>
            </a:r>
          </a:p>
          <a:p>
            <a:r>
              <a:rPr lang="ru-RU" dirty="0"/>
              <a:t>Форму можно использовать для ввода, изменения или отображения данных из таблицы или запроса</a:t>
            </a:r>
            <a:r>
              <a:rPr lang="ru-RU" dirty="0" smtClean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6351801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37</TotalTime>
  <Words>706</Words>
  <Application>Microsoft Office PowerPoint</Application>
  <PresentationFormat>Широкоэкранный</PresentationFormat>
  <Paragraphs>58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 3</vt:lpstr>
      <vt:lpstr>Ион</vt:lpstr>
      <vt:lpstr>Базы данных. Файловая система. Работа с формами и базами данных.</vt:lpstr>
      <vt:lpstr>Базы данных</vt:lpstr>
      <vt:lpstr>Презентация PowerPoint</vt:lpstr>
      <vt:lpstr>Система управления базами данных</vt:lpstr>
      <vt:lpstr>Презентация PowerPoint</vt:lpstr>
      <vt:lpstr>Реляционные базы данных</vt:lpstr>
      <vt:lpstr>Файловая система</vt:lpstr>
      <vt:lpstr>Презентация PowerPoint</vt:lpstr>
      <vt:lpstr>Презентация PowerPoint</vt:lpstr>
      <vt:lpstr>Отличия файловой системы и базы данных</vt:lpstr>
      <vt:lpstr>Работа с формами и базами данных.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Базы данных. Файловая система. Работа с формами и базами данных.</dc:title>
  <dc:creator>Timchik Tim</dc:creator>
  <cp:lastModifiedBy>Timchik Tim</cp:lastModifiedBy>
  <cp:revision>5</cp:revision>
  <dcterms:created xsi:type="dcterms:W3CDTF">2017-11-08T22:02:38Z</dcterms:created>
  <dcterms:modified xsi:type="dcterms:W3CDTF">2017-11-08T22:40:26Z</dcterms:modified>
</cp:coreProperties>
</file>